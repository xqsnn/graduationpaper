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28"/>
  </p:handoutMasterIdLst>
  <p:sldIdLst>
    <p:sldId id="256" r:id="rId2"/>
    <p:sldId id="371" r:id="rId3"/>
    <p:sldId id="260" r:id="rId4"/>
    <p:sldId id="427" r:id="rId5"/>
    <p:sldId id="310" r:id="rId6"/>
    <p:sldId id="448" r:id="rId7"/>
    <p:sldId id="261" r:id="rId8"/>
    <p:sldId id="312" r:id="rId9"/>
    <p:sldId id="313" r:id="rId10"/>
    <p:sldId id="306" r:id="rId11"/>
    <p:sldId id="468" r:id="rId12"/>
    <p:sldId id="467" r:id="rId13"/>
    <p:sldId id="346" r:id="rId14"/>
    <p:sldId id="429" r:id="rId15"/>
    <p:sldId id="345" r:id="rId16"/>
    <p:sldId id="347" r:id="rId17"/>
    <p:sldId id="348" r:id="rId18"/>
    <p:sldId id="349" r:id="rId19"/>
    <p:sldId id="469" r:id="rId20"/>
    <p:sldId id="350" r:id="rId21"/>
    <p:sldId id="321" r:id="rId22"/>
    <p:sldId id="365" r:id="rId23"/>
    <p:sldId id="364" r:id="rId24"/>
    <p:sldId id="370" r:id="rId25"/>
    <p:sldId id="322" r:id="rId26"/>
    <p:sldId id="258" r:id="rId27"/>
  </p:sldIdLst>
  <p:sldSz cx="9144000" cy="6858000" type="screen4x3"/>
  <p:notesSz cx="9928225" cy="679767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0">
          <p15:clr>
            <a:srgbClr val="A4A3A4"/>
          </p15:clr>
        </p15:guide>
        <p15:guide id="2" pos="302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eng" initials="z" lastIdx="1" clrIdx="0"/>
  <p:cmAuthor id="2" name="政哥" initials="政哥"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DF4"/>
    <a:srgbClr val="062096"/>
    <a:srgbClr val="376092"/>
    <a:srgbClr val="1F497D"/>
    <a:srgbClr val="B9CDE5"/>
    <a:srgbClr val="D9D9D9"/>
    <a:srgbClr val="E7E7E7"/>
    <a:srgbClr val="B2B2B2"/>
    <a:srgbClr val="0E419C"/>
    <a:srgbClr val="0720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43" autoAdjust="0"/>
    <p:restoredTop sz="94660"/>
  </p:normalViewPr>
  <p:slideViewPr>
    <p:cSldViewPr>
      <p:cViewPr varScale="1">
        <p:scale>
          <a:sx n="86" d="100"/>
          <a:sy n="86" d="100"/>
        </p:scale>
        <p:origin x="1387" y="62"/>
      </p:cViewPr>
      <p:guideLst>
        <p:guide orient="horz" pos="2250"/>
        <p:guide pos="302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image" Target="../media/image7.wmf"/><Relationship Id="rId7" Type="http://schemas.openxmlformats.org/officeDocument/2006/relationships/image" Target="../media/image11.wmf"/><Relationship Id="rId2" Type="http://schemas.openxmlformats.org/officeDocument/2006/relationships/image" Target="../media/image6.wmf"/><Relationship Id="rId1" Type="http://schemas.openxmlformats.org/officeDocument/2006/relationships/image" Target="../media/image5.wmf"/><Relationship Id="rId6" Type="http://schemas.openxmlformats.org/officeDocument/2006/relationships/image" Target="../media/image10.wmf"/><Relationship Id="rId5" Type="http://schemas.openxmlformats.org/officeDocument/2006/relationships/image" Target="../media/image9.wmf"/><Relationship Id="rId4" Type="http://schemas.openxmlformats.org/officeDocument/2006/relationships/image" Target="../media/image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2231" cy="33988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623697" y="0"/>
            <a:ext cx="4302231" cy="339884"/>
          </a:xfrm>
          <a:prstGeom prst="rect">
            <a:avLst/>
          </a:prstGeom>
        </p:spPr>
        <p:txBody>
          <a:bodyPr vert="horz" lIns="91440" tIns="45720" rIns="91440" bIns="45720" rtlCol="0"/>
          <a:lstStyle>
            <a:lvl1pPr algn="r">
              <a:defRPr sz="1200"/>
            </a:lvl1pPr>
          </a:lstStyle>
          <a:p>
            <a:fld id="{1AD2F53B-88FD-45D4-B9BF-B999E1F788A3}" type="datetimeFigureOut">
              <a:rPr lang="zh-CN" altLang="en-US" smtClean="0"/>
              <a:t>2020/10/27</a:t>
            </a:fld>
            <a:endParaRPr lang="zh-CN" altLang="en-US"/>
          </a:p>
        </p:txBody>
      </p:sp>
      <p:sp>
        <p:nvSpPr>
          <p:cNvPr id="4" name="页脚占位符 3"/>
          <p:cNvSpPr>
            <a:spLocks noGrp="1"/>
          </p:cNvSpPr>
          <p:nvPr>
            <p:ph type="ftr" sz="quarter" idx="2"/>
          </p:nvPr>
        </p:nvSpPr>
        <p:spPr>
          <a:xfrm>
            <a:off x="0" y="6456612"/>
            <a:ext cx="4302231" cy="33988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23697" y="6456612"/>
            <a:ext cx="4302231" cy="339884"/>
          </a:xfrm>
          <a:prstGeom prst="rect">
            <a:avLst/>
          </a:prstGeom>
        </p:spPr>
        <p:txBody>
          <a:bodyPr vert="horz" lIns="91440" tIns="45720" rIns="91440" bIns="45720" rtlCol="0" anchor="b"/>
          <a:lstStyle>
            <a:lvl1pPr algn="r">
              <a:defRPr sz="1200"/>
            </a:lvl1pPr>
          </a:lstStyle>
          <a:p>
            <a:fld id="{CAFE5E96-075C-48EC-BDC7-AC0E724C84B5}"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矩形 2"/>
          <p:cNvSpPr/>
          <p:nvPr userDrawn="1"/>
        </p:nvSpPr>
        <p:spPr>
          <a:xfrm>
            <a:off x="132098" y="188640"/>
            <a:ext cx="8879804" cy="6480720"/>
          </a:xfrm>
          <a:prstGeom prst="rect">
            <a:avLst/>
          </a:prstGeom>
          <a:solidFill>
            <a:srgbClr val="F4F4F4"/>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Picture 3"/>
          <p:cNvPicPr>
            <a:picLocks noChangeAspect="1" noChangeArrowheads="1"/>
          </p:cNvPicPr>
          <p:nvPr userDrawn="1"/>
        </p:nvPicPr>
        <p:blipFill rotWithShape="1">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767" r="7205" b="57679"/>
          <a:stretch>
            <a:fillRect/>
          </a:stretch>
        </p:blipFill>
        <p:spPr bwMode="auto">
          <a:xfrm rot="10800000">
            <a:off x="935597" y="980729"/>
            <a:ext cx="7272808" cy="469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a:xfrm>
            <a:off x="457200" y="337220"/>
            <a:ext cx="8229600" cy="571500"/>
          </a:xfrm>
          <a:prstGeom prst="rect">
            <a:avLst/>
          </a:prstGeom>
        </p:spPr>
        <p:txBody>
          <a:bodyPr/>
          <a:lstStyle>
            <a:lvl1pPr>
              <a:defRPr lang="zh-CN" altLang="en-US" sz="2800" b="1" kern="1200" dirty="0">
                <a:solidFill>
                  <a:srgbClr val="072063"/>
                </a:solidFill>
                <a:latin typeface="+mn-lt"/>
                <a:ea typeface="+mn-ea"/>
                <a:cs typeface="+mn-cs"/>
              </a:defRPr>
            </a:lvl1pPr>
          </a:lstStyle>
          <a:p>
            <a:r>
              <a:rPr lang="zh-CN" altLang="en-US" dirty="0"/>
              <a:t>单击此处编辑母版标题样式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132098" y="188640"/>
            <a:ext cx="8879804" cy="6480720"/>
          </a:xfrm>
          <a:prstGeom prst="rect">
            <a:avLst/>
          </a:prstGeom>
          <a:solidFill>
            <a:srgbClr val="F4F4F4"/>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7.wmf"/><Relationship Id="rId13" Type="http://schemas.openxmlformats.org/officeDocument/2006/relationships/oleObject" Target="../embeddings/oleObject6.bin"/><Relationship Id="rId18" Type="http://schemas.openxmlformats.org/officeDocument/2006/relationships/image" Target="../media/image12.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9.wmf"/><Relationship Id="rId17" Type="http://schemas.openxmlformats.org/officeDocument/2006/relationships/oleObject" Target="../embeddings/oleObject8.bin"/><Relationship Id="rId2" Type="http://schemas.openxmlformats.org/officeDocument/2006/relationships/slideLayout" Target="../slideLayouts/slideLayout1.xml"/><Relationship Id="rId16" Type="http://schemas.openxmlformats.org/officeDocument/2006/relationships/image" Target="../media/image11.wmf"/><Relationship Id="rId1" Type="http://schemas.openxmlformats.org/officeDocument/2006/relationships/vmlDrawing" Target="../drawings/vmlDrawing1.vml"/><Relationship Id="rId6" Type="http://schemas.openxmlformats.org/officeDocument/2006/relationships/image" Target="../media/image6.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8.wmf"/><Relationship Id="rId4" Type="http://schemas.openxmlformats.org/officeDocument/2006/relationships/image" Target="../media/image5.wmf"/><Relationship Id="rId9" Type="http://schemas.openxmlformats.org/officeDocument/2006/relationships/oleObject" Target="../embeddings/oleObject4.bin"/><Relationship Id="rId14" Type="http://schemas.openxmlformats.org/officeDocument/2006/relationships/image" Target="../media/image10.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3"/>
          <p:cNvPicPr>
            <a:picLocks noChangeAspect="1" noChangeArrowheads="1"/>
          </p:cNvPicPr>
          <p:nvPr/>
        </p:nvPicPr>
        <p:blipFill rotWithShape="1">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767" r="7205" b="57679"/>
          <a:stretch>
            <a:fillRect/>
          </a:stretch>
        </p:blipFill>
        <p:spPr bwMode="auto">
          <a:xfrm rot="10800000">
            <a:off x="935597" y="4221088"/>
            <a:ext cx="7272808" cy="469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Box 13"/>
          <p:cNvSpPr txBox="1"/>
          <p:nvPr/>
        </p:nvSpPr>
        <p:spPr>
          <a:xfrm>
            <a:off x="329565" y="1843405"/>
            <a:ext cx="8485505" cy="1445260"/>
          </a:xfrm>
          <a:prstGeom prst="rect">
            <a:avLst/>
          </a:prstGeom>
          <a:noFill/>
        </p:spPr>
        <p:txBody>
          <a:bodyPr wrap="square" rtlCol="0">
            <a:spAutoFit/>
          </a:bodyPr>
          <a:lstStyle/>
          <a:p>
            <a:pPr algn="ctr">
              <a:lnSpc>
                <a:spcPct val="110000"/>
              </a:lnSpc>
            </a:pPr>
            <a:r>
              <a:rPr lang="zh-CN" altLang="en-US" sz="4000" b="1" dirty="0">
                <a:solidFill>
                  <a:srgbClr val="072063"/>
                </a:solidFill>
              </a:rPr>
              <a:t>基于领域搜索的热轧轧制计划排程与优化</a:t>
            </a:r>
          </a:p>
        </p:txBody>
      </p:sp>
      <p:sp>
        <p:nvSpPr>
          <p:cNvPr id="19" name="TextBox 18"/>
          <p:cNvSpPr txBox="1"/>
          <p:nvPr/>
        </p:nvSpPr>
        <p:spPr>
          <a:xfrm>
            <a:off x="2627837" y="4787860"/>
            <a:ext cx="1783080" cy="368300"/>
          </a:xfrm>
          <a:prstGeom prst="rect">
            <a:avLst/>
          </a:prstGeom>
          <a:noFill/>
        </p:spPr>
        <p:txBody>
          <a:bodyPr wrap="none" rtlCol="0">
            <a:spAutoFit/>
          </a:bodyPr>
          <a:lstStyle/>
          <a:p>
            <a:r>
              <a:rPr lang="zh-CN" altLang="en-US" b="1" dirty="0">
                <a:solidFill>
                  <a:srgbClr val="072063"/>
                </a:solidFill>
              </a:rPr>
              <a:t>答辩人：余彬绮</a:t>
            </a:r>
          </a:p>
        </p:txBody>
      </p:sp>
      <p:sp>
        <p:nvSpPr>
          <p:cNvPr id="27" name="TextBox 26"/>
          <p:cNvSpPr txBox="1"/>
          <p:nvPr/>
        </p:nvSpPr>
        <p:spPr>
          <a:xfrm>
            <a:off x="5162580" y="4787860"/>
            <a:ext cx="1554480" cy="368300"/>
          </a:xfrm>
          <a:prstGeom prst="rect">
            <a:avLst/>
          </a:prstGeom>
          <a:noFill/>
        </p:spPr>
        <p:txBody>
          <a:bodyPr wrap="none" rtlCol="0">
            <a:spAutoFit/>
          </a:bodyPr>
          <a:lstStyle/>
          <a:p>
            <a:r>
              <a:rPr lang="zh-CN" altLang="en-US" b="1" dirty="0">
                <a:solidFill>
                  <a:srgbClr val="072063"/>
                </a:solidFill>
              </a:rPr>
              <a:t>导师：刘士新</a:t>
            </a:r>
          </a:p>
        </p:txBody>
      </p:sp>
      <p:sp>
        <p:nvSpPr>
          <p:cNvPr id="17" name="TextBox 16"/>
          <p:cNvSpPr txBox="1"/>
          <p:nvPr/>
        </p:nvSpPr>
        <p:spPr>
          <a:xfrm>
            <a:off x="2627491" y="5301208"/>
            <a:ext cx="1846580" cy="368300"/>
          </a:xfrm>
          <a:prstGeom prst="rect">
            <a:avLst/>
          </a:prstGeom>
          <a:noFill/>
        </p:spPr>
        <p:txBody>
          <a:bodyPr wrap="none" rtlCol="0">
            <a:spAutoFit/>
          </a:bodyPr>
          <a:lstStyle/>
          <a:p>
            <a:pPr algn="l"/>
            <a:r>
              <a:rPr lang="zh-CN" altLang="en-US" b="1" dirty="0">
                <a:solidFill>
                  <a:srgbClr val="072063"/>
                </a:solidFill>
              </a:rPr>
              <a:t> 专业：系统工程</a:t>
            </a:r>
            <a:endParaRPr lang="zh-CN" altLang="en-US" b="1" dirty="0">
              <a:solidFill>
                <a:srgbClr val="062096"/>
              </a:solidFill>
            </a:endParaRPr>
          </a:p>
        </p:txBody>
      </p:sp>
      <p:sp>
        <p:nvSpPr>
          <p:cNvPr id="18" name="TextBox 17"/>
          <p:cNvSpPr txBox="1"/>
          <p:nvPr/>
        </p:nvSpPr>
        <p:spPr>
          <a:xfrm>
            <a:off x="5148064" y="5291916"/>
            <a:ext cx="1884680" cy="368300"/>
          </a:xfrm>
          <a:prstGeom prst="rect">
            <a:avLst/>
          </a:prstGeom>
          <a:noFill/>
        </p:spPr>
        <p:txBody>
          <a:bodyPr wrap="none" rtlCol="0">
            <a:spAutoFit/>
          </a:bodyPr>
          <a:lstStyle/>
          <a:p>
            <a:pPr algn="l"/>
            <a:r>
              <a:rPr lang="zh-CN" altLang="en-US" b="1" dirty="0">
                <a:solidFill>
                  <a:srgbClr val="072063"/>
                </a:solidFill>
              </a:rPr>
              <a:t>日期：</a:t>
            </a:r>
            <a:r>
              <a:rPr lang="en-US" altLang="zh-CN" b="1" dirty="0">
                <a:solidFill>
                  <a:srgbClr val="072063"/>
                </a:solidFill>
              </a:rPr>
              <a:t>2019.7.20</a:t>
            </a:r>
          </a:p>
        </p:txBody>
      </p:sp>
    </p:spTree>
  </p:cSld>
  <p:clrMapOvr>
    <a:masterClrMapping/>
  </p:clrMapOvr>
  <mc:AlternateContent xmlns:mc="http://schemas.openxmlformats.org/markup-compatibility/2006" xmlns:p14="http://schemas.microsoft.com/office/powerpoint/2010/main">
    <mc:Choice Requires="p14">
      <p:transition spd="med" p14:dur="700" advTm="9320">
        <p:fade/>
      </p:transition>
    </mc:Choice>
    <mc:Fallback xmlns="">
      <p:transition spd="med" advTm="932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直角三角形 4"/>
          <p:cNvSpPr/>
          <p:nvPr/>
        </p:nvSpPr>
        <p:spPr>
          <a:xfrm flipH="1">
            <a:off x="4969788" y="2999384"/>
            <a:ext cx="4043850" cy="3679104"/>
          </a:xfrm>
          <a:custGeom>
            <a:avLst/>
            <a:gdLst>
              <a:gd name="connsiteX0" fmla="*/ 0 w 5233726"/>
              <a:gd name="connsiteY0" fmla="*/ 6489848 h 6489848"/>
              <a:gd name="connsiteX1" fmla="*/ 0 w 5233726"/>
              <a:gd name="connsiteY1" fmla="*/ 0 h 6489848"/>
              <a:gd name="connsiteX2" fmla="*/ 5233726 w 5233726"/>
              <a:gd name="connsiteY2" fmla="*/ 6489848 h 6489848"/>
              <a:gd name="connsiteX3" fmla="*/ 0 w 5233726"/>
              <a:gd name="connsiteY3" fmla="*/ 6489848 h 6489848"/>
              <a:gd name="connsiteX0-1" fmla="*/ 0 w 5233726"/>
              <a:gd name="connsiteY0-2" fmla="*/ 6489848 h 6489848"/>
              <a:gd name="connsiteX1-3" fmla="*/ 0 w 5233726"/>
              <a:gd name="connsiteY1-4" fmla="*/ 0 h 6489848"/>
              <a:gd name="connsiteX2-5" fmla="*/ 5233726 w 5233726"/>
              <a:gd name="connsiteY2-6" fmla="*/ 6489848 h 6489848"/>
              <a:gd name="connsiteX3-7" fmla="*/ 0 w 5233726"/>
              <a:gd name="connsiteY3-8" fmla="*/ 6489848 h 6489848"/>
              <a:gd name="connsiteX0-9" fmla="*/ 0 w 5233726"/>
              <a:gd name="connsiteY0-10" fmla="*/ 6489848 h 6489848"/>
              <a:gd name="connsiteX1-11" fmla="*/ 0 w 5233726"/>
              <a:gd name="connsiteY1-12" fmla="*/ 0 h 6489848"/>
              <a:gd name="connsiteX2-13" fmla="*/ 5233726 w 5233726"/>
              <a:gd name="connsiteY2-14" fmla="*/ 6489848 h 6489848"/>
              <a:gd name="connsiteX3-15" fmla="*/ 0 w 5233726"/>
              <a:gd name="connsiteY3-16" fmla="*/ 6489848 h 6489848"/>
              <a:gd name="connsiteX0-17" fmla="*/ 0 w 5233726"/>
              <a:gd name="connsiteY0-18" fmla="*/ 6489848 h 6489848"/>
              <a:gd name="connsiteX1-19" fmla="*/ 0 w 5233726"/>
              <a:gd name="connsiteY1-20" fmla="*/ 0 h 6489848"/>
              <a:gd name="connsiteX2-21" fmla="*/ 5233726 w 5233726"/>
              <a:gd name="connsiteY2-22" fmla="*/ 6489848 h 6489848"/>
              <a:gd name="connsiteX3-23" fmla="*/ 0 w 5233726"/>
              <a:gd name="connsiteY3-24" fmla="*/ 6489848 h 6489848"/>
            </a:gdLst>
            <a:ahLst/>
            <a:cxnLst>
              <a:cxn ang="0">
                <a:pos x="connsiteX0-1" y="connsiteY0-2"/>
              </a:cxn>
              <a:cxn ang="0">
                <a:pos x="connsiteX1-3" y="connsiteY1-4"/>
              </a:cxn>
              <a:cxn ang="0">
                <a:pos x="connsiteX2-5" y="connsiteY2-6"/>
              </a:cxn>
              <a:cxn ang="0">
                <a:pos x="connsiteX3-7" y="connsiteY3-8"/>
              </a:cxn>
            </a:cxnLst>
            <a:rect l="l" t="t" r="r" b="b"/>
            <a:pathLst>
              <a:path w="5233726" h="6489848">
                <a:moveTo>
                  <a:pt x="0" y="6489848"/>
                </a:moveTo>
                <a:lnTo>
                  <a:pt x="0" y="0"/>
                </a:lnTo>
                <a:cubicBezTo>
                  <a:pt x="4675" y="2201383"/>
                  <a:pt x="2866851" y="6485565"/>
                  <a:pt x="5233726" y="6489848"/>
                </a:cubicBezTo>
                <a:lnTo>
                  <a:pt x="0" y="6489848"/>
                </a:lnTo>
                <a:close/>
              </a:path>
            </a:pathLst>
          </a:custGeom>
          <a:solidFill>
            <a:srgbClr val="07206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28" name="组合 3127"/>
          <p:cNvGrpSpPr/>
          <p:nvPr/>
        </p:nvGrpSpPr>
        <p:grpSpPr>
          <a:xfrm>
            <a:off x="3059832" y="1412776"/>
            <a:ext cx="3140530" cy="461665"/>
            <a:chOff x="3303678" y="1772209"/>
            <a:chExt cx="3140530" cy="461665"/>
          </a:xfrm>
        </p:grpSpPr>
        <p:sp>
          <p:nvSpPr>
            <p:cNvPr id="12" name="TextBox 11"/>
            <p:cNvSpPr txBox="1"/>
            <p:nvPr/>
          </p:nvSpPr>
          <p:spPr>
            <a:xfrm>
              <a:off x="3303678" y="1772209"/>
              <a:ext cx="3140530" cy="461665"/>
            </a:xfrm>
            <a:prstGeom prst="rect">
              <a:avLst/>
            </a:prstGeom>
            <a:noFill/>
          </p:spPr>
          <p:txBody>
            <a:bodyPr wrap="square" rtlCol="0">
              <a:spAutoFit/>
            </a:bodyPr>
            <a:lstStyle/>
            <a:p>
              <a:pPr algn="ctr"/>
              <a:r>
                <a:rPr lang="zh-CN" altLang="en-US" sz="2400" b="1" dirty="0">
                  <a:solidFill>
                    <a:srgbClr val="072063"/>
                  </a:solidFill>
                </a:rPr>
                <a:t>前期工作</a:t>
              </a:r>
              <a:endParaRPr lang="en-US" altLang="zh-CN" sz="2400" b="1" dirty="0">
                <a:solidFill>
                  <a:srgbClr val="072063"/>
                </a:solidFill>
              </a:endParaRPr>
            </a:p>
          </p:txBody>
        </p:sp>
        <p:cxnSp>
          <p:nvCxnSpPr>
            <p:cNvPr id="14" name="直接连接符 13"/>
            <p:cNvCxnSpPr/>
            <p:nvPr/>
          </p:nvCxnSpPr>
          <p:spPr>
            <a:xfrm>
              <a:off x="3419872" y="2189749"/>
              <a:ext cx="2954123"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6" name="标题 15"/>
          <p:cNvSpPr>
            <a:spLocks noGrp="1"/>
          </p:cNvSpPr>
          <p:nvPr>
            <p:ph type="title"/>
          </p:nvPr>
        </p:nvSpPr>
        <p:spPr/>
        <p:txBody>
          <a:bodyPr/>
          <a:lstStyle/>
          <a:p>
            <a:r>
              <a:rPr lang="zh-CN" altLang="en-US" dirty="0"/>
              <a:t>目录</a:t>
            </a:r>
          </a:p>
        </p:txBody>
      </p:sp>
      <p:grpSp>
        <p:nvGrpSpPr>
          <p:cNvPr id="3129" name="组合 3128"/>
          <p:cNvGrpSpPr/>
          <p:nvPr/>
        </p:nvGrpSpPr>
        <p:grpSpPr>
          <a:xfrm>
            <a:off x="3059832" y="2215310"/>
            <a:ext cx="3140530" cy="461665"/>
            <a:chOff x="3303678" y="2574743"/>
            <a:chExt cx="3140530" cy="461665"/>
          </a:xfrm>
        </p:grpSpPr>
        <p:sp>
          <p:nvSpPr>
            <p:cNvPr id="48" name="TextBox 47"/>
            <p:cNvSpPr txBox="1"/>
            <p:nvPr/>
          </p:nvSpPr>
          <p:spPr>
            <a:xfrm>
              <a:off x="3303678" y="2574743"/>
              <a:ext cx="3140530" cy="461665"/>
            </a:xfrm>
            <a:prstGeom prst="rect">
              <a:avLst/>
            </a:prstGeom>
            <a:noFill/>
          </p:spPr>
          <p:txBody>
            <a:bodyPr wrap="square" rtlCol="0">
              <a:spAutoFit/>
            </a:bodyPr>
            <a:lstStyle/>
            <a:p>
              <a:pPr algn="ctr"/>
              <a:r>
                <a:rPr lang="zh-CN" altLang="en-US" sz="2400" b="1" dirty="0">
                  <a:solidFill>
                    <a:srgbClr val="072063"/>
                  </a:solidFill>
                </a:rPr>
                <a:t>选题背景及研究意义</a:t>
              </a:r>
              <a:endParaRPr lang="en-US" altLang="zh-CN" sz="2400" b="1" dirty="0">
                <a:solidFill>
                  <a:srgbClr val="072063"/>
                </a:solidFill>
              </a:endParaRPr>
            </a:p>
          </p:txBody>
        </p:sp>
        <p:cxnSp>
          <p:nvCxnSpPr>
            <p:cNvPr id="49" name="直接连接符 48"/>
            <p:cNvCxnSpPr/>
            <p:nvPr/>
          </p:nvCxnSpPr>
          <p:spPr>
            <a:xfrm>
              <a:off x="3419872" y="2992283"/>
              <a:ext cx="2954123"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3131" name="组合 3130"/>
          <p:cNvGrpSpPr/>
          <p:nvPr/>
        </p:nvGrpSpPr>
        <p:grpSpPr>
          <a:xfrm>
            <a:off x="3059832" y="3017844"/>
            <a:ext cx="3140530" cy="460375"/>
            <a:chOff x="3303678" y="3377277"/>
            <a:chExt cx="3140530" cy="460375"/>
          </a:xfrm>
        </p:grpSpPr>
        <p:sp>
          <p:nvSpPr>
            <p:cNvPr id="52" name="TextBox 51"/>
            <p:cNvSpPr txBox="1"/>
            <p:nvPr/>
          </p:nvSpPr>
          <p:spPr>
            <a:xfrm>
              <a:off x="3303678" y="3377277"/>
              <a:ext cx="3140530" cy="460375"/>
            </a:xfrm>
            <a:prstGeom prst="rect">
              <a:avLst/>
            </a:prstGeom>
            <a:noFill/>
          </p:spPr>
          <p:txBody>
            <a:bodyPr wrap="square" rtlCol="0">
              <a:spAutoFit/>
            </a:bodyPr>
            <a:lstStyle/>
            <a:p>
              <a:pPr algn="ctr"/>
              <a:r>
                <a:rPr lang="zh-CN" altLang="en-US" sz="2400" b="1" dirty="0">
                  <a:solidFill>
                    <a:srgbClr val="072063"/>
                  </a:solidFill>
                </a:rPr>
                <a:t>问题描述</a:t>
              </a:r>
            </a:p>
          </p:txBody>
        </p:sp>
        <p:cxnSp>
          <p:nvCxnSpPr>
            <p:cNvPr id="53" name="直接连接符 52"/>
            <p:cNvCxnSpPr/>
            <p:nvPr/>
          </p:nvCxnSpPr>
          <p:spPr>
            <a:xfrm>
              <a:off x="3419872" y="3794817"/>
              <a:ext cx="2954123"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3132" name="组合 3131"/>
          <p:cNvGrpSpPr/>
          <p:nvPr/>
        </p:nvGrpSpPr>
        <p:grpSpPr>
          <a:xfrm>
            <a:off x="3059832" y="3821738"/>
            <a:ext cx="3140530" cy="460375"/>
            <a:chOff x="3303678" y="4181171"/>
            <a:chExt cx="3140530" cy="460375"/>
          </a:xfrm>
        </p:grpSpPr>
        <p:sp>
          <p:nvSpPr>
            <p:cNvPr id="56" name="TextBox 55"/>
            <p:cNvSpPr txBox="1"/>
            <p:nvPr/>
          </p:nvSpPr>
          <p:spPr>
            <a:xfrm>
              <a:off x="3303678" y="4181171"/>
              <a:ext cx="3140530" cy="460375"/>
            </a:xfrm>
            <a:prstGeom prst="rect">
              <a:avLst/>
            </a:prstGeom>
            <a:noFill/>
          </p:spPr>
          <p:txBody>
            <a:bodyPr wrap="square" rtlCol="0">
              <a:spAutoFit/>
            </a:bodyPr>
            <a:lstStyle/>
            <a:p>
              <a:pPr algn="ctr"/>
              <a:r>
                <a:rPr lang="zh-CN" altLang="en-US" sz="2400" b="1" dirty="0">
                  <a:solidFill>
                    <a:srgbClr val="072063"/>
                  </a:solidFill>
                </a:rPr>
                <a:t>研究内容和思路</a:t>
              </a:r>
            </a:p>
          </p:txBody>
        </p:sp>
        <p:cxnSp>
          <p:nvCxnSpPr>
            <p:cNvPr id="57" name="直接连接符 56"/>
            <p:cNvCxnSpPr/>
            <p:nvPr/>
          </p:nvCxnSpPr>
          <p:spPr>
            <a:xfrm>
              <a:off x="3419872" y="4597351"/>
              <a:ext cx="2954123"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3122" name="组合 3121"/>
          <p:cNvGrpSpPr/>
          <p:nvPr/>
        </p:nvGrpSpPr>
        <p:grpSpPr>
          <a:xfrm>
            <a:off x="2383938" y="1341375"/>
            <a:ext cx="605681" cy="605681"/>
            <a:chOff x="2627784" y="1701415"/>
            <a:chExt cx="605681" cy="605681"/>
          </a:xfrm>
        </p:grpSpPr>
        <p:sp>
          <p:nvSpPr>
            <p:cNvPr id="6" name="椭圆 5"/>
            <p:cNvSpPr/>
            <p:nvPr/>
          </p:nvSpPr>
          <p:spPr>
            <a:xfrm>
              <a:off x="2627784" y="1701415"/>
              <a:ext cx="605681" cy="605681"/>
            </a:xfrm>
            <a:prstGeom prst="ellipse">
              <a:avLst/>
            </a:prstGeom>
            <a:solidFill>
              <a:srgbClr val="0720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lumMod val="65000"/>
                    <a:lumOff val="35000"/>
                  </a:schemeClr>
                </a:solidFill>
              </a:endParaRPr>
            </a:p>
          </p:txBody>
        </p:sp>
        <p:grpSp>
          <p:nvGrpSpPr>
            <p:cNvPr id="63" name="Group 27"/>
            <p:cNvGrpSpPr>
              <a:grpSpLocks noChangeAspect="1"/>
            </p:cNvGrpSpPr>
            <p:nvPr/>
          </p:nvGrpSpPr>
          <p:grpSpPr bwMode="auto">
            <a:xfrm>
              <a:off x="2754994" y="1831401"/>
              <a:ext cx="351260" cy="345708"/>
              <a:chOff x="-2952" y="-1157"/>
              <a:chExt cx="3605" cy="3548"/>
            </a:xfrm>
          </p:grpSpPr>
          <p:sp>
            <p:nvSpPr>
              <p:cNvPr id="3073" name="Freeform 28"/>
              <p:cNvSpPr/>
              <p:nvPr/>
            </p:nvSpPr>
            <p:spPr bwMode="auto">
              <a:xfrm>
                <a:off x="-1015" y="806"/>
                <a:ext cx="574" cy="550"/>
              </a:xfrm>
              <a:custGeom>
                <a:avLst/>
                <a:gdLst>
                  <a:gd name="T0" fmla="*/ 181 w 243"/>
                  <a:gd name="T1" fmla="*/ 76 h 233"/>
                  <a:gd name="T2" fmla="*/ 172 w 243"/>
                  <a:gd name="T3" fmla="*/ 75 h 233"/>
                  <a:gd name="T4" fmla="*/ 154 w 243"/>
                  <a:gd name="T5" fmla="*/ 58 h 233"/>
                  <a:gd name="T6" fmla="*/ 133 w 243"/>
                  <a:gd name="T7" fmla="*/ 64 h 233"/>
                  <a:gd name="T8" fmla="*/ 75 w 243"/>
                  <a:gd name="T9" fmla="*/ 9 h 233"/>
                  <a:gd name="T10" fmla="*/ 13 w 243"/>
                  <a:gd name="T11" fmla="*/ 75 h 233"/>
                  <a:gd name="T12" fmla="*/ 71 w 243"/>
                  <a:gd name="T13" fmla="*/ 129 h 233"/>
                  <a:gd name="T14" fmla="*/ 69 w 243"/>
                  <a:gd name="T15" fmla="*/ 150 h 233"/>
                  <a:gd name="T16" fmla="*/ 86 w 243"/>
                  <a:gd name="T17" fmla="*/ 166 h 233"/>
                  <a:gd name="T18" fmla="*/ 88 w 243"/>
                  <a:gd name="T19" fmla="*/ 176 h 233"/>
                  <a:gd name="T20" fmla="*/ 150 w 243"/>
                  <a:gd name="T21" fmla="*/ 233 h 233"/>
                  <a:gd name="T22" fmla="*/ 243 w 243"/>
                  <a:gd name="T23" fmla="*/ 133 h 233"/>
                  <a:gd name="T24" fmla="*/ 181 w 243"/>
                  <a:gd name="T25" fmla="*/ 76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3" h="233">
                    <a:moveTo>
                      <a:pt x="181" y="76"/>
                    </a:moveTo>
                    <a:cubicBezTo>
                      <a:pt x="179" y="74"/>
                      <a:pt x="176" y="74"/>
                      <a:pt x="172" y="75"/>
                    </a:cubicBezTo>
                    <a:cubicBezTo>
                      <a:pt x="168" y="71"/>
                      <a:pt x="161" y="65"/>
                      <a:pt x="154" y="58"/>
                    </a:cubicBezTo>
                    <a:cubicBezTo>
                      <a:pt x="150" y="55"/>
                      <a:pt x="143" y="58"/>
                      <a:pt x="133" y="64"/>
                    </a:cubicBezTo>
                    <a:cubicBezTo>
                      <a:pt x="119" y="51"/>
                      <a:pt x="83" y="17"/>
                      <a:pt x="75" y="9"/>
                    </a:cubicBezTo>
                    <a:cubicBezTo>
                      <a:pt x="64" y="0"/>
                      <a:pt x="0" y="64"/>
                      <a:pt x="13" y="75"/>
                    </a:cubicBezTo>
                    <a:cubicBezTo>
                      <a:pt x="22" y="84"/>
                      <a:pt x="57" y="116"/>
                      <a:pt x="71" y="129"/>
                    </a:cubicBezTo>
                    <a:cubicBezTo>
                      <a:pt x="66" y="139"/>
                      <a:pt x="64" y="146"/>
                      <a:pt x="69" y="150"/>
                    </a:cubicBezTo>
                    <a:cubicBezTo>
                      <a:pt x="75" y="157"/>
                      <a:pt x="81" y="162"/>
                      <a:pt x="86" y="166"/>
                    </a:cubicBezTo>
                    <a:cubicBezTo>
                      <a:pt x="85" y="170"/>
                      <a:pt x="85" y="174"/>
                      <a:pt x="88" y="176"/>
                    </a:cubicBezTo>
                    <a:cubicBezTo>
                      <a:pt x="97" y="183"/>
                      <a:pt x="121" y="206"/>
                      <a:pt x="150" y="233"/>
                    </a:cubicBezTo>
                    <a:cubicBezTo>
                      <a:pt x="243" y="133"/>
                      <a:pt x="243" y="133"/>
                      <a:pt x="243" y="133"/>
                    </a:cubicBezTo>
                    <a:cubicBezTo>
                      <a:pt x="215" y="108"/>
                      <a:pt x="193" y="86"/>
                      <a:pt x="181"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79" name="Freeform 29"/>
              <p:cNvSpPr>
                <a:spLocks noEditPoints="1"/>
              </p:cNvSpPr>
              <p:nvPr/>
            </p:nvSpPr>
            <p:spPr bwMode="auto">
              <a:xfrm>
                <a:off x="-741" y="1052"/>
                <a:ext cx="1394" cy="1339"/>
              </a:xfrm>
              <a:custGeom>
                <a:avLst/>
                <a:gdLst>
                  <a:gd name="T0" fmla="*/ 383 w 590"/>
                  <a:gd name="T1" fmla="*/ 553 h 567"/>
                  <a:gd name="T2" fmla="*/ 20 w 590"/>
                  <a:gd name="T3" fmla="*/ 219 h 567"/>
                  <a:gd name="T4" fmla="*/ 20 w 590"/>
                  <a:gd name="T5" fmla="*/ 219 h 567"/>
                  <a:gd name="T6" fmla="*/ 2 w 590"/>
                  <a:gd name="T7" fmla="*/ 168 h 567"/>
                  <a:gd name="T8" fmla="*/ 2 w 590"/>
                  <a:gd name="T9" fmla="*/ 168 h 567"/>
                  <a:gd name="T10" fmla="*/ 22 w 590"/>
                  <a:gd name="T11" fmla="*/ 116 h 567"/>
                  <a:gd name="T12" fmla="*/ 22 w 590"/>
                  <a:gd name="T13" fmla="*/ 116 h 567"/>
                  <a:gd name="T14" fmla="*/ 56 w 590"/>
                  <a:gd name="T15" fmla="*/ 74 h 567"/>
                  <a:gd name="T16" fmla="*/ 56 w 590"/>
                  <a:gd name="T17" fmla="*/ 74 h 567"/>
                  <a:gd name="T18" fmla="*/ 137 w 590"/>
                  <a:gd name="T19" fmla="*/ 8 h 567"/>
                  <a:gd name="T20" fmla="*/ 137 w 590"/>
                  <a:gd name="T21" fmla="*/ 8 h 567"/>
                  <a:gd name="T22" fmla="*/ 175 w 590"/>
                  <a:gd name="T23" fmla="*/ 1 h 567"/>
                  <a:gd name="T24" fmla="*/ 175 w 590"/>
                  <a:gd name="T25" fmla="*/ 1 h 567"/>
                  <a:gd name="T26" fmla="*/ 209 w 590"/>
                  <a:gd name="T27" fmla="*/ 16 h 567"/>
                  <a:gd name="T28" fmla="*/ 209 w 590"/>
                  <a:gd name="T29" fmla="*/ 16 h 567"/>
                  <a:gd name="T30" fmla="*/ 573 w 590"/>
                  <a:gd name="T31" fmla="*/ 351 h 567"/>
                  <a:gd name="T32" fmla="*/ 573 w 590"/>
                  <a:gd name="T33" fmla="*/ 351 h 567"/>
                  <a:gd name="T34" fmla="*/ 573 w 590"/>
                  <a:gd name="T35" fmla="*/ 351 h 567"/>
                  <a:gd name="T36" fmla="*/ 589 w 590"/>
                  <a:gd name="T37" fmla="*/ 394 h 567"/>
                  <a:gd name="T38" fmla="*/ 589 w 590"/>
                  <a:gd name="T39" fmla="*/ 394 h 567"/>
                  <a:gd name="T40" fmla="*/ 581 w 590"/>
                  <a:gd name="T41" fmla="*/ 420 h 567"/>
                  <a:gd name="T42" fmla="*/ 581 w 590"/>
                  <a:gd name="T43" fmla="*/ 420 h 567"/>
                  <a:gd name="T44" fmla="*/ 571 w 590"/>
                  <a:gd name="T45" fmla="*/ 435 h 567"/>
                  <a:gd name="T46" fmla="*/ 571 w 590"/>
                  <a:gd name="T47" fmla="*/ 435 h 567"/>
                  <a:gd name="T48" fmla="*/ 547 w 590"/>
                  <a:gd name="T49" fmla="*/ 466 h 567"/>
                  <a:gd name="T50" fmla="*/ 547 w 590"/>
                  <a:gd name="T51" fmla="*/ 466 h 567"/>
                  <a:gd name="T52" fmla="*/ 485 w 590"/>
                  <a:gd name="T53" fmla="*/ 531 h 567"/>
                  <a:gd name="T54" fmla="*/ 485 w 590"/>
                  <a:gd name="T55" fmla="*/ 531 h 567"/>
                  <a:gd name="T56" fmla="*/ 442 w 590"/>
                  <a:gd name="T57" fmla="*/ 562 h 567"/>
                  <a:gd name="T58" fmla="*/ 442 w 590"/>
                  <a:gd name="T59" fmla="*/ 562 h 567"/>
                  <a:gd name="T60" fmla="*/ 414 w 590"/>
                  <a:gd name="T61" fmla="*/ 566 h 567"/>
                  <a:gd name="T62" fmla="*/ 414 w 590"/>
                  <a:gd name="T63" fmla="*/ 566 h 567"/>
                  <a:gd name="T64" fmla="*/ 414 w 590"/>
                  <a:gd name="T65" fmla="*/ 566 h 567"/>
                  <a:gd name="T66" fmla="*/ 414 w 590"/>
                  <a:gd name="T67" fmla="*/ 566 h 567"/>
                  <a:gd name="T68" fmla="*/ 383 w 590"/>
                  <a:gd name="T69" fmla="*/ 553 h 567"/>
                  <a:gd name="T70" fmla="*/ 422 w 590"/>
                  <a:gd name="T71" fmla="*/ 454 h 567"/>
                  <a:gd name="T72" fmla="*/ 425 w 590"/>
                  <a:gd name="T73" fmla="*/ 452 h 567"/>
                  <a:gd name="T74" fmla="*/ 425 w 590"/>
                  <a:gd name="T75" fmla="*/ 452 h 567"/>
                  <a:gd name="T76" fmla="*/ 476 w 590"/>
                  <a:gd name="T77" fmla="*/ 397 h 567"/>
                  <a:gd name="T78" fmla="*/ 476 w 590"/>
                  <a:gd name="T79" fmla="*/ 397 h 567"/>
                  <a:gd name="T80" fmla="*/ 476 w 590"/>
                  <a:gd name="T81" fmla="*/ 396 h 567"/>
                  <a:gd name="T82" fmla="*/ 476 w 590"/>
                  <a:gd name="T83" fmla="*/ 396 h 567"/>
                  <a:gd name="T84" fmla="*/ 163 w 590"/>
                  <a:gd name="T85" fmla="*/ 108 h 567"/>
                  <a:gd name="T86" fmla="*/ 163 w 590"/>
                  <a:gd name="T87" fmla="*/ 108 h 567"/>
                  <a:gd name="T88" fmla="*/ 157 w 590"/>
                  <a:gd name="T89" fmla="*/ 113 h 567"/>
                  <a:gd name="T90" fmla="*/ 157 w 590"/>
                  <a:gd name="T91" fmla="*/ 113 h 567"/>
                  <a:gd name="T92" fmla="*/ 112 w 590"/>
                  <a:gd name="T93" fmla="*/ 160 h 567"/>
                  <a:gd name="T94" fmla="*/ 112 w 590"/>
                  <a:gd name="T95" fmla="*/ 160 h 567"/>
                  <a:gd name="T96" fmla="*/ 108 w 590"/>
                  <a:gd name="T97" fmla="*/ 165 h 567"/>
                  <a:gd name="T98" fmla="*/ 108 w 590"/>
                  <a:gd name="T99" fmla="*/ 165 h 567"/>
                  <a:gd name="T100" fmla="*/ 422 w 590"/>
                  <a:gd name="T101" fmla="*/ 454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0" h="567">
                    <a:moveTo>
                      <a:pt x="383" y="553"/>
                    </a:moveTo>
                    <a:cubicBezTo>
                      <a:pt x="374" y="544"/>
                      <a:pt x="31" y="229"/>
                      <a:pt x="20" y="219"/>
                    </a:cubicBezTo>
                    <a:cubicBezTo>
                      <a:pt x="20" y="219"/>
                      <a:pt x="20" y="219"/>
                      <a:pt x="20" y="219"/>
                    </a:cubicBezTo>
                    <a:cubicBezTo>
                      <a:pt x="4" y="204"/>
                      <a:pt x="0" y="181"/>
                      <a:pt x="2" y="168"/>
                    </a:cubicBezTo>
                    <a:cubicBezTo>
                      <a:pt x="2" y="168"/>
                      <a:pt x="2" y="168"/>
                      <a:pt x="2" y="168"/>
                    </a:cubicBezTo>
                    <a:cubicBezTo>
                      <a:pt x="4" y="144"/>
                      <a:pt x="13" y="131"/>
                      <a:pt x="22" y="116"/>
                    </a:cubicBezTo>
                    <a:cubicBezTo>
                      <a:pt x="22" y="116"/>
                      <a:pt x="22" y="116"/>
                      <a:pt x="22" y="116"/>
                    </a:cubicBezTo>
                    <a:cubicBezTo>
                      <a:pt x="32" y="101"/>
                      <a:pt x="43" y="87"/>
                      <a:pt x="56" y="74"/>
                    </a:cubicBezTo>
                    <a:cubicBezTo>
                      <a:pt x="56" y="74"/>
                      <a:pt x="56" y="74"/>
                      <a:pt x="56" y="74"/>
                    </a:cubicBezTo>
                    <a:cubicBezTo>
                      <a:pt x="82" y="46"/>
                      <a:pt x="108" y="23"/>
                      <a:pt x="137" y="8"/>
                    </a:cubicBezTo>
                    <a:cubicBezTo>
                      <a:pt x="137" y="8"/>
                      <a:pt x="137" y="8"/>
                      <a:pt x="137" y="8"/>
                    </a:cubicBezTo>
                    <a:cubicBezTo>
                      <a:pt x="147" y="4"/>
                      <a:pt x="157" y="0"/>
                      <a:pt x="175" y="1"/>
                    </a:cubicBezTo>
                    <a:cubicBezTo>
                      <a:pt x="175" y="1"/>
                      <a:pt x="175" y="1"/>
                      <a:pt x="175" y="1"/>
                    </a:cubicBezTo>
                    <a:cubicBezTo>
                      <a:pt x="185" y="2"/>
                      <a:pt x="199" y="6"/>
                      <a:pt x="209" y="16"/>
                    </a:cubicBezTo>
                    <a:cubicBezTo>
                      <a:pt x="209" y="16"/>
                      <a:pt x="209" y="16"/>
                      <a:pt x="209" y="16"/>
                    </a:cubicBezTo>
                    <a:cubicBezTo>
                      <a:pt x="218" y="25"/>
                      <a:pt x="556" y="335"/>
                      <a:pt x="573" y="351"/>
                    </a:cubicBezTo>
                    <a:cubicBezTo>
                      <a:pt x="573" y="351"/>
                      <a:pt x="573" y="351"/>
                      <a:pt x="573" y="351"/>
                    </a:cubicBezTo>
                    <a:cubicBezTo>
                      <a:pt x="573" y="351"/>
                      <a:pt x="573" y="351"/>
                      <a:pt x="573" y="351"/>
                    </a:cubicBezTo>
                    <a:cubicBezTo>
                      <a:pt x="589" y="367"/>
                      <a:pt x="590" y="386"/>
                      <a:pt x="589" y="394"/>
                    </a:cubicBezTo>
                    <a:cubicBezTo>
                      <a:pt x="589" y="394"/>
                      <a:pt x="589" y="394"/>
                      <a:pt x="589" y="394"/>
                    </a:cubicBezTo>
                    <a:cubicBezTo>
                      <a:pt x="587" y="409"/>
                      <a:pt x="583" y="414"/>
                      <a:pt x="581" y="420"/>
                    </a:cubicBezTo>
                    <a:cubicBezTo>
                      <a:pt x="581" y="420"/>
                      <a:pt x="581" y="420"/>
                      <a:pt x="581" y="420"/>
                    </a:cubicBezTo>
                    <a:cubicBezTo>
                      <a:pt x="578" y="425"/>
                      <a:pt x="575" y="430"/>
                      <a:pt x="571" y="435"/>
                    </a:cubicBezTo>
                    <a:cubicBezTo>
                      <a:pt x="571" y="435"/>
                      <a:pt x="571" y="435"/>
                      <a:pt x="571" y="435"/>
                    </a:cubicBezTo>
                    <a:cubicBezTo>
                      <a:pt x="564" y="445"/>
                      <a:pt x="556" y="455"/>
                      <a:pt x="547" y="466"/>
                    </a:cubicBezTo>
                    <a:cubicBezTo>
                      <a:pt x="547" y="466"/>
                      <a:pt x="547" y="466"/>
                      <a:pt x="547" y="466"/>
                    </a:cubicBezTo>
                    <a:cubicBezTo>
                      <a:pt x="528" y="488"/>
                      <a:pt x="506" y="512"/>
                      <a:pt x="485" y="531"/>
                    </a:cubicBezTo>
                    <a:cubicBezTo>
                      <a:pt x="485" y="531"/>
                      <a:pt x="485" y="531"/>
                      <a:pt x="485" y="531"/>
                    </a:cubicBezTo>
                    <a:cubicBezTo>
                      <a:pt x="471" y="543"/>
                      <a:pt x="461" y="553"/>
                      <a:pt x="442" y="562"/>
                    </a:cubicBezTo>
                    <a:cubicBezTo>
                      <a:pt x="442" y="562"/>
                      <a:pt x="442" y="562"/>
                      <a:pt x="442" y="562"/>
                    </a:cubicBezTo>
                    <a:cubicBezTo>
                      <a:pt x="436" y="564"/>
                      <a:pt x="429" y="567"/>
                      <a:pt x="414" y="566"/>
                    </a:cubicBezTo>
                    <a:cubicBezTo>
                      <a:pt x="414" y="566"/>
                      <a:pt x="414" y="566"/>
                      <a:pt x="414" y="566"/>
                    </a:cubicBezTo>
                    <a:cubicBezTo>
                      <a:pt x="414" y="566"/>
                      <a:pt x="414" y="566"/>
                      <a:pt x="414" y="566"/>
                    </a:cubicBezTo>
                    <a:cubicBezTo>
                      <a:pt x="414" y="566"/>
                      <a:pt x="414" y="566"/>
                      <a:pt x="414" y="566"/>
                    </a:cubicBezTo>
                    <a:cubicBezTo>
                      <a:pt x="406" y="566"/>
                      <a:pt x="394" y="562"/>
                      <a:pt x="383" y="553"/>
                    </a:cubicBezTo>
                    <a:close/>
                    <a:moveTo>
                      <a:pt x="422" y="454"/>
                    </a:moveTo>
                    <a:cubicBezTo>
                      <a:pt x="423" y="453"/>
                      <a:pt x="424" y="453"/>
                      <a:pt x="425" y="452"/>
                    </a:cubicBezTo>
                    <a:cubicBezTo>
                      <a:pt x="425" y="452"/>
                      <a:pt x="425" y="452"/>
                      <a:pt x="425" y="452"/>
                    </a:cubicBezTo>
                    <a:cubicBezTo>
                      <a:pt x="441" y="436"/>
                      <a:pt x="461" y="415"/>
                      <a:pt x="476" y="397"/>
                    </a:cubicBezTo>
                    <a:cubicBezTo>
                      <a:pt x="476" y="397"/>
                      <a:pt x="476" y="397"/>
                      <a:pt x="476" y="397"/>
                    </a:cubicBezTo>
                    <a:cubicBezTo>
                      <a:pt x="476" y="397"/>
                      <a:pt x="476" y="397"/>
                      <a:pt x="476" y="396"/>
                    </a:cubicBezTo>
                    <a:cubicBezTo>
                      <a:pt x="476" y="396"/>
                      <a:pt x="476" y="396"/>
                      <a:pt x="476" y="396"/>
                    </a:cubicBezTo>
                    <a:cubicBezTo>
                      <a:pt x="388" y="313"/>
                      <a:pt x="241" y="181"/>
                      <a:pt x="163" y="108"/>
                    </a:cubicBezTo>
                    <a:cubicBezTo>
                      <a:pt x="163" y="108"/>
                      <a:pt x="163" y="108"/>
                      <a:pt x="163" y="108"/>
                    </a:cubicBezTo>
                    <a:cubicBezTo>
                      <a:pt x="161" y="110"/>
                      <a:pt x="159" y="112"/>
                      <a:pt x="157" y="113"/>
                    </a:cubicBezTo>
                    <a:cubicBezTo>
                      <a:pt x="157" y="113"/>
                      <a:pt x="157" y="113"/>
                      <a:pt x="157" y="113"/>
                    </a:cubicBezTo>
                    <a:cubicBezTo>
                      <a:pt x="142" y="126"/>
                      <a:pt x="124" y="145"/>
                      <a:pt x="112" y="160"/>
                    </a:cubicBezTo>
                    <a:cubicBezTo>
                      <a:pt x="112" y="160"/>
                      <a:pt x="112" y="160"/>
                      <a:pt x="112" y="160"/>
                    </a:cubicBezTo>
                    <a:cubicBezTo>
                      <a:pt x="110" y="162"/>
                      <a:pt x="109" y="164"/>
                      <a:pt x="108" y="165"/>
                    </a:cubicBezTo>
                    <a:cubicBezTo>
                      <a:pt x="108" y="165"/>
                      <a:pt x="108" y="165"/>
                      <a:pt x="108" y="165"/>
                    </a:cubicBezTo>
                    <a:cubicBezTo>
                      <a:pt x="185" y="237"/>
                      <a:pt x="335" y="373"/>
                      <a:pt x="422" y="45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80" name="Freeform 30"/>
              <p:cNvSpPr>
                <a:spLocks noEditPoints="1"/>
              </p:cNvSpPr>
              <p:nvPr/>
            </p:nvSpPr>
            <p:spPr bwMode="auto">
              <a:xfrm>
                <a:off x="-2952" y="-1157"/>
                <a:ext cx="2488" cy="2492"/>
              </a:xfrm>
              <a:custGeom>
                <a:avLst/>
                <a:gdLst>
                  <a:gd name="T0" fmla="*/ 482 w 1053"/>
                  <a:gd name="T1" fmla="*/ 1042 h 1055"/>
                  <a:gd name="T2" fmla="*/ 177 w 1053"/>
                  <a:gd name="T3" fmla="*/ 906 h 1055"/>
                  <a:gd name="T4" fmla="*/ 177 w 1053"/>
                  <a:gd name="T5" fmla="*/ 906 h 1055"/>
                  <a:gd name="T6" fmla="*/ 13 w 1053"/>
                  <a:gd name="T7" fmla="*/ 483 h 1055"/>
                  <a:gd name="T8" fmla="*/ 13 w 1053"/>
                  <a:gd name="T9" fmla="*/ 483 h 1055"/>
                  <a:gd name="T10" fmla="*/ 148 w 1053"/>
                  <a:gd name="T11" fmla="*/ 177 h 1055"/>
                  <a:gd name="T12" fmla="*/ 148 w 1053"/>
                  <a:gd name="T13" fmla="*/ 177 h 1055"/>
                  <a:gd name="T14" fmla="*/ 148 w 1053"/>
                  <a:gd name="T15" fmla="*/ 177 h 1055"/>
                  <a:gd name="T16" fmla="*/ 571 w 1053"/>
                  <a:gd name="T17" fmla="*/ 13 h 1055"/>
                  <a:gd name="T18" fmla="*/ 571 w 1053"/>
                  <a:gd name="T19" fmla="*/ 13 h 1055"/>
                  <a:gd name="T20" fmla="*/ 877 w 1053"/>
                  <a:gd name="T21" fmla="*/ 148 h 1055"/>
                  <a:gd name="T22" fmla="*/ 877 w 1053"/>
                  <a:gd name="T23" fmla="*/ 148 h 1055"/>
                  <a:gd name="T24" fmla="*/ 1040 w 1053"/>
                  <a:gd name="T25" fmla="*/ 572 h 1055"/>
                  <a:gd name="T26" fmla="*/ 1040 w 1053"/>
                  <a:gd name="T27" fmla="*/ 572 h 1055"/>
                  <a:gd name="T28" fmla="*/ 905 w 1053"/>
                  <a:gd name="T29" fmla="*/ 878 h 1055"/>
                  <a:gd name="T30" fmla="*/ 905 w 1053"/>
                  <a:gd name="T31" fmla="*/ 878 h 1055"/>
                  <a:gd name="T32" fmla="*/ 483 w 1053"/>
                  <a:gd name="T33" fmla="*/ 1042 h 1055"/>
                  <a:gd name="T34" fmla="*/ 483 w 1053"/>
                  <a:gd name="T35" fmla="*/ 1042 h 1055"/>
                  <a:gd name="T36" fmla="*/ 482 w 1053"/>
                  <a:gd name="T37" fmla="*/ 1042 h 1055"/>
                  <a:gd name="T38" fmla="*/ 221 w 1053"/>
                  <a:gd name="T39" fmla="*/ 244 h 1055"/>
                  <a:gd name="T40" fmla="*/ 221 w 1053"/>
                  <a:gd name="T41" fmla="*/ 244 h 1055"/>
                  <a:gd name="T42" fmla="*/ 112 w 1053"/>
                  <a:gd name="T43" fmla="*/ 491 h 1055"/>
                  <a:gd name="T44" fmla="*/ 112 w 1053"/>
                  <a:gd name="T45" fmla="*/ 491 h 1055"/>
                  <a:gd name="T46" fmla="*/ 244 w 1053"/>
                  <a:gd name="T47" fmla="*/ 834 h 1055"/>
                  <a:gd name="T48" fmla="*/ 244 w 1053"/>
                  <a:gd name="T49" fmla="*/ 834 h 1055"/>
                  <a:gd name="T50" fmla="*/ 491 w 1053"/>
                  <a:gd name="T51" fmla="*/ 943 h 1055"/>
                  <a:gd name="T52" fmla="*/ 491 w 1053"/>
                  <a:gd name="T53" fmla="*/ 943 h 1055"/>
                  <a:gd name="T54" fmla="*/ 833 w 1053"/>
                  <a:gd name="T55" fmla="*/ 810 h 1055"/>
                  <a:gd name="T56" fmla="*/ 833 w 1053"/>
                  <a:gd name="T57" fmla="*/ 810 h 1055"/>
                  <a:gd name="T58" fmla="*/ 942 w 1053"/>
                  <a:gd name="T59" fmla="*/ 563 h 1055"/>
                  <a:gd name="T60" fmla="*/ 942 w 1053"/>
                  <a:gd name="T61" fmla="*/ 563 h 1055"/>
                  <a:gd name="T62" fmla="*/ 810 w 1053"/>
                  <a:gd name="T63" fmla="*/ 221 h 1055"/>
                  <a:gd name="T64" fmla="*/ 810 w 1053"/>
                  <a:gd name="T65" fmla="*/ 221 h 1055"/>
                  <a:gd name="T66" fmla="*/ 563 w 1053"/>
                  <a:gd name="T67" fmla="*/ 111 h 1055"/>
                  <a:gd name="T68" fmla="*/ 563 w 1053"/>
                  <a:gd name="T69" fmla="*/ 111 h 1055"/>
                  <a:gd name="T70" fmla="*/ 221 w 1053"/>
                  <a:gd name="T71" fmla="*/ 244 h 1055"/>
                  <a:gd name="T72" fmla="*/ 221 w 1053"/>
                  <a:gd name="T73" fmla="*/ 244 h 10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53" h="1055">
                    <a:moveTo>
                      <a:pt x="482" y="1042"/>
                    </a:moveTo>
                    <a:cubicBezTo>
                      <a:pt x="372" y="1032"/>
                      <a:pt x="264" y="987"/>
                      <a:pt x="177" y="906"/>
                    </a:cubicBezTo>
                    <a:cubicBezTo>
                      <a:pt x="177" y="906"/>
                      <a:pt x="177" y="906"/>
                      <a:pt x="177" y="906"/>
                    </a:cubicBezTo>
                    <a:cubicBezTo>
                      <a:pt x="55" y="794"/>
                      <a:pt x="0" y="636"/>
                      <a:pt x="13" y="483"/>
                    </a:cubicBezTo>
                    <a:cubicBezTo>
                      <a:pt x="13" y="483"/>
                      <a:pt x="13" y="483"/>
                      <a:pt x="13" y="483"/>
                    </a:cubicBezTo>
                    <a:cubicBezTo>
                      <a:pt x="23" y="373"/>
                      <a:pt x="68" y="264"/>
                      <a:pt x="148" y="177"/>
                    </a:cubicBezTo>
                    <a:cubicBezTo>
                      <a:pt x="148" y="177"/>
                      <a:pt x="148" y="177"/>
                      <a:pt x="148" y="177"/>
                    </a:cubicBezTo>
                    <a:cubicBezTo>
                      <a:pt x="148" y="177"/>
                      <a:pt x="148" y="177"/>
                      <a:pt x="148" y="177"/>
                    </a:cubicBezTo>
                    <a:cubicBezTo>
                      <a:pt x="261" y="55"/>
                      <a:pt x="418" y="0"/>
                      <a:pt x="571" y="13"/>
                    </a:cubicBezTo>
                    <a:cubicBezTo>
                      <a:pt x="571" y="13"/>
                      <a:pt x="571" y="13"/>
                      <a:pt x="571" y="13"/>
                    </a:cubicBezTo>
                    <a:cubicBezTo>
                      <a:pt x="681" y="22"/>
                      <a:pt x="789" y="67"/>
                      <a:pt x="877" y="148"/>
                    </a:cubicBezTo>
                    <a:cubicBezTo>
                      <a:pt x="877" y="148"/>
                      <a:pt x="877" y="148"/>
                      <a:pt x="877" y="148"/>
                    </a:cubicBezTo>
                    <a:cubicBezTo>
                      <a:pt x="998" y="261"/>
                      <a:pt x="1053" y="418"/>
                      <a:pt x="1040" y="572"/>
                    </a:cubicBezTo>
                    <a:cubicBezTo>
                      <a:pt x="1040" y="572"/>
                      <a:pt x="1040" y="572"/>
                      <a:pt x="1040" y="572"/>
                    </a:cubicBezTo>
                    <a:cubicBezTo>
                      <a:pt x="1031" y="682"/>
                      <a:pt x="986" y="790"/>
                      <a:pt x="905" y="878"/>
                    </a:cubicBezTo>
                    <a:cubicBezTo>
                      <a:pt x="905" y="878"/>
                      <a:pt x="905" y="878"/>
                      <a:pt x="905" y="878"/>
                    </a:cubicBezTo>
                    <a:cubicBezTo>
                      <a:pt x="793" y="999"/>
                      <a:pt x="635" y="1055"/>
                      <a:pt x="483" y="1042"/>
                    </a:cubicBezTo>
                    <a:cubicBezTo>
                      <a:pt x="483" y="1042"/>
                      <a:pt x="483" y="1042"/>
                      <a:pt x="483" y="1042"/>
                    </a:cubicBezTo>
                    <a:cubicBezTo>
                      <a:pt x="482" y="1042"/>
                      <a:pt x="482" y="1042"/>
                      <a:pt x="482" y="1042"/>
                    </a:cubicBezTo>
                    <a:close/>
                    <a:moveTo>
                      <a:pt x="221" y="244"/>
                    </a:moveTo>
                    <a:cubicBezTo>
                      <a:pt x="221" y="244"/>
                      <a:pt x="221" y="244"/>
                      <a:pt x="221" y="244"/>
                    </a:cubicBezTo>
                    <a:cubicBezTo>
                      <a:pt x="155" y="315"/>
                      <a:pt x="119" y="402"/>
                      <a:pt x="112" y="491"/>
                    </a:cubicBezTo>
                    <a:cubicBezTo>
                      <a:pt x="112" y="491"/>
                      <a:pt x="112" y="491"/>
                      <a:pt x="112" y="491"/>
                    </a:cubicBezTo>
                    <a:cubicBezTo>
                      <a:pt x="101" y="615"/>
                      <a:pt x="145" y="743"/>
                      <a:pt x="244" y="834"/>
                    </a:cubicBezTo>
                    <a:cubicBezTo>
                      <a:pt x="244" y="834"/>
                      <a:pt x="244" y="834"/>
                      <a:pt x="244" y="834"/>
                    </a:cubicBezTo>
                    <a:cubicBezTo>
                      <a:pt x="315" y="899"/>
                      <a:pt x="402" y="935"/>
                      <a:pt x="491" y="943"/>
                    </a:cubicBezTo>
                    <a:cubicBezTo>
                      <a:pt x="491" y="943"/>
                      <a:pt x="491" y="943"/>
                      <a:pt x="491" y="943"/>
                    </a:cubicBezTo>
                    <a:cubicBezTo>
                      <a:pt x="615" y="954"/>
                      <a:pt x="742" y="909"/>
                      <a:pt x="833" y="810"/>
                    </a:cubicBezTo>
                    <a:cubicBezTo>
                      <a:pt x="833" y="810"/>
                      <a:pt x="833" y="810"/>
                      <a:pt x="833" y="810"/>
                    </a:cubicBezTo>
                    <a:cubicBezTo>
                      <a:pt x="898" y="740"/>
                      <a:pt x="934" y="652"/>
                      <a:pt x="942" y="563"/>
                    </a:cubicBezTo>
                    <a:cubicBezTo>
                      <a:pt x="942" y="563"/>
                      <a:pt x="942" y="563"/>
                      <a:pt x="942" y="563"/>
                    </a:cubicBezTo>
                    <a:cubicBezTo>
                      <a:pt x="952" y="439"/>
                      <a:pt x="908" y="312"/>
                      <a:pt x="810" y="221"/>
                    </a:cubicBezTo>
                    <a:cubicBezTo>
                      <a:pt x="810" y="221"/>
                      <a:pt x="810" y="221"/>
                      <a:pt x="810" y="221"/>
                    </a:cubicBezTo>
                    <a:cubicBezTo>
                      <a:pt x="739" y="155"/>
                      <a:pt x="652" y="119"/>
                      <a:pt x="563" y="111"/>
                    </a:cubicBezTo>
                    <a:cubicBezTo>
                      <a:pt x="563" y="111"/>
                      <a:pt x="563" y="111"/>
                      <a:pt x="563" y="111"/>
                    </a:cubicBezTo>
                    <a:cubicBezTo>
                      <a:pt x="439" y="101"/>
                      <a:pt x="312" y="145"/>
                      <a:pt x="221" y="244"/>
                    </a:cubicBezTo>
                    <a:cubicBezTo>
                      <a:pt x="221" y="244"/>
                      <a:pt x="221" y="244"/>
                      <a:pt x="221" y="244"/>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3125" name="组合 3124"/>
          <p:cNvGrpSpPr/>
          <p:nvPr/>
        </p:nvGrpSpPr>
        <p:grpSpPr>
          <a:xfrm>
            <a:off x="2392327" y="2946443"/>
            <a:ext cx="605681" cy="605681"/>
            <a:chOff x="2636173" y="3306483"/>
            <a:chExt cx="605681" cy="605681"/>
          </a:xfrm>
        </p:grpSpPr>
        <p:sp>
          <p:nvSpPr>
            <p:cNvPr id="51" name="椭圆 50"/>
            <p:cNvSpPr/>
            <p:nvPr/>
          </p:nvSpPr>
          <p:spPr>
            <a:xfrm>
              <a:off x="2636173" y="3306483"/>
              <a:ext cx="605681" cy="605681"/>
            </a:xfrm>
            <a:prstGeom prst="ellipse">
              <a:avLst/>
            </a:prstGeom>
            <a:solidFill>
              <a:srgbClr val="0720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lumMod val="65000"/>
                    <a:lumOff val="35000"/>
                  </a:schemeClr>
                </a:solidFill>
              </a:endParaRPr>
            </a:p>
          </p:txBody>
        </p:sp>
        <p:grpSp>
          <p:nvGrpSpPr>
            <p:cNvPr id="3081" name="Group 35"/>
            <p:cNvGrpSpPr>
              <a:grpSpLocks noChangeAspect="1"/>
            </p:cNvGrpSpPr>
            <p:nvPr/>
          </p:nvGrpSpPr>
          <p:grpSpPr bwMode="auto">
            <a:xfrm>
              <a:off x="2768702" y="3443936"/>
              <a:ext cx="340622" cy="330774"/>
              <a:chOff x="-82" y="533"/>
              <a:chExt cx="1349" cy="1310"/>
            </a:xfrm>
          </p:grpSpPr>
          <p:sp>
            <p:nvSpPr>
              <p:cNvPr id="3089" name="Freeform 36"/>
              <p:cNvSpPr>
                <a:spLocks noEditPoints="1"/>
              </p:cNvSpPr>
              <p:nvPr/>
            </p:nvSpPr>
            <p:spPr bwMode="auto">
              <a:xfrm>
                <a:off x="-82" y="849"/>
                <a:ext cx="1072" cy="994"/>
              </a:xfrm>
              <a:custGeom>
                <a:avLst/>
                <a:gdLst>
                  <a:gd name="T0" fmla="*/ 225 w 454"/>
                  <a:gd name="T1" fmla="*/ 0 h 421"/>
                  <a:gd name="T2" fmla="*/ 304 w 454"/>
                  <a:gd name="T3" fmla="*/ 16 h 421"/>
                  <a:gd name="T4" fmla="*/ 411 w 454"/>
                  <a:gd name="T5" fmla="*/ 280 h 421"/>
                  <a:gd name="T6" fmla="*/ 225 w 454"/>
                  <a:gd name="T7" fmla="*/ 403 h 421"/>
                  <a:gd name="T8" fmla="*/ 224 w 454"/>
                  <a:gd name="T9" fmla="*/ 403 h 421"/>
                  <a:gd name="T10" fmla="*/ 224 w 454"/>
                  <a:gd name="T11" fmla="*/ 403 h 421"/>
                  <a:gd name="T12" fmla="*/ 219 w 454"/>
                  <a:gd name="T13" fmla="*/ 405 h 421"/>
                  <a:gd name="T14" fmla="*/ 145 w 454"/>
                  <a:gd name="T15" fmla="*/ 421 h 421"/>
                  <a:gd name="T16" fmla="*/ 84 w 454"/>
                  <a:gd name="T17" fmla="*/ 412 h 421"/>
                  <a:gd name="T18" fmla="*/ 81 w 454"/>
                  <a:gd name="T19" fmla="*/ 409 h 421"/>
                  <a:gd name="T20" fmla="*/ 127 w 454"/>
                  <a:gd name="T21" fmla="*/ 382 h 421"/>
                  <a:gd name="T22" fmla="*/ 125 w 454"/>
                  <a:gd name="T23" fmla="*/ 376 h 421"/>
                  <a:gd name="T24" fmla="*/ 40 w 454"/>
                  <a:gd name="T25" fmla="*/ 123 h 421"/>
                  <a:gd name="T26" fmla="*/ 225 w 454"/>
                  <a:gd name="T27" fmla="*/ 0 h 421"/>
                  <a:gd name="T28" fmla="*/ 225 w 454"/>
                  <a:gd name="T29" fmla="*/ 21 h 421"/>
                  <a:gd name="T30" fmla="*/ 59 w 454"/>
                  <a:gd name="T31" fmla="*/ 132 h 421"/>
                  <a:gd name="T32" fmla="*/ 136 w 454"/>
                  <a:gd name="T33" fmla="*/ 358 h 421"/>
                  <a:gd name="T34" fmla="*/ 146 w 454"/>
                  <a:gd name="T35" fmla="*/ 391 h 421"/>
                  <a:gd name="T36" fmla="*/ 146 w 454"/>
                  <a:gd name="T37" fmla="*/ 391 h 421"/>
                  <a:gd name="T38" fmla="*/ 146 w 454"/>
                  <a:gd name="T39" fmla="*/ 392 h 421"/>
                  <a:gd name="T40" fmla="*/ 141 w 454"/>
                  <a:gd name="T41" fmla="*/ 399 h 421"/>
                  <a:gd name="T42" fmla="*/ 145 w 454"/>
                  <a:gd name="T43" fmla="*/ 399 h 421"/>
                  <a:gd name="T44" fmla="*/ 210 w 454"/>
                  <a:gd name="T45" fmla="*/ 385 h 421"/>
                  <a:gd name="T46" fmla="*/ 224 w 454"/>
                  <a:gd name="T47" fmla="*/ 382 h 421"/>
                  <a:gd name="T48" fmla="*/ 225 w 454"/>
                  <a:gd name="T49" fmla="*/ 382 h 421"/>
                  <a:gd name="T50" fmla="*/ 391 w 454"/>
                  <a:gd name="T51" fmla="*/ 272 h 421"/>
                  <a:gd name="T52" fmla="*/ 295 w 454"/>
                  <a:gd name="T53" fmla="*/ 36 h 421"/>
                  <a:gd name="T54" fmla="*/ 225 w 454"/>
                  <a:gd name="T55" fmla="*/ 21 h 421"/>
                  <a:gd name="T56" fmla="*/ 225 w 454"/>
                  <a:gd name="T57" fmla="*/ 21 h 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54" h="421">
                    <a:moveTo>
                      <a:pt x="225" y="0"/>
                    </a:moveTo>
                    <a:cubicBezTo>
                      <a:pt x="252" y="0"/>
                      <a:pt x="278" y="5"/>
                      <a:pt x="304" y="16"/>
                    </a:cubicBezTo>
                    <a:cubicBezTo>
                      <a:pt x="406" y="59"/>
                      <a:pt x="454" y="177"/>
                      <a:pt x="411" y="280"/>
                    </a:cubicBezTo>
                    <a:cubicBezTo>
                      <a:pt x="379" y="357"/>
                      <a:pt x="304" y="403"/>
                      <a:pt x="225" y="403"/>
                    </a:cubicBezTo>
                    <a:cubicBezTo>
                      <a:pt x="225" y="403"/>
                      <a:pt x="225" y="403"/>
                      <a:pt x="224" y="403"/>
                    </a:cubicBezTo>
                    <a:cubicBezTo>
                      <a:pt x="224" y="403"/>
                      <a:pt x="224" y="403"/>
                      <a:pt x="224" y="403"/>
                    </a:cubicBezTo>
                    <a:cubicBezTo>
                      <a:pt x="223" y="403"/>
                      <a:pt x="221" y="404"/>
                      <a:pt x="219" y="405"/>
                    </a:cubicBezTo>
                    <a:cubicBezTo>
                      <a:pt x="194" y="417"/>
                      <a:pt x="168" y="421"/>
                      <a:pt x="145" y="421"/>
                    </a:cubicBezTo>
                    <a:cubicBezTo>
                      <a:pt x="118" y="421"/>
                      <a:pt x="95" y="416"/>
                      <a:pt x="84" y="412"/>
                    </a:cubicBezTo>
                    <a:cubicBezTo>
                      <a:pt x="81" y="411"/>
                      <a:pt x="79" y="409"/>
                      <a:pt x="81" y="409"/>
                    </a:cubicBezTo>
                    <a:cubicBezTo>
                      <a:pt x="111" y="406"/>
                      <a:pt x="123" y="389"/>
                      <a:pt x="127" y="382"/>
                    </a:cubicBezTo>
                    <a:cubicBezTo>
                      <a:pt x="128" y="379"/>
                      <a:pt x="126" y="377"/>
                      <a:pt x="125" y="376"/>
                    </a:cubicBezTo>
                    <a:cubicBezTo>
                      <a:pt x="38" y="327"/>
                      <a:pt x="0" y="218"/>
                      <a:pt x="40" y="123"/>
                    </a:cubicBezTo>
                    <a:cubicBezTo>
                      <a:pt x="72" y="46"/>
                      <a:pt x="147" y="0"/>
                      <a:pt x="225" y="0"/>
                    </a:cubicBezTo>
                    <a:moveTo>
                      <a:pt x="225" y="21"/>
                    </a:moveTo>
                    <a:cubicBezTo>
                      <a:pt x="153" y="21"/>
                      <a:pt x="88" y="65"/>
                      <a:pt x="59" y="132"/>
                    </a:cubicBezTo>
                    <a:cubicBezTo>
                      <a:pt x="24" y="215"/>
                      <a:pt x="57" y="313"/>
                      <a:pt x="136" y="358"/>
                    </a:cubicBezTo>
                    <a:cubicBezTo>
                      <a:pt x="147" y="365"/>
                      <a:pt x="152" y="379"/>
                      <a:pt x="146" y="391"/>
                    </a:cubicBezTo>
                    <a:cubicBezTo>
                      <a:pt x="146" y="391"/>
                      <a:pt x="146" y="391"/>
                      <a:pt x="146" y="391"/>
                    </a:cubicBezTo>
                    <a:cubicBezTo>
                      <a:pt x="146" y="392"/>
                      <a:pt x="146" y="392"/>
                      <a:pt x="146" y="392"/>
                    </a:cubicBezTo>
                    <a:cubicBezTo>
                      <a:pt x="144" y="394"/>
                      <a:pt x="143" y="396"/>
                      <a:pt x="141" y="399"/>
                    </a:cubicBezTo>
                    <a:cubicBezTo>
                      <a:pt x="142" y="399"/>
                      <a:pt x="143" y="399"/>
                      <a:pt x="145" y="399"/>
                    </a:cubicBezTo>
                    <a:cubicBezTo>
                      <a:pt x="169" y="399"/>
                      <a:pt x="191" y="394"/>
                      <a:pt x="210" y="385"/>
                    </a:cubicBezTo>
                    <a:cubicBezTo>
                      <a:pt x="214" y="383"/>
                      <a:pt x="219" y="382"/>
                      <a:pt x="224" y="382"/>
                    </a:cubicBezTo>
                    <a:cubicBezTo>
                      <a:pt x="225" y="382"/>
                      <a:pt x="225" y="382"/>
                      <a:pt x="225" y="382"/>
                    </a:cubicBezTo>
                    <a:cubicBezTo>
                      <a:pt x="298" y="382"/>
                      <a:pt x="363" y="339"/>
                      <a:pt x="391" y="272"/>
                    </a:cubicBezTo>
                    <a:cubicBezTo>
                      <a:pt x="430" y="180"/>
                      <a:pt x="387" y="74"/>
                      <a:pt x="295" y="36"/>
                    </a:cubicBezTo>
                    <a:cubicBezTo>
                      <a:pt x="273" y="26"/>
                      <a:pt x="249" y="21"/>
                      <a:pt x="225" y="21"/>
                    </a:cubicBezTo>
                    <a:cubicBezTo>
                      <a:pt x="225" y="21"/>
                      <a:pt x="225" y="21"/>
                      <a:pt x="225" y="2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90" name="Oval 37"/>
              <p:cNvSpPr>
                <a:spLocks noChangeArrowheads="1"/>
              </p:cNvSpPr>
              <p:nvPr/>
            </p:nvSpPr>
            <p:spPr bwMode="auto">
              <a:xfrm>
                <a:off x="201" y="1291"/>
                <a:ext cx="121" cy="12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91" name="Oval 38"/>
              <p:cNvSpPr>
                <a:spLocks noChangeArrowheads="1"/>
              </p:cNvSpPr>
              <p:nvPr/>
            </p:nvSpPr>
            <p:spPr bwMode="auto">
              <a:xfrm>
                <a:off x="400" y="1291"/>
                <a:ext cx="118" cy="12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97" name="Oval 39"/>
              <p:cNvSpPr>
                <a:spLocks noChangeArrowheads="1"/>
              </p:cNvSpPr>
              <p:nvPr/>
            </p:nvSpPr>
            <p:spPr bwMode="auto">
              <a:xfrm>
                <a:off x="596" y="1291"/>
                <a:ext cx="118" cy="12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98" name="Freeform 40"/>
              <p:cNvSpPr>
                <a:spLocks noEditPoints="1"/>
              </p:cNvSpPr>
              <p:nvPr/>
            </p:nvSpPr>
            <p:spPr bwMode="auto">
              <a:xfrm>
                <a:off x="440" y="533"/>
                <a:ext cx="827" cy="909"/>
              </a:xfrm>
              <a:custGeom>
                <a:avLst/>
                <a:gdLst>
                  <a:gd name="T0" fmla="*/ 242 w 350"/>
                  <a:gd name="T1" fmla="*/ 350 h 385"/>
                  <a:gd name="T2" fmla="*/ 243 w 350"/>
                  <a:gd name="T3" fmla="*/ 346 h 385"/>
                  <a:gd name="T4" fmla="*/ 316 w 350"/>
                  <a:gd name="T5" fmla="*/ 129 h 385"/>
                  <a:gd name="T6" fmla="*/ 90 w 350"/>
                  <a:gd name="T7" fmla="*/ 37 h 385"/>
                  <a:gd name="T8" fmla="*/ 0 w 350"/>
                  <a:gd name="T9" fmla="*/ 125 h 385"/>
                  <a:gd name="T10" fmla="*/ 4 w 350"/>
                  <a:gd name="T11" fmla="*/ 124 h 385"/>
                  <a:gd name="T12" fmla="*/ 86 w 350"/>
                  <a:gd name="T13" fmla="*/ 141 h 385"/>
                  <a:gd name="T14" fmla="*/ 151 w 350"/>
                  <a:gd name="T15" fmla="*/ 184 h 385"/>
                  <a:gd name="T16" fmla="*/ 164 w 350"/>
                  <a:gd name="T17" fmla="*/ 180 h 385"/>
                  <a:gd name="T18" fmla="*/ 186 w 350"/>
                  <a:gd name="T19" fmla="*/ 202 h 385"/>
                  <a:gd name="T20" fmla="*/ 180 w 350"/>
                  <a:gd name="T21" fmla="*/ 218 h 385"/>
                  <a:gd name="T22" fmla="*/ 210 w 350"/>
                  <a:gd name="T23" fmla="*/ 383 h 385"/>
                  <a:gd name="T24" fmla="*/ 278 w 350"/>
                  <a:gd name="T25" fmla="*/ 376 h 385"/>
                  <a:gd name="T26" fmla="*/ 281 w 350"/>
                  <a:gd name="T27" fmla="*/ 374 h 385"/>
                  <a:gd name="T28" fmla="*/ 242 w 350"/>
                  <a:gd name="T29" fmla="*/ 350 h 385"/>
                  <a:gd name="T30" fmla="*/ 216 w 350"/>
                  <a:gd name="T31" fmla="*/ 202 h 385"/>
                  <a:gd name="T32" fmla="*/ 239 w 350"/>
                  <a:gd name="T33" fmla="*/ 180 h 385"/>
                  <a:gd name="T34" fmla="*/ 261 w 350"/>
                  <a:gd name="T35" fmla="*/ 202 h 385"/>
                  <a:gd name="T36" fmla="*/ 239 w 350"/>
                  <a:gd name="T37" fmla="*/ 225 h 385"/>
                  <a:gd name="T38" fmla="*/ 216 w 350"/>
                  <a:gd name="T39" fmla="*/ 20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0" h="385">
                    <a:moveTo>
                      <a:pt x="242" y="350"/>
                    </a:moveTo>
                    <a:cubicBezTo>
                      <a:pt x="241" y="348"/>
                      <a:pt x="242" y="346"/>
                      <a:pt x="243" y="346"/>
                    </a:cubicBezTo>
                    <a:cubicBezTo>
                      <a:pt x="318" y="303"/>
                      <a:pt x="350" y="210"/>
                      <a:pt x="316" y="129"/>
                    </a:cubicBezTo>
                    <a:cubicBezTo>
                      <a:pt x="279" y="41"/>
                      <a:pt x="178" y="0"/>
                      <a:pt x="90" y="37"/>
                    </a:cubicBezTo>
                    <a:cubicBezTo>
                      <a:pt x="49" y="55"/>
                      <a:pt x="18" y="86"/>
                      <a:pt x="0" y="125"/>
                    </a:cubicBezTo>
                    <a:cubicBezTo>
                      <a:pt x="2" y="124"/>
                      <a:pt x="3" y="124"/>
                      <a:pt x="4" y="124"/>
                    </a:cubicBezTo>
                    <a:cubicBezTo>
                      <a:pt x="32" y="124"/>
                      <a:pt x="59" y="130"/>
                      <a:pt x="86" y="141"/>
                    </a:cubicBezTo>
                    <a:cubicBezTo>
                      <a:pt x="111" y="151"/>
                      <a:pt x="133" y="166"/>
                      <a:pt x="151" y="184"/>
                    </a:cubicBezTo>
                    <a:cubicBezTo>
                      <a:pt x="154" y="181"/>
                      <a:pt x="159" y="180"/>
                      <a:pt x="164" y="180"/>
                    </a:cubicBezTo>
                    <a:cubicBezTo>
                      <a:pt x="176" y="180"/>
                      <a:pt x="186" y="190"/>
                      <a:pt x="186" y="202"/>
                    </a:cubicBezTo>
                    <a:cubicBezTo>
                      <a:pt x="186" y="208"/>
                      <a:pt x="184" y="214"/>
                      <a:pt x="180" y="218"/>
                    </a:cubicBezTo>
                    <a:cubicBezTo>
                      <a:pt x="211" y="265"/>
                      <a:pt x="223" y="325"/>
                      <a:pt x="210" y="383"/>
                    </a:cubicBezTo>
                    <a:cubicBezTo>
                      <a:pt x="240" y="385"/>
                      <a:pt x="266" y="380"/>
                      <a:pt x="278" y="376"/>
                    </a:cubicBezTo>
                    <a:cubicBezTo>
                      <a:pt x="281" y="375"/>
                      <a:pt x="282" y="374"/>
                      <a:pt x="281" y="374"/>
                    </a:cubicBezTo>
                    <a:cubicBezTo>
                      <a:pt x="255" y="371"/>
                      <a:pt x="245" y="356"/>
                      <a:pt x="242" y="350"/>
                    </a:cubicBezTo>
                    <a:close/>
                    <a:moveTo>
                      <a:pt x="216" y="202"/>
                    </a:moveTo>
                    <a:cubicBezTo>
                      <a:pt x="216" y="190"/>
                      <a:pt x="226" y="180"/>
                      <a:pt x="239" y="180"/>
                    </a:cubicBezTo>
                    <a:cubicBezTo>
                      <a:pt x="251" y="180"/>
                      <a:pt x="261" y="190"/>
                      <a:pt x="261" y="202"/>
                    </a:cubicBezTo>
                    <a:cubicBezTo>
                      <a:pt x="261" y="215"/>
                      <a:pt x="251" y="225"/>
                      <a:pt x="239" y="225"/>
                    </a:cubicBezTo>
                    <a:cubicBezTo>
                      <a:pt x="226" y="225"/>
                      <a:pt x="216" y="215"/>
                      <a:pt x="216" y="20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3126" name="组合 3125"/>
          <p:cNvGrpSpPr/>
          <p:nvPr/>
        </p:nvGrpSpPr>
        <p:grpSpPr>
          <a:xfrm>
            <a:off x="2383938" y="3748977"/>
            <a:ext cx="605681" cy="605681"/>
            <a:chOff x="2627784" y="4109017"/>
            <a:chExt cx="605681" cy="605681"/>
          </a:xfrm>
        </p:grpSpPr>
        <p:sp>
          <p:nvSpPr>
            <p:cNvPr id="55" name="椭圆 54"/>
            <p:cNvSpPr/>
            <p:nvPr/>
          </p:nvSpPr>
          <p:spPr>
            <a:xfrm>
              <a:off x="2627784" y="4109017"/>
              <a:ext cx="605681" cy="605681"/>
            </a:xfrm>
            <a:prstGeom prst="ellipse">
              <a:avLst/>
            </a:prstGeom>
            <a:solidFill>
              <a:srgbClr val="0720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lumMod val="65000"/>
                    <a:lumOff val="35000"/>
                  </a:schemeClr>
                </a:solidFill>
              </a:endParaRPr>
            </a:p>
          </p:txBody>
        </p:sp>
        <p:grpSp>
          <p:nvGrpSpPr>
            <p:cNvPr id="3099" name="Group 44"/>
            <p:cNvGrpSpPr>
              <a:grpSpLocks noChangeAspect="1"/>
            </p:cNvGrpSpPr>
            <p:nvPr/>
          </p:nvGrpSpPr>
          <p:grpSpPr bwMode="auto">
            <a:xfrm>
              <a:off x="2778843" y="4259646"/>
              <a:ext cx="303562" cy="304422"/>
              <a:chOff x="199" y="871"/>
              <a:chExt cx="707" cy="709"/>
            </a:xfrm>
          </p:grpSpPr>
          <p:sp>
            <p:nvSpPr>
              <p:cNvPr id="3101" name="Freeform 45"/>
              <p:cNvSpPr>
                <a:spLocks noEditPoints="1"/>
              </p:cNvSpPr>
              <p:nvPr/>
            </p:nvSpPr>
            <p:spPr bwMode="auto">
              <a:xfrm>
                <a:off x="240" y="1247"/>
                <a:ext cx="635" cy="333"/>
              </a:xfrm>
              <a:custGeom>
                <a:avLst/>
                <a:gdLst>
                  <a:gd name="T0" fmla="*/ 269 w 269"/>
                  <a:gd name="T1" fmla="*/ 0 h 141"/>
                  <a:gd name="T2" fmla="*/ 269 w 269"/>
                  <a:gd name="T3" fmla="*/ 109 h 141"/>
                  <a:gd name="T4" fmla="*/ 237 w 269"/>
                  <a:gd name="T5" fmla="*/ 141 h 141"/>
                  <a:gd name="T6" fmla="*/ 32 w 269"/>
                  <a:gd name="T7" fmla="*/ 141 h 141"/>
                  <a:gd name="T8" fmla="*/ 0 w 269"/>
                  <a:gd name="T9" fmla="*/ 109 h 141"/>
                  <a:gd name="T10" fmla="*/ 0 w 269"/>
                  <a:gd name="T11" fmla="*/ 0 h 141"/>
                  <a:gd name="T12" fmla="*/ 269 w 269"/>
                  <a:gd name="T13" fmla="*/ 0 h 141"/>
                  <a:gd name="T14" fmla="*/ 255 w 269"/>
                  <a:gd name="T15" fmla="*/ 13 h 141"/>
                  <a:gd name="T16" fmla="*/ 14 w 269"/>
                  <a:gd name="T17" fmla="*/ 13 h 141"/>
                  <a:gd name="T18" fmla="*/ 14 w 269"/>
                  <a:gd name="T19" fmla="*/ 108 h 141"/>
                  <a:gd name="T20" fmla="*/ 34 w 269"/>
                  <a:gd name="T21" fmla="*/ 128 h 141"/>
                  <a:gd name="T22" fmla="*/ 235 w 269"/>
                  <a:gd name="T23" fmla="*/ 128 h 141"/>
                  <a:gd name="T24" fmla="*/ 255 w 269"/>
                  <a:gd name="T25" fmla="*/ 108 h 141"/>
                  <a:gd name="T26" fmla="*/ 255 w 269"/>
                  <a:gd name="T27" fmla="*/ 13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9" h="141">
                    <a:moveTo>
                      <a:pt x="269" y="0"/>
                    </a:moveTo>
                    <a:cubicBezTo>
                      <a:pt x="269" y="109"/>
                      <a:pt x="269" y="109"/>
                      <a:pt x="269" y="109"/>
                    </a:cubicBezTo>
                    <a:cubicBezTo>
                      <a:pt x="269" y="127"/>
                      <a:pt x="254" y="141"/>
                      <a:pt x="237" y="141"/>
                    </a:cubicBezTo>
                    <a:cubicBezTo>
                      <a:pt x="32" y="141"/>
                      <a:pt x="32" y="141"/>
                      <a:pt x="32" y="141"/>
                    </a:cubicBezTo>
                    <a:cubicBezTo>
                      <a:pt x="15" y="141"/>
                      <a:pt x="0" y="127"/>
                      <a:pt x="0" y="109"/>
                    </a:cubicBezTo>
                    <a:cubicBezTo>
                      <a:pt x="0" y="0"/>
                      <a:pt x="0" y="0"/>
                      <a:pt x="0" y="0"/>
                    </a:cubicBezTo>
                    <a:cubicBezTo>
                      <a:pt x="269" y="0"/>
                      <a:pt x="269" y="0"/>
                      <a:pt x="269" y="0"/>
                    </a:cubicBezTo>
                    <a:moveTo>
                      <a:pt x="255" y="13"/>
                    </a:moveTo>
                    <a:cubicBezTo>
                      <a:pt x="14" y="13"/>
                      <a:pt x="14" y="13"/>
                      <a:pt x="14" y="13"/>
                    </a:cubicBezTo>
                    <a:cubicBezTo>
                      <a:pt x="14" y="108"/>
                      <a:pt x="14" y="108"/>
                      <a:pt x="14" y="108"/>
                    </a:cubicBezTo>
                    <a:cubicBezTo>
                      <a:pt x="14" y="119"/>
                      <a:pt x="23" y="128"/>
                      <a:pt x="34" y="128"/>
                    </a:cubicBezTo>
                    <a:cubicBezTo>
                      <a:pt x="235" y="128"/>
                      <a:pt x="235" y="128"/>
                      <a:pt x="235" y="128"/>
                    </a:cubicBezTo>
                    <a:cubicBezTo>
                      <a:pt x="246" y="128"/>
                      <a:pt x="255" y="119"/>
                      <a:pt x="255" y="108"/>
                    </a:cubicBezTo>
                    <a:cubicBezTo>
                      <a:pt x="255" y="13"/>
                      <a:pt x="255" y="13"/>
                      <a:pt x="255" y="1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02" name="Freeform 46"/>
              <p:cNvSpPr/>
              <p:nvPr/>
            </p:nvSpPr>
            <p:spPr bwMode="auto">
              <a:xfrm>
                <a:off x="240" y="1136"/>
                <a:ext cx="635" cy="97"/>
              </a:xfrm>
              <a:custGeom>
                <a:avLst/>
                <a:gdLst>
                  <a:gd name="T0" fmla="*/ 269 w 269"/>
                  <a:gd name="T1" fmla="*/ 41 h 41"/>
                  <a:gd name="T2" fmla="*/ 269 w 269"/>
                  <a:gd name="T3" fmla="*/ 32 h 41"/>
                  <a:gd name="T4" fmla="*/ 237 w 269"/>
                  <a:gd name="T5" fmla="*/ 0 h 41"/>
                  <a:gd name="T6" fmla="*/ 32 w 269"/>
                  <a:gd name="T7" fmla="*/ 0 h 41"/>
                  <a:gd name="T8" fmla="*/ 0 w 269"/>
                  <a:gd name="T9" fmla="*/ 32 h 41"/>
                  <a:gd name="T10" fmla="*/ 0 w 269"/>
                  <a:gd name="T11" fmla="*/ 41 h 41"/>
                  <a:gd name="T12" fmla="*/ 269 w 269"/>
                  <a:gd name="T13" fmla="*/ 41 h 41"/>
                </a:gdLst>
                <a:ahLst/>
                <a:cxnLst>
                  <a:cxn ang="0">
                    <a:pos x="T0" y="T1"/>
                  </a:cxn>
                  <a:cxn ang="0">
                    <a:pos x="T2" y="T3"/>
                  </a:cxn>
                  <a:cxn ang="0">
                    <a:pos x="T4" y="T5"/>
                  </a:cxn>
                  <a:cxn ang="0">
                    <a:pos x="T6" y="T7"/>
                  </a:cxn>
                  <a:cxn ang="0">
                    <a:pos x="T8" y="T9"/>
                  </a:cxn>
                  <a:cxn ang="0">
                    <a:pos x="T10" y="T11"/>
                  </a:cxn>
                  <a:cxn ang="0">
                    <a:pos x="T12" y="T13"/>
                  </a:cxn>
                </a:cxnLst>
                <a:rect l="0" t="0" r="r" b="b"/>
                <a:pathLst>
                  <a:path w="269" h="41">
                    <a:moveTo>
                      <a:pt x="269" y="41"/>
                    </a:moveTo>
                    <a:cubicBezTo>
                      <a:pt x="269" y="32"/>
                      <a:pt x="269" y="32"/>
                      <a:pt x="269" y="32"/>
                    </a:cubicBezTo>
                    <a:cubicBezTo>
                      <a:pt x="269" y="14"/>
                      <a:pt x="254" y="0"/>
                      <a:pt x="237" y="0"/>
                    </a:cubicBezTo>
                    <a:cubicBezTo>
                      <a:pt x="32" y="0"/>
                      <a:pt x="32" y="0"/>
                      <a:pt x="32" y="0"/>
                    </a:cubicBezTo>
                    <a:cubicBezTo>
                      <a:pt x="15" y="0"/>
                      <a:pt x="0" y="14"/>
                      <a:pt x="0" y="32"/>
                    </a:cubicBezTo>
                    <a:cubicBezTo>
                      <a:pt x="0" y="41"/>
                      <a:pt x="0" y="41"/>
                      <a:pt x="0" y="41"/>
                    </a:cubicBezTo>
                    <a:lnTo>
                      <a:pt x="269" y="4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05" name="Freeform 47"/>
              <p:cNvSpPr/>
              <p:nvPr/>
            </p:nvSpPr>
            <p:spPr bwMode="auto">
              <a:xfrm>
                <a:off x="199" y="871"/>
                <a:ext cx="213" cy="210"/>
              </a:xfrm>
              <a:custGeom>
                <a:avLst/>
                <a:gdLst>
                  <a:gd name="T0" fmla="*/ 39 w 90"/>
                  <a:gd name="T1" fmla="*/ 2 h 89"/>
                  <a:gd name="T2" fmla="*/ 56 w 90"/>
                  <a:gd name="T3" fmla="*/ 35 h 89"/>
                  <a:gd name="T4" fmla="*/ 47 w 90"/>
                  <a:gd name="T5" fmla="*/ 50 h 89"/>
                  <a:gd name="T6" fmla="*/ 30 w 90"/>
                  <a:gd name="T7" fmla="*/ 49 h 89"/>
                  <a:gd name="T8" fmla="*/ 13 w 90"/>
                  <a:gd name="T9" fmla="*/ 16 h 89"/>
                  <a:gd name="T10" fmla="*/ 8 w 90"/>
                  <a:gd name="T11" fmla="*/ 62 h 89"/>
                  <a:gd name="T12" fmla="*/ 62 w 90"/>
                  <a:gd name="T13" fmla="*/ 78 h 89"/>
                  <a:gd name="T14" fmla="*/ 79 w 90"/>
                  <a:gd name="T15" fmla="*/ 23 h 89"/>
                  <a:gd name="T16" fmla="*/ 39 w 90"/>
                  <a:gd name="T17" fmla="*/ 2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89">
                    <a:moveTo>
                      <a:pt x="39" y="2"/>
                    </a:moveTo>
                    <a:cubicBezTo>
                      <a:pt x="56" y="35"/>
                      <a:pt x="56" y="35"/>
                      <a:pt x="56" y="35"/>
                    </a:cubicBezTo>
                    <a:cubicBezTo>
                      <a:pt x="47" y="50"/>
                      <a:pt x="47" y="50"/>
                      <a:pt x="47" y="50"/>
                    </a:cubicBezTo>
                    <a:cubicBezTo>
                      <a:pt x="30" y="49"/>
                      <a:pt x="30" y="49"/>
                      <a:pt x="30" y="49"/>
                    </a:cubicBezTo>
                    <a:cubicBezTo>
                      <a:pt x="13" y="16"/>
                      <a:pt x="13" y="16"/>
                      <a:pt x="13" y="16"/>
                    </a:cubicBezTo>
                    <a:cubicBezTo>
                      <a:pt x="2" y="28"/>
                      <a:pt x="0" y="46"/>
                      <a:pt x="8" y="62"/>
                    </a:cubicBezTo>
                    <a:cubicBezTo>
                      <a:pt x="18" y="81"/>
                      <a:pt x="43" y="89"/>
                      <a:pt x="62" y="78"/>
                    </a:cubicBezTo>
                    <a:cubicBezTo>
                      <a:pt x="82" y="68"/>
                      <a:pt x="90" y="43"/>
                      <a:pt x="79" y="23"/>
                    </a:cubicBezTo>
                    <a:cubicBezTo>
                      <a:pt x="71" y="8"/>
                      <a:pt x="55" y="0"/>
                      <a:pt x="39" y="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06" name="Freeform 48"/>
              <p:cNvSpPr/>
              <p:nvPr/>
            </p:nvSpPr>
            <p:spPr bwMode="auto">
              <a:xfrm>
                <a:off x="303" y="1018"/>
                <a:ext cx="123" cy="108"/>
              </a:xfrm>
              <a:custGeom>
                <a:avLst/>
                <a:gdLst>
                  <a:gd name="T0" fmla="*/ 123 w 123"/>
                  <a:gd name="T1" fmla="*/ 108 h 108"/>
                  <a:gd name="T2" fmla="*/ 64 w 123"/>
                  <a:gd name="T3" fmla="*/ 0 h 108"/>
                  <a:gd name="T4" fmla="*/ 0 w 123"/>
                  <a:gd name="T5" fmla="*/ 33 h 108"/>
                  <a:gd name="T6" fmla="*/ 41 w 123"/>
                  <a:gd name="T7" fmla="*/ 108 h 108"/>
                  <a:gd name="T8" fmla="*/ 123 w 123"/>
                  <a:gd name="T9" fmla="*/ 108 h 108"/>
                </a:gdLst>
                <a:ahLst/>
                <a:cxnLst>
                  <a:cxn ang="0">
                    <a:pos x="T0" y="T1"/>
                  </a:cxn>
                  <a:cxn ang="0">
                    <a:pos x="T2" y="T3"/>
                  </a:cxn>
                  <a:cxn ang="0">
                    <a:pos x="T4" y="T5"/>
                  </a:cxn>
                  <a:cxn ang="0">
                    <a:pos x="T6" y="T7"/>
                  </a:cxn>
                  <a:cxn ang="0">
                    <a:pos x="T8" y="T9"/>
                  </a:cxn>
                </a:cxnLst>
                <a:rect l="0" t="0" r="r" b="b"/>
                <a:pathLst>
                  <a:path w="123" h="108">
                    <a:moveTo>
                      <a:pt x="123" y="108"/>
                    </a:moveTo>
                    <a:lnTo>
                      <a:pt x="64" y="0"/>
                    </a:lnTo>
                    <a:lnTo>
                      <a:pt x="0" y="33"/>
                    </a:lnTo>
                    <a:lnTo>
                      <a:pt x="41" y="108"/>
                    </a:lnTo>
                    <a:lnTo>
                      <a:pt x="123" y="10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07" name="Freeform 49"/>
              <p:cNvSpPr/>
              <p:nvPr/>
            </p:nvSpPr>
            <p:spPr bwMode="auto">
              <a:xfrm>
                <a:off x="476" y="975"/>
                <a:ext cx="184" cy="151"/>
              </a:xfrm>
              <a:custGeom>
                <a:avLst/>
                <a:gdLst>
                  <a:gd name="T0" fmla="*/ 71 w 78"/>
                  <a:gd name="T1" fmla="*/ 25 h 64"/>
                  <a:gd name="T2" fmla="*/ 24 w 78"/>
                  <a:gd name="T3" fmla="*/ 8 h 64"/>
                  <a:gd name="T4" fmla="*/ 8 w 78"/>
                  <a:gd name="T5" fmla="*/ 55 h 64"/>
                  <a:gd name="T6" fmla="*/ 14 w 78"/>
                  <a:gd name="T7" fmla="*/ 64 h 64"/>
                  <a:gd name="T8" fmla="*/ 31 w 78"/>
                  <a:gd name="T9" fmla="*/ 64 h 64"/>
                  <a:gd name="T10" fmla="*/ 16 w 78"/>
                  <a:gd name="T11" fmla="*/ 51 h 64"/>
                  <a:gd name="T12" fmla="*/ 28 w 78"/>
                  <a:gd name="T13" fmla="*/ 17 h 64"/>
                  <a:gd name="T14" fmla="*/ 63 w 78"/>
                  <a:gd name="T15" fmla="*/ 29 h 64"/>
                  <a:gd name="T16" fmla="*/ 51 w 78"/>
                  <a:gd name="T17" fmla="*/ 63 h 64"/>
                  <a:gd name="T18" fmla="*/ 48 w 78"/>
                  <a:gd name="T19" fmla="*/ 64 h 64"/>
                  <a:gd name="T20" fmla="*/ 65 w 78"/>
                  <a:gd name="T21" fmla="*/ 64 h 64"/>
                  <a:gd name="T22" fmla="*/ 71 w 78"/>
                  <a:gd name="T23" fmla="*/ 25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8" h="64">
                    <a:moveTo>
                      <a:pt x="71" y="25"/>
                    </a:moveTo>
                    <a:cubicBezTo>
                      <a:pt x="63" y="7"/>
                      <a:pt x="42" y="0"/>
                      <a:pt x="24" y="8"/>
                    </a:cubicBezTo>
                    <a:cubicBezTo>
                      <a:pt x="7" y="17"/>
                      <a:pt x="0" y="38"/>
                      <a:pt x="8" y="55"/>
                    </a:cubicBezTo>
                    <a:cubicBezTo>
                      <a:pt x="10" y="58"/>
                      <a:pt x="12" y="61"/>
                      <a:pt x="14" y="64"/>
                    </a:cubicBezTo>
                    <a:cubicBezTo>
                      <a:pt x="31" y="64"/>
                      <a:pt x="31" y="64"/>
                      <a:pt x="31" y="64"/>
                    </a:cubicBezTo>
                    <a:cubicBezTo>
                      <a:pt x="25" y="62"/>
                      <a:pt x="19" y="57"/>
                      <a:pt x="16" y="51"/>
                    </a:cubicBezTo>
                    <a:cubicBezTo>
                      <a:pt x="10" y="38"/>
                      <a:pt x="16" y="23"/>
                      <a:pt x="28" y="17"/>
                    </a:cubicBezTo>
                    <a:cubicBezTo>
                      <a:pt x="41" y="10"/>
                      <a:pt x="56" y="16"/>
                      <a:pt x="63" y="29"/>
                    </a:cubicBezTo>
                    <a:cubicBezTo>
                      <a:pt x="69" y="41"/>
                      <a:pt x="63" y="57"/>
                      <a:pt x="51" y="63"/>
                    </a:cubicBezTo>
                    <a:cubicBezTo>
                      <a:pt x="50" y="63"/>
                      <a:pt x="49" y="64"/>
                      <a:pt x="48" y="64"/>
                    </a:cubicBezTo>
                    <a:cubicBezTo>
                      <a:pt x="65" y="64"/>
                      <a:pt x="65" y="64"/>
                      <a:pt x="65" y="64"/>
                    </a:cubicBezTo>
                    <a:cubicBezTo>
                      <a:pt x="75" y="54"/>
                      <a:pt x="78" y="38"/>
                      <a:pt x="71" y="2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08" name="Freeform 50"/>
              <p:cNvSpPr/>
              <p:nvPr/>
            </p:nvSpPr>
            <p:spPr bwMode="auto">
              <a:xfrm>
                <a:off x="388" y="881"/>
                <a:ext cx="369" cy="245"/>
              </a:xfrm>
              <a:custGeom>
                <a:avLst/>
                <a:gdLst>
                  <a:gd name="T0" fmla="*/ 153 w 156"/>
                  <a:gd name="T1" fmla="*/ 92 h 104"/>
                  <a:gd name="T2" fmla="*/ 134 w 156"/>
                  <a:gd name="T3" fmla="*/ 82 h 104"/>
                  <a:gd name="T4" fmla="*/ 133 w 156"/>
                  <a:gd name="T5" fmla="*/ 71 h 104"/>
                  <a:gd name="T6" fmla="*/ 151 w 156"/>
                  <a:gd name="T7" fmla="*/ 59 h 104"/>
                  <a:gd name="T8" fmla="*/ 153 w 156"/>
                  <a:gd name="T9" fmla="*/ 54 h 104"/>
                  <a:gd name="T10" fmla="*/ 145 w 156"/>
                  <a:gd name="T11" fmla="*/ 36 h 104"/>
                  <a:gd name="T12" fmla="*/ 139 w 156"/>
                  <a:gd name="T13" fmla="*/ 34 h 104"/>
                  <a:gd name="T14" fmla="*/ 119 w 156"/>
                  <a:gd name="T15" fmla="*/ 41 h 104"/>
                  <a:gd name="T16" fmla="*/ 110 w 156"/>
                  <a:gd name="T17" fmla="*/ 33 h 104"/>
                  <a:gd name="T18" fmla="*/ 115 w 156"/>
                  <a:gd name="T19" fmla="*/ 12 h 104"/>
                  <a:gd name="T20" fmla="*/ 112 w 156"/>
                  <a:gd name="T21" fmla="*/ 7 h 104"/>
                  <a:gd name="T22" fmla="*/ 94 w 156"/>
                  <a:gd name="T23" fmla="*/ 1 h 104"/>
                  <a:gd name="T24" fmla="*/ 89 w 156"/>
                  <a:gd name="T25" fmla="*/ 3 h 104"/>
                  <a:gd name="T26" fmla="*/ 79 w 156"/>
                  <a:gd name="T27" fmla="*/ 22 h 104"/>
                  <a:gd name="T28" fmla="*/ 68 w 156"/>
                  <a:gd name="T29" fmla="*/ 23 h 104"/>
                  <a:gd name="T30" fmla="*/ 56 w 156"/>
                  <a:gd name="T31" fmla="*/ 5 h 104"/>
                  <a:gd name="T32" fmla="*/ 50 w 156"/>
                  <a:gd name="T33" fmla="*/ 3 h 104"/>
                  <a:gd name="T34" fmla="*/ 33 w 156"/>
                  <a:gd name="T35" fmla="*/ 12 h 104"/>
                  <a:gd name="T36" fmla="*/ 31 w 156"/>
                  <a:gd name="T37" fmla="*/ 17 h 104"/>
                  <a:gd name="T38" fmla="*/ 38 w 156"/>
                  <a:gd name="T39" fmla="*/ 37 h 104"/>
                  <a:gd name="T40" fmla="*/ 30 w 156"/>
                  <a:gd name="T41" fmla="*/ 46 h 104"/>
                  <a:gd name="T42" fmla="*/ 10 w 156"/>
                  <a:gd name="T43" fmla="*/ 42 h 104"/>
                  <a:gd name="T44" fmla="*/ 0 w 156"/>
                  <a:gd name="T45" fmla="*/ 67 h 104"/>
                  <a:gd name="T46" fmla="*/ 1 w 156"/>
                  <a:gd name="T47" fmla="*/ 68 h 104"/>
                  <a:gd name="T48" fmla="*/ 19 w 156"/>
                  <a:gd name="T49" fmla="*/ 77 h 104"/>
                  <a:gd name="T50" fmla="*/ 20 w 156"/>
                  <a:gd name="T51" fmla="*/ 89 h 104"/>
                  <a:gd name="T52" fmla="*/ 14 w 156"/>
                  <a:gd name="T53" fmla="*/ 93 h 104"/>
                  <a:gd name="T54" fmla="*/ 20 w 156"/>
                  <a:gd name="T55" fmla="*/ 104 h 104"/>
                  <a:gd name="T56" fmla="*/ 47 w 156"/>
                  <a:gd name="T57" fmla="*/ 104 h 104"/>
                  <a:gd name="T58" fmla="*/ 42 w 156"/>
                  <a:gd name="T59" fmla="*/ 96 h 104"/>
                  <a:gd name="T60" fmla="*/ 60 w 156"/>
                  <a:gd name="T61" fmla="*/ 45 h 104"/>
                  <a:gd name="T62" fmla="*/ 111 w 156"/>
                  <a:gd name="T63" fmla="*/ 63 h 104"/>
                  <a:gd name="T64" fmla="*/ 106 w 156"/>
                  <a:gd name="T65" fmla="*/ 104 h 104"/>
                  <a:gd name="T66" fmla="*/ 153 w 156"/>
                  <a:gd name="T67" fmla="*/ 104 h 104"/>
                  <a:gd name="T68" fmla="*/ 155 w 156"/>
                  <a:gd name="T69" fmla="*/ 97 h 104"/>
                  <a:gd name="T70" fmla="*/ 153 w 156"/>
                  <a:gd name="T71" fmla="*/ 9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6" h="104">
                    <a:moveTo>
                      <a:pt x="153" y="92"/>
                    </a:moveTo>
                    <a:cubicBezTo>
                      <a:pt x="134" y="82"/>
                      <a:pt x="134" y="82"/>
                      <a:pt x="134" y="82"/>
                    </a:cubicBezTo>
                    <a:cubicBezTo>
                      <a:pt x="134" y="78"/>
                      <a:pt x="134" y="75"/>
                      <a:pt x="133" y="71"/>
                    </a:cubicBezTo>
                    <a:cubicBezTo>
                      <a:pt x="151" y="59"/>
                      <a:pt x="151" y="59"/>
                      <a:pt x="151" y="59"/>
                    </a:cubicBezTo>
                    <a:cubicBezTo>
                      <a:pt x="153" y="58"/>
                      <a:pt x="154" y="56"/>
                      <a:pt x="153" y="54"/>
                    </a:cubicBezTo>
                    <a:cubicBezTo>
                      <a:pt x="145" y="36"/>
                      <a:pt x="145" y="36"/>
                      <a:pt x="145" y="36"/>
                    </a:cubicBezTo>
                    <a:cubicBezTo>
                      <a:pt x="144" y="35"/>
                      <a:pt x="141" y="33"/>
                      <a:pt x="139" y="34"/>
                    </a:cubicBezTo>
                    <a:cubicBezTo>
                      <a:pt x="119" y="41"/>
                      <a:pt x="119" y="41"/>
                      <a:pt x="119" y="41"/>
                    </a:cubicBezTo>
                    <a:cubicBezTo>
                      <a:pt x="116" y="38"/>
                      <a:pt x="113" y="36"/>
                      <a:pt x="110" y="33"/>
                    </a:cubicBezTo>
                    <a:cubicBezTo>
                      <a:pt x="115" y="12"/>
                      <a:pt x="115" y="12"/>
                      <a:pt x="115" y="12"/>
                    </a:cubicBezTo>
                    <a:cubicBezTo>
                      <a:pt x="115" y="10"/>
                      <a:pt x="114" y="8"/>
                      <a:pt x="112" y="7"/>
                    </a:cubicBezTo>
                    <a:cubicBezTo>
                      <a:pt x="94" y="1"/>
                      <a:pt x="94" y="1"/>
                      <a:pt x="94" y="1"/>
                    </a:cubicBezTo>
                    <a:cubicBezTo>
                      <a:pt x="92" y="0"/>
                      <a:pt x="90" y="1"/>
                      <a:pt x="89" y="3"/>
                    </a:cubicBezTo>
                    <a:cubicBezTo>
                      <a:pt x="79" y="22"/>
                      <a:pt x="79" y="22"/>
                      <a:pt x="79" y="22"/>
                    </a:cubicBezTo>
                    <a:cubicBezTo>
                      <a:pt x="75" y="22"/>
                      <a:pt x="71" y="22"/>
                      <a:pt x="68" y="23"/>
                    </a:cubicBezTo>
                    <a:cubicBezTo>
                      <a:pt x="56" y="5"/>
                      <a:pt x="56" y="5"/>
                      <a:pt x="56" y="5"/>
                    </a:cubicBezTo>
                    <a:cubicBezTo>
                      <a:pt x="55" y="3"/>
                      <a:pt x="52" y="3"/>
                      <a:pt x="50" y="3"/>
                    </a:cubicBezTo>
                    <a:cubicBezTo>
                      <a:pt x="33" y="12"/>
                      <a:pt x="33" y="12"/>
                      <a:pt x="33" y="12"/>
                    </a:cubicBezTo>
                    <a:cubicBezTo>
                      <a:pt x="31" y="13"/>
                      <a:pt x="30" y="15"/>
                      <a:pt x="31" y="17"/>
                    </a:cubicBezTo>
                    <a:cubicBezTo>
                      <a:pt x="38" y="37"/>
                      <a:pt x="38" y="37"/>
                      <a:pt x="38" y="37"/>
                    </a:cubicBezTo>
                    <a:cubicBezTo>
                      <a:pt x="35" y="40"/>
                      <a:pt x="32" y="43"/>
                      <a:pt x="30" y="46"/>
                    </a:cubicBezTo>
                    <a:cubicBezTo>
                      <a:pt x="10" y="42"/>
                      <a:pt x="10" y="42"/>
                      <a:pt x="10" y="42"/>
                    </a:cubicBezTo>
                    <a:cubicBezTo>
                      <a:pt x="10" y="51"/>
                      <a:pt x="6" y="60"/>
                      <a:pt x="0" y="67"/>
                    </a:cubicBezTo>
                    <a:cubicBezTo>
                      <a:pt x="1" y="68"/>
                      <a:pt x="1" y="68"/>
                      <a:pt x="1" y="68"/>
                    </a:cubicBezTo>
                    <a:cubicBezTo>
                      <a:pt x="19" y="77"/>
                      <a:pt x="19" y="77"/>
                      <a:pt x="19" y="77"/>
                    </a:cubicBezTo>
                    <a:cubicBezTo>
                      <a:pt x="19" y="81"/>
                      <a:pt x="19" y="85"/>
                      <a:pt x="20" y="89"/>
                    </a:cubicBezTo>
                    <a:cubicBezTo>
                      <a:pt x="14" y="93"/>
                      <a:pt x="14" y="93"/>
                      <a:pt x="14" y="93"/>
                    </a:cubicBezTo>
                    <a:cubicBezTo>
                      <a:pt x="20" y="104"/>
                      <a:pt x="20" y="104"/>
                      <a:pt x="20" y="104"/>
                    </a:cubicBezTo>
                    <a:cubicBezTo>
                      <a:pt x="47" y="104"/>
                      <a:pt x="47" y="104"/>
                      <a:pt x="47" y="104"/>
                    </a:cubicBezTo>
                    <a:cubicBezTo>
                      <a:pt x="45" y="102"/>
                      <a:pt x="43" y="99"/>
                      <a:pt x="42" y="96"/>
                    </a:cubicBezTo>
                    <a:cubicBezTo>
                      <a:pt x="33" y="77"/>
                      <a:pt x="41" y="54"/>
                      <a:pt x="60" y="45"/>
                    </a:cubicBezTo>
                    <a:cubicBezTo>
                      <a:pt x="79" y="36"/>
                      <a:pt x="102" y="44"/>
                      <a:pt x="111" y="63"/>
                    </a:cubicBezTo>
                    <a:cubicBezTo>
                      <a:pt x="118" y="77"/>
                      <a:pt x="115" y="93"/>
                      <a:pt x="106" y="104"/>
                    </a:cubicBezTo>
                    <a:cubicBezTo>
                      <a:pt x="153" y="104"/>
                      <a:pt x="153" y="104"/>
                      <a:pt x="153" y="104"/>
                    </a:cubicBezTo>
                    <a:cubicBezTo>
                      <a:pt x="155" y="97"/>
                      <a:pt x="155" y="97"/>
                      <a:pt x="155" y="97"/>
                    </a:cubicBezTo>
                    <a:cubicBezTo>
                      <a:pt x="156" y="95"/>
                      <a:pt x="155" y="93"/>
                      <a:pt x="153" y="9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09" name="Freeform 51"/>
              <p:cNvSpPr/>
              <p:nvPr/>
            </p:nvSpPr>
            <p:spPr bwMode="auto">
              <a:xfrm>
                <a:off x="741" y="876"/>
                <a:ext cx="165" cy="250"/>
              </a:xfrm>
              <a:custGeom>
                <a:avLst/>
                <a:gdLst>
                  <a:gd name="T0" fmla="*/ 68 w 70"/>
                  <a:gd name="T1" fmla="*/ 4 h 106"/>
                  <a:gd name="T2" fmla="*/ 63 w 70"/>
                  <a:gd name="T3" fmla="*/ 1 h 106"/>
                  <a:gd name="T4" fmla="*/ 60 w 70"/>
                  <a:gd name="T5" fmla="*/ 1 h 106"/>
                  <a:gd name="T6" fmla="*/ 49 w 70"/>
                  <a:gd name="T7" fmla="*/ 18 h 106"/>
                  <a:gd name="T8" fmla="*/ 49 w 70"/>
                  <a:gd name="T9" fmla="*/ 20 h 106"/>
                  <a:gd name="T10" fmla="*/ 50 w 70"/>
                  <a:gd name="T11" fmla="*/ 21 h 106"/>
                  <a:gd name="T12" fmla="*/ 22 w 70"/>
                  <a:gd name="T13" fmla="*/ 70 h 106"/>
                  <a:gd name="T14" fmla="*/ 22 w 70"/>
                  <a:gd name="T15" fmla="*/ 69 h 106"/>
                  <a:gd name="T16" fmla="*/ 10 w 70"/>
                  <a:gd name="T17" fmla="*/ 73 h 106"/>
                  <a:gd name="T18" fmla="*/ 0 w 70"/>
                  <a:gd name="T19" fmla="*/ 90 h 106"/>
                  <a:gd name="T20" fmla="*/ 7 w 70"/>
                  <a:gd name="T21" fmla="*/ 93 h 106"/>
                  <a:gd name="T22" fmla="*/ 9 w 70"/>
                  <a:gd name="T23" fmla="*/ 99 h 106"/>
                  <a:gd name="T24" fmla="*/ 7 w 70"/>
                  <a:gd name="T25" fmla="*/ 106 h 106"/>
                  <a:gd name="T26" fmla="*/ 21 w 70"/>
                  <a:gd name="T27" fmla="*/ 106 h 106"/>
                  <a:gd name="T28" fmla="*/ 32 w 70"/>
                  <a:gd name="T29" fmla="*/ 86 h 106"/>
                  <a:gd name="T30" fmla="*/ 29 w 70"/>
                  <a:gd name="T31" fmla="*/ 74 h 106"/>
                  <a:gd name="T32" fmla="*/ 29 w 70"/>
                  <a:gd name="T33" fmla="*/ 73 h 106"/>
                  <a:gd name="T34" fmla="*/ 57 w 70"/>
                  <a:gd name="T35" fmla="*/ 25 h 106"/>
                  <a:gd name="T36" fmla="*/ 58 w 70"/>
                  <a:gd name="T37" fmla="*/ 26 h 106"/>
                  <a:gd name="T38" fmla="*/ 61 w 70"/>
                  <a:gd name="T39" fmla="*/ 25 h 106"/>
                  <a:gd name="T40" fmla="*/ 69 w 70"/>
                  <a:gd name="T41" fmla="*/ 6 h 106"/>
                  <a:gd name="T42" fmla="*/ 68 w 70"/>
                  <a:gd name="T43" fmla="*/ 4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0" h="106">
                    <a:moveTo>
                      <a:pt x="68" y="4"/>
                    </a:moveTo>
                    <a:cubicBezTo>
                      <a:pt x="63" y="1"/>
                      <a:pt x="63" y="1"/>
                      <a:pt x="63" y="1"/>
                    </a:cubicBezTo>
                    <a:cubicBezTo>
                      <a:pt x="62" y="0"/>
                      <a:pt x="61" y="0"/>
                      <a:pt x="60" y="1"/>
                    </a:cubicBezTo>
                    <a:cubicBezTo>
                      <a:pt x="49" y="18"/>
                      <a:pt x="49" y="18"/>
                      <a:pt x="49" y="18"/>
                    </a:cubicBezTo>
                    <a:cubicBezTo>
                      <a:pt x="48" y="19"/>
                      <a:pt x="48" y="20"/>
                      <a:pt x="49" y="20"/>
                    </a:cubicBezTo>
                    <a:cubicBezTo>
                      <a:pt x="50" y="21"/>
                      <a:pt x="50" y="21"/>
                      <a:pt x="50" y="21"/>
                    </a:cubicBezTo>
                    <a:cubicBezTo>
                      <a:pt x="22" y="70"/>
                      <a:pt x="22" y="70"/>
                      <a:pt x="22" y="70"/>
                    </a:cubicBezTo>
                    <a:cubicBezTo>
                      <a:pt x="22" y="69"/>
                      <a:pt x="22" y="69"/>
                      <a:pt x="22" y="69"/>
                    </a:cubicBezTo>
                    <a:cubicBezTo>
                      <a:pt x="18" y="67"/>
                      <a:pt x="12" y="68"/>
                      <a:pt x="10" y="73"/>
                    </a:cubicBezTo>
                    <a:cubicBezTo>
                      <a:pt x="0" y="90"/>
                      <a:pt x="0" y="90"/>
                      <a:pt x="0" y="90"/>
                    </a:cubicBezTo>
                    <a:cubicBezTo>
                      <a:pt x="7" y="93"/>
                      <a:pt x="7" y="93"/>
                      <a:pt x="7" y="93"/>
                    </a:cubicBezTo>
                    <a:cubicBezTo>
                      <a:pt x="9" y="94"/>
                      <a:pt x="10" y="97"/>
                      <a:pt x="9" y="99"/>
                    </a:cubicBezTo>
                    <a:cubicBezTo>
                      <a:pt x="7" y="106"/>
                      <a:pt x="7" y="106"/>
                      <a:pt x="7" y="106"/>
                    </a:cubicBezTo>
                    <a:cubicBezTo>
                      <a:pt x="21" y="106"/>
                      <a:pt x="21" y="106"/>
                      <a:pt x="21" y="106"/>
                    </a:cubicBezTo>
                    <a:cubicBezTo>
                      <a:pt x="32" y="86"/>
                      <a:pt x="32" y="86"/>
                      <a:pt x="32" y="86"/>
                    </a:cubicBezTo>
                    <a:cubicBezTo>
                      <a:pt x="35" y="82"/>
                      <a:pt x="33" y="76"/>
                      <a:pt x="29" y="74"/>
                    </a:cubicBezTo>
                    <a:cubicBezTo>
                      <a:pt x="29" y="73"/>
                      <a:pt x="29" y="73"/>
                      <a:pt x="29" y="73"/>
                    </a:cubicBezTo>
                    <a:cubicBezTo>
                      <a:pt x="57" y="25"/>
                      <a:pt x="57" y="25"/>
                      <a:pt x="57" y="25"/>
                    </a:cubicBezTo>
                    <a:cubicBezTo>
                      <a:pt x="58" y="26"/>
                      <a:pt x="58" y="26"/>
                      <a:pt x="58" y="26"/>
                    </a:cubicBezTo>
                    <a:cubicBezTo>
                      <a:pt x="59" y="26"/>
                      <a:pt x="60" y="26"/>
                      <a:pt x="61" y="25"/>
                    </a:cubicBezTo>
                    <a:cubicBezTo>
                      <a:pt x="69" y="6"/>
                      <a:pt x="69" y="6"/>
                      <a:pt x="69" y="6"/>
                    </a:cubicBezTo>
                    <a:cubicBezTo>
                      <a:pt x="70" y="5"/>
                      <a:pt x="69" y="4"/>
                      <a:pt x="68" y="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3123" name="组合 3122"/>
          <p:cNvGrpSpPr/>
          <p:nvPr/>
        </p:nvGrpSpPr>
        <p:grpSpPr>
          <a:xfrm>
            <a:off x="2383938" y="2143909"/>
            <a:ext cx="605681" cy="605681"/>
            <a:chOff x="2627784" y="2503949"/>
            <a:chExt cx="605681" cy="605681"/>
          </a:xfrm>
        </p:grpSpPr>
        <p:sp>
          <p:nvSpPr>
            <p:cNvPr id="47" name="椭圆 46"/>
            <p:cNvSpPr/>
            <p:nvPr/>
          </p:nvSpPr>
          <p:spPr>
            <a:xfrm>
              <a:off x="2627784" y="2503949"/>
              <a:ext cx="605681" cy="605681"/>
            </a:xfrm>
            <a:prstGeom prst="ellipse">
              <a:avLst/>
            </a:prstGeom>
            <a:solidFill>
              <a:srgbClr val="0720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lumMod val="65000"/>
                    <a:lumOff val="35000"/>
                  </a:schemeClr>
                </a:solidFill>
              </a:endParaRPr>
            </a:p>
          </p:txBody>
        </p:sp>
        <p:grpSp>
          <p:nvGrpSpPr>
            <p:cNvPr id="3115" name="Group 61"/>
            <p:cNvGrpSpPr>
              <a:grpSpLocks noChangeAspect="1"/>
            </p:cNvGrpSpPr>
            <p:nvPr/>
          </p:nvGrpSpPr>
          <p:grpSpPr bwMode="auto">
            <a:xfrm>
              <a:off x="2727513" y="2603678"/>
              <a:ext cx="406222" cy="406222"/>
              <a:chOff x="569" y="2009"/>
              <a:chExt cx="687" cy="687"/>
            </a:xfrm>
          </p:grpSpPr>
          <p:sp>
            <p:nvSpPr>
              <p:cNvPr id="3117" name="Freeform 62"/>
              <p:cNvSpPr/>
              <p:nvPr/>
            </p:nvSpPr>
            <p:spPr bwMode="auto">
              <a:xfrm>
                <a:off x="982" y="2026"/>
                <a:ext cx="260" cy="259"/>
              </a:xfrm>
              <a:custGeom>
                <a:avLst/>
                <a:gdLst>
                  <a:gd name="T0" fmla="*/ 44 w 110"/>
                  <a:gd name="T1" fmla="*/ 110 h 110"/>
                  <a:gd name="T2" fmla="*/ 110 w 110"/>
                  <a:gd name="T3" fmla="*/ 110 h 110"/>
                  <a:gd name="T4" fmla="*/ 0 w 110"/>
                  <a:gd name="T5" fmla="*/ 0 h 110"/>
                  <a:gd name="T6" fmla="*/ 0 w 110"/>
                  <a:gd name="T7" fmla="*/ 65 h 110"/>
                  <a:gd name="T8" fmla="*/ 44 w 110"/>
                  <a:gd name="T9" fmla="*/ 110 h 110"/>
                </a:gdLst>
                <a:ahLst/>
                <a:cxnLst>
                  <a:cxn ang="0">
                    <a:pos x="T0" y="T1"/>
                  </a:cxn>
                  <a:cxn ang="0">
                    <a:pos x="T2" y="T3"/>
                  </a:cxn>
                  <a:cxn ang="0">
                    <a:pos x="T4" y="T5"/>
                  </a:cxn>
                  <a:cxn ang="0">
                    <a:pos x="T6" y="T7"/>
                  </a:cxn>
                  <a:cxn ang="0">
                    <a:pos x="T8" y="T9"/>
                  </a:cxn>
                </a:cxnLst>
                <a:rect l="0" t="0" r="r" b="b"/>
                <a:pathLst>
                  <a:path w="110" h="110">
                    <a:moveTo>
                      <a:pt x="44" y="110"/>
                    </a:moveTo>
                    <a:cubicBezTo>
                      <a:pt x="110" y="110"/>
                      <a:pt x="110" y="110"/>
                      <a:pt x="110" y="110"/>
                    </a:cubicBezTo>
                    <a:cubicBezTo>
                      <a:pt x="98" y="54"/>
                      <a:pt x="55" y="11"/>
                      <a:pt x="0" y="0"/>
                    </a:cubicBezTo>
                    <a:cubicBezTo>
                      <a:pt x="0" y="65"/>
                      <a:pt x="0" y="65"/>
                      <a:pt x="0" y="65"/>
                    </a:cubicBezTo>
                    <a:cubicBezTo>
                      <a:pt x="20" y="73"/>
                      <a:pt x="36" y="90"/>
                      <a:pt x="44" y="11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18" name="Freeform 63"/>
              <p:cNvSpPr/>
              <p:nvPr/>
            </p:nvSpPr>
            <p:spPr bwMode="auto">
              <a:xfrm>
                <a:off x="586" y="2026"/>
                <a:ext cx="259" cy="259"/>
              </a:xfrm>
              <a:custGeom>
                <a:avLst/>
                <a:gdLst>
                  <a:gd name="T0" fmla="*/ 110 w 110"/>
                  <a:gd name="T1" fmla="*/ 65 h 110"/>
                  <a:gd name="T2" fmla="*/ 110 w 110"/>
                  <a:gd name="T3" fmla="*/ 0 h 110"/>
                  <a:gd name="T4" fmla="*/ 0 w 110"/>
                  <a:gd name="T5" fmla="*/ 110 h 110"/>
                  <a:gd name="T6" fmla="*/ 66 w 110"/>
                  <a:gd name="T7" fmla="*/ 110 h 110"/>
                  <a:gd name="T8" fmla="*/ 110 w 110"/>
                  <a:gd name="T9" fmla="*/ 65 h 110"/>
                </a:gdLst>
                <a:ahLst/>
                <a:cxnLst>
                  <a:cxn ang="0">
                    <a:pos x="T0" y="T1"/>
                  </a:cxn>
                  <a:cxn ang="0">
                    <a:pos x="T2" y="T3"/>
                  </a:cxn>
                  <a:cxn ang="0">
                    <a:pos x="T4" y="T5"/>
                  </a:cxn>
                  <a:cxn ang="0">
                    <a:pos x="T6" y="T7"/>
                  </a:cxn>
                  <a:cxn ang="0">
                    <a:pos x="T8" y="T9"/>
                  </a:cxn>
                </a:cxnLst>
                <a:rect l="0" t="0" r="r" b="b"/>
                <a:pathLst>
                  <a:path w="110" h="110">
                    <a:moveTo>
                      <a:pt x="110" y="65"/>
                    </a:moveTo>
                    <a:cubicBezTo>
                      <a:pt x="110" y="0"/>
                      <a:pt x="110" y="0"/>
                      <a:pt x="110" y="0"/>
                    </a:cubicBezTo>
                    <a:cubicBezTo>
                      <a:pt x="55" y="11"/>
                      <a:pt x="11" y="54"/>
                      <a:pt x="0" y="110"/>
                    </a:cubicBezTo>
                    <a:cubicBezTo>
                      <a:pt x="66" y="110"/>
                      <a:pt x="66" y="110"/>
                      <a:pt x="66" y="110"/>
                    </a:cubicBezTo>
                    <a:cubicBezTo>
                      <a:pt x="74" y="90"/>
                      <a:pt x="90" y="73"/>
                      <a:pt x="110" y="6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19" name="Freeform 64"/>
              <p:cNvSpPr/>
              <p:nvPr/>
            </p:nvSpPr>
            <p:spPr bwMode="auto">
              <a:xfrm>
                <a:off x="982" y="2420"/>
                <a:ext cx="260" cy="262"/>
              </a:xfrm>
              <a:custGeom>
                <a:avLst/>
                <a:gdLst>
                  <a:gd name="T0" fmla="*/ 0 w 110"/>
                  <a:gd name="T1" fmla="*/ 45 h 111"/>
                  <a:gd name="T2" fmla="*/ 0 w 110"/>
                  <a:gd name="T3" fmla="*/ 111 h 111"/>
                  <a:gd name="T4" fmla="*/ 110 w 110"/>
                  <a:gd name="T5" fmla="*/ 0 h 111"/>
                  <a:gd name="T6" fmla="*/ 44 w 110"/>
                  <a:gd name="T7" fmla="*/ 0 h 111"/>
                  <a:gd name="T8" fmla="*/ 0 w 110"/>
                  <a:gd name="T9" fmla="*/ 45 h 111"/>
                </a:gdLst>
                <a:ahLst/>
                <a:cxnLst>
                  <a:cxn ang="0">
                    <a:pos x="T0" y="T1"/>
                  </a:cxn>
                  <a:cxn ang="0">
                    <a:pos x="T2" y="T3"/>
                  </a:cxn>
                  <a:cxn ang="0">
                    <a:pos x="T4" y="T5"/>
                  </a:cxn>
                  <a:cxn ang="0">
                    <a:pos x="T6" y="T7"/>
                  </a:cxn>
                  <a:cxn ang="0">
                    <a:pos x="T8" y="T9"/>
                  </a:cxn>
                </a:cxnLst>
                <a:rect l="0" t="0" r="r" b="b"/>
                <a:pathLst>
                  <a:path w="110" h="111">
                    <a:moveTo>
                      <a:pt x="0" y="45"/>
                    </a:moveTo>
                    <a:cubicBezTo>
                      <a:pt x="0" y="111"/>
                      <a:pt x="0" y="111"/>
                      <a:pt x="0" y="111"/>
                    </a:cubicBezTo>
                    <a:cubicBezTo>
                      <a:pt x="55" y="99"/>
                      <a:pt x="98" y="56"/>
                      <a:pt x="110" y="0"/>
                    </a:cubicBezTo>
                    <a:cubicBezTo>
                      <a:pt x="44" y="0"/>
                      <a:pt x="44" y="0"/>
                      <a:pt x="44" y="0"/>
                    </a:cubicBezTo>
                    <a:cubicBezTo>
                      <a:pt x="36" y="21"/>
                      <a:pt x="20" y="37"/>
                      <a:pt x="0" y="4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20" name="Freeform 65"/>
              <p:cNvSpPr/>
              <p:nvPr/>
            </p:nvSpPr>
            <p:spPr bwMode="auto">
              <a:xfrm>
                <a:off x="586" y="2420"/>
                <a:ext cx="259" cy="262"/>
              </a:xfrm>
              <a:custGeom>
                <a:avLst/>
                <a:gdLst>
                  <a:gd name="T0" fmla="*/ 66 w 110"/>
                  <a:gd name="T1" fmla="*/ 0 h 111"/>
                  <a:gd name="T2" fmla="*/ 0 w 110"/>
                  <a:gd name="T3" fmla="*/ 0 h 111"/>
                  <a:gd name="T4" fmla="*/ 110 w 110"/>
                  <a:gd name="T5" fmla="*/ 111 h 111"/>
                  <a:gd name="T6" fmla="*/ 110 w 110"/>
                  <a:gd name="T7" fmla="*/ 45 h 111"/>
                  <a:gd name="T8" fmla="*/ 66 w 110"/>
                  <a:gd name="T9" fmla="*/ 0 h 111"/>
                </a:gdLst>
                <a:ahLst/>
                <a:cxnLst>
                  <a:cxn ang="0">
                    <a:pos x="T0" y="T1"/>
                  </a:cxn>
                  <a:cxn ang="0">
                    <a:pos x="T2" y="T3"/>
                  </a:cxn>
                  <a:cxn ang="0">
                    <a:pos x="T4" y="T5"/>
                  </a:cxn>
                  <a:cxn ang="0">
                    <a:pos x="T6" y="T7"/>
                  </a:cxn>
                  <a:cxn ang="0">
                    <a:pos x="T8" y="T9"/>
                  </a:cxn>
                </a:cxnLst>
                <a:rect l="0" t="0" r="r" b="b"/>
                <a:pathLst>
                  <a:path w="110" h="111">
                    <a:moveTo>
                      <a:pt x="66" y="0"/>
                    </a:moveTo>
                    <a:cubicBezTo>
                      <a:pt x="0" y="0"/>
                      <a:pt x="0" y="0"/>
                      <a:pt x="0" y="0"/>
                    </a:cubicBezTo>
                    <a:cubicBezTo>
                      <a:pt x="11" y="56"/>
                      <a:pt x="55" y="99"/>
                      <a:pt x="110" y="111"/>
                    </a:cubicBezTo>
                    <a:cubicBezTo>
                      <a:pt x="110" y="45"/>
                      <a:pt x="110" y="45"/>
                      <a:pt x="110" y="45"/>
                    </a:cubicBezTo>
                    <a:cubicBezTo>
                      <a:pt x="90" y="37"/>
                      <a:pt x="74" y="21"/>
                      <a:pt x="66"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21" name="Freeform 66"/>
              <p:cNvSpPr>
                <a:spLocks noEditPoints="1"/>
              </p:cNvSpPr>
              <p:nvPr/>
            </p:nvSpPr>
            <p:spPr bwMode="auto">
              <a:xfrm>
                <a:off x="569" y="2009"/>
                <a:ext cx="687" cy="687"/>
              </a:xfrm>
              <a:custGeom>
                <a:avLst/>
                <a:gdLst>
                  <a:gd name="T0" fmla="*/ 146 w 291"/>
                  <a:gd name="T1" fmla="*/ 66 h 291"/>
                  <a:gd name="T2" fmla="*/ 168 w 291"/>
                  <a:gd name="T3" fmla="*/ 70 h 291"/>
                  <a:gd name="T4" fmla="*/ 169 w 291"/>
                  <a:gd name="T5" fmla="*/ 64 h 291"/>
                  <a:gd name="T6" fmla="*/ 169 w 291"/>
                  <a:gd name="T7" fmla="*/ 11 h 291"/>
                  <a:gd name="T8" fmla="*/ 158 w 291"/>
                  <a:gd name="T9" fmla="*/ 0 h 291"/>
                  <a:gd name="T10" fmla="*/ 134 w 291"/>
                  <a:gd name="T11" fmla="*/ 0 h 291"/>
                  <a:gd name="T12" fmla="*/ 122 w 291"/>
                  <a:gd name="T13" fmla="*/ 11 h 291"/>
                  <a:gd name="T14" fmla="*/ 122 w 291"/>
                  <a:gd name="T15" fmla="*/ 64 h 291"/>
                  <a:gd name="T16" fmla="*/ 124 w 291"/>
                  <a:gd name="T17" fmla="*/ 70 h 291"/>
                  <a:gd name="T18" fmla="*/ 146 w 291"/>
                  <a:gd name="T19" fmla="*/ 66 h 291"/>
                  <a:gd name="T20" fmla="*/ 64 w 291"/>
                  <a:gd name="T21" fmla="*/ 122 h 291"/>
                  <a:gd name="T22" fmla="*/ 12 w 291"/>
                  <a:gd name="T23" fmla="*/ 122 h 291"/>
                  <a:gd name="T24" fmla="*/ 0 w 291"/>
                  <a:gd name="T25" fmla="*/ 133 h 291"/>
                  <a:gd name="T26" fmla="*/ 0 w 291"/>
                  <a:gd name="T27" fmla="*/ 158 h 291"/>
                  <a:gd name="T28" fmla="*/ 12 w 291"/>
                  <a:gd name="T29" fmla="*/ 169 h 291"/>
                  <a:gd name="T30" fmla="*/ 64 w 291"/>
                  <a:gd name="T31" fmla="*/ 169 h 291"/>
                  <a:gd name="T32" fmla="*/ 70 w 291"/>
                  <a:gd name="T33" fmla="*/ 167 h 291"/>
                  <a:gd name="T34" fmla="*/ 67 w 291"/>
                  <a:gd name="T35" fmla="*/ 145 h 291"/>
                  <a:gd name="T36" fmla="*/ 70 w 291"/>
                  <a:gd name="T37" fmla="*/ 123 h 291"/>
                  <a:gd name="T38" fmla="*/ 64 w 291"/>
                  <a:gd name="T39" fmla="*/ 122 h 291"/>
                  <a:gd name="T40" fmla="*/ 146 w 291"/>
                  <a:gd name="T41" fmla="*/ 224 h 291"/>
                  <a:gd name="T42" fmla="*/ 124 w 291"/>
                  <a:gd name="T43" fmla="*/ 221 h 291"/>
                  <a:gd name="T44" fmla="*/ 122 w 291"/>
                  <a:gd name="T45" fmla="*/ 227 h 291"/>
                  <a:gd name="T46" fmla="*/ 122 w 291"/>
                  <a:gd name="T47" fmla="*/ 279 h 291"/>
                  <a:gd name="T48" fmla="*/ 134 w 291"/>
                  <a:gd name="T49" fmla="*/ 291 h 291"/>
                  <a:gd name="T50" fmla="*/ 158 w 291"/>
                  <a:gd name="T51" fmla="*/ 291 h 291"/>
                  <a:gd name="T52" fmla="*/ 169 w 291"/>
                  <a:gd name="T53" fmla="*/ 279 h 291"/>
                  <a:gd name="T54" fmla="*/ 169 w 291"/>
                  <a:gd name="T55" fmla="*/ 227 h 291"/>
                  <a:gd name="T56" fmla="*/ 168 w 291"/>
                  <a:gd name="T57" fmla="*/ 221 h 291"/>
                  <a:gd name="T58" fmla="*/ 146 w 291"/>
                  <a:gd name="T59" fmla="*/ 224 h 291"/>
                  <a:gd name="T60" fmla="*/ 280 w 291"/>
                  <a:gd name="T61" fmla="*/ 122 h 291"/>
                  <a:gd name="T62" fmla="*/ 227 w 291"/>
                  <a:gd name="T63" fmla="*/ 122 h 291"/>
                  <a:gd name="T64" fmla="*/ 222 w 291"/>
                  <a:gd name="T65" fmla="*/ 123 h 291"/>
                  <a:gd name="T66" fmla="*/ 225 w 291"/>
                  <a:gd name="T67" fmla="*/ 145 h 291"/>
                  <a:gd name="T68" fmla="*/ 222 w 291"/>
                  <a:gd name="T69" fmla="*/ 167 h 291"/>
                  <a:gd name="T70" fmla="*/ 227 w 291"/>
                  <a:gd name="T71" fmla="*/ 169 h 291"/>
                  <a:gd name="T72" fmla="*/ 280 w 291"/>
                  <a:gd name="T73" fmla="*/ 169 h 291"/>
                  <a:gd name="T74" fmla="*/ 291 w 291"/>
                  <a:gd name="T75" fmla="*/ 158 h 291"/>
                  <a:gd name="T76" fmla="*/ 291 w 291"/>
                  <a:gd name="T77" fmla="*/ 133 h 291"/>
                  <a:gd name="T78" fmla="*/ 280 w 291"/>
                  <a:gd name="T79" fmla="*/ 122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91" h="291">
                    <a:moveTo>
                      <a:pt x="146" y="66"/>
                    </a:moveTo>
                    <a:cubicBezTo>
                      <a:pt x="153" y="66"/>
                      <a:pt x="161" y="68"/>
                      <a:pt x="168" y="70"/>
                    </a:cubicBezTo>
                    <a:cubicBezTo>
                      <a:pt x="169" y="68"/>
                      <a:pt x="169" y="66"/>
                      <a:pt x="169" y="64"/>
                    </a:cubicBezTo>
                    <a:cubicBezTo>
                      <a:pt x="169" y="11"/>
                      <a:pt x="169" y="11"/>
                      <a:pt x="169" y="11"/>
                    </a:cubicBezTo>
                    <a:cubicBezTo>
                      <a:pt x="169" y="5"/>
                      <a:pt x="164" y="0"/>
                      <a:pt x="158" y="0"/>
                    </a:cubicBezTo>
                    <a:cubicBezTo>
                      <a:pt x="134" y="0"/>
                      <a:pt x="134" y="0"/>
                      <a:pt x="134" y="0"/>
                    </a:cubicBezTo>
                    <a:cubicBezTo>
                      <a:pt x="127" y="0"/>
                      <a:pt x="122" y="5"/>
                      <a:pt x="122" y="11"/>
                    </a:cubicBezTo>
                    <a:cubicBezTo>
                      <a:pt x="122" y="64"/>
                      <a:pt x="122" y="64"/>
                      <a:pt x="122" y="64"/>
                    </a:cubicBezTo>
                    <a:cubicBezTo>
                      <a:pt x="122" y="66"/>
                      <a:pt x="123" y="68"/>
                      <a:pt x="124" y="70"/>
                    </a:cubicBezTo>
                    <a:cubicBezTo>
                      <a:pt x="131" y="68"/>
                      <a:pt x="138" y="66"/>
                      <a:pt x="146" y="66"/>
                    </a:cubicBezTo>
                    <a:close/>
                    <a:moveTo>
                      <a:pt x="64" y="122"/>
                    </a:moveTo>
                    <a:cubicBezTo>
                      <a:pt x="12" y="122"/>
                      <a:pt x="12" y="122"/>
                      <a:pt x="12" y="122"/>
                    </a:cubicBezTo>
                    <a:cubicBezTo>
                      <a:pt x="5" y="122"/>
                      <a:pt x="0" y="127"/>
                      <a:pt x="0" y="133"/>
                    </a:cubicBezTo>
                    <a:cubicBezTo>
                      <a:pt x="0" y="158"/>
                      <a:pt x="0" y="158"/>
                      <a:pt x="0" y="158"/>
                    </a:cubicBezTo>
                    <a:cubicBezTo>
                      <a:pt x="0" y="164"/>
                      <a:pt x="5" y="169"/>
                      <a:pt x="12" y="169"/>
                    </a:cubicBezTo>
                    <a:cubicBezTo>
                      <a:pt x="64" y="169"/>
                      <a:pt x="64" y="169"/>
                      <a:pt x="64" y="169"/>
                    </a:cubicBezTo>
                    <a:cubicBezTo>
                      <a:pt x="66" y="169"/>
                      <a:pt x="68" y="168"/>
                      <a:pt x="70" y="167"/>
                    </a:cubicBezTo>
                    <a:cubicBezTo>
                      <a:pt x="68" y="160"/>
                      <a:pt x="67" y="153"/>
                      <a:pt x="67" y="145"/>
                    </a:cubicBezTo>
                    <a:cubicBezTo>
                      <a:pt x="67" y="138"/>
                      <a:pt x="68" y="130"/>
                      <a:pt x="70" y="123"/>
                    </a:cubicBezTo>
                    <a:cubicBezTo>
                      <a:pt x="68" y="122"/>
                      <a:pt x="66" y="122"/>
                      <a:pt x="64" y="122"/>
                    </a:cubicBezTo>
                    <a:close/>
                    <a:moveTo>
                      <a:pt x="146" y="224"/>
                    </a:moveTo>
                    <a:cubicBezTo>
                      <a:pt x="138" y="224"/>
                      <a:pt x="131" y="223"/>
                      <a:pt x="124" y="221"/>
                    </a:cubicBezTo>
                    <a:cubicBezTo>
                      <a:pt x="123" y="223"/>
                      <a:pt x="122" y="225"/>
                      <a:pt x="122" y="227"/>
                    </a:cubicBezTo>
                    <a:cubicBezTo>
                      <a:pt x="122" y="279"/>
                      <a:pt x="122" y="279"/>
                      <a:pt x="122" y="279"/>
                    </a:cubicBezTo>
                    <a:cubicBezTo>
                      <a:pt x="122" y="286"/>
                      <a:pt x="127" y="291"/>
                      <a:pt x="134" y="291"/>
                    </a:cubicBezTo>
                    <a:cubicBezTo>
                      <a:pt x="158" y="291"/>
                      <a:pt x="158" y="291"/>
                      <a:pt x="158" y="291"/>
                    </a:cubicBezTo>
                    <a:cubicBezTo>
                      <a:pt x="164" y="291"/>
                      <a:pt x="169" y="286"/>
                      <a:pt x="169" y="279"/>
                    </a:cubicBezTo>
                    <a:cubicBezTo>
                      <a:pt x="169" y="227"/>
                      <a:pt x="169" y="227"/>
                      <a:pt x="169" y="227"/>
                    </a:cubicBezTo>
                    <a:cubicBezTo>
                      <a:pt x="169" y="225"/>
                      <a:pt x="169" y="223"/>
                      <a:pt x="168" y="221"/>
                    </a:cubicBezTo>
                    <a:cubicBezTo>
                      <a:pt x="161" y="223"/>
                      <a:pt x="153" y="224"/>
                      <a:pt x="146" y="224"/>
                    </a:cubicBezTo>
                    <a:close/>
                    <a:moveTo>
                      <a:pt x="280" y="122"/>
                    </a:moveTo>
                    <a:cubicBezTo>
                      <a:pt x="227" y="122"/>
                      <a:pt x="227" y="122"/>
                      <a:pt x="227" y="122"/>
                    </a:cubicBezTo>
                    <a:cubicBezTo>
                      <a:pt x="225" y="122"/>
                      <a:pt x="223" y="122"/>
                      <a:pt x="222" y="123"/>
                    </a:cubicBezTo>
                    <a:cubicBezTo>
                      <a:pt x="224" y="130"/>
                      <a:pt x="225" y="138"/>
                      <a:pt x="225" y="145"/>
                    </a:cubicBezTo>
                    <a:cubicBezTo>
                      <a:pt x="225" y="153"/>
                      <a:pt x="224" y="160"/>
                      <a:pt x="222" y="167"/>
                    </a:cubicBezTo>
                    <a:cubicBezTo>
                      <a:pt x="223" y="168"/>
                      <a:pt x="225" y="169"/>
                      <a:pt x="227" y="169"/>
                    </a:cubicBezTo>
                    <a:cubicBezTo>
                      <a:pt x="280" y="169"/>
                      <a:pt x="280" y="169"/>
                      <a:pt x="280" y="169"/>
                    </a:cubicBezTo>
                    <a:cubicBezTo>
                      <a:pt x="286" y="169"/>
                      <a:pt x="291" y="164"/>
                      <a:pt x="291" y="158"/>
                    </a:cubicBezTo>
                    <a:cubicBezTo>
                      <a:pt x="291" y="133"/>
                      <a:pt x="291" y="133"/>
                      <a:pt x="291" y="133"/>
                    </a:cubicBezTo>
                    <a:cubicBezTo>
                      <a:pt x="291" y="127"/>
                      <a:pt x="286" y="122"/>
                      <a:pt x="280" y="1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121" name="直角三角形 4"/>
          <p:cNvSpPr/>
          <p:nvPr/>
        </p:nvSpPr>
        <p:spPr>
          <a:xfrm rot="16200000" flipH="1" flipV="1">
            <a:off x="53053" y="287474"/>
            <a:ext cx="2021925" cy="1839552"/>
          </a:xfrm>
          <a:custGeom>
            <a:avLst/>
            <a:gdLst>
              <a:gd name="connsiteX0" fmla="*/ 0 w 5233726"/>
              <a:gd name="connsiteY0" fmla="*/ 6489848 h 6489848"/>
              <a:gd name="connsiteX1" fmla="*/ 0 w 5233726"/>
              <a:gd name="connsiteY1" fmla="*/ 0 h 6489848"/>
              <a:gd name="connsiteX2" fmla="*/ 5233726 w 5233726"/>
              <a:gd name="connsiteY2" fmla="*/ 6489848 h 6489848"/>
              <a:gd name="connsiteX3" fmla="*/ 0 w 5233726"/>
              <a:gd name="connsiteY3" fmla="*/ 6489848 h 6489848"/>
              <a:gd name="connsiteX0-1" fmla="*/ 0 w 5233726"/>
              <a:gd name="connsiteY0-2" fmla="*/ 6489848 h 6489848"/>
              <a:gd name="connsiteX1-3" fmla="*/ 0 w 5233726"/>
              <a:gd name="connsiteY1-4" fmla="*/ 0 h 6489848"/>
              <a:gd name="connsiteX2-5" fmla="*/ 5233726 w 5233726"/>
              <a:gd name="connsiteY2-6" fmla="*/ 6489848 h 6489848"/>
              <a:gd name="connsiteX3-7" fmla="*/ 0 w 5233726"/>
              <a:gd name="connsiteY3-8" fmla="*/ 6489848 h 6489848"/>
              <a:gd name="connsiteX0-9" fmla="*/ 0 w 5233726"/>
              <a:gd name="connsiteY0-10" fmla="*/ 6489848 h 6489848"/>
              <a:gd name="connsiteX1-11" fmla="*/ 0 w 5233726"/>
              <a:gd name="connsiteY1-12" fmla="*/ 0 h 6489848"/>
              <a:gd name="connsiteX2-13" fmla="*/ 5233726 w 5233726"/>
              <a:gd name="connsiteY2-14" fmla="*/ 6489848 h 6489848"/>
              <a:gd name="connsiteX3-15" fmla="*/ 0 w 5233726"/>
              <a:gd name="connsiteY3-16" fmla="*/ 6489848 h 6489848"/>
              <a:gd name="connsiteX0-17" fmla="*/ 0 w 5233726"/>
              <a:gd name="connsiteY0-18" fmla="*/ 6489848 h 6489848"/>
              <a:gd name="connsiteX1-19" fmla="*/ 0 w 5233726"/>
              <a:gd name="connsiteY1-20" fmla="*/ 0 h 6489848"/>
              <a:gd name="connsiteX2-21" fmla="*/ 5233726 w 5233726"/>
              <a:gd name="connsiteY2-22" fmla="*/ 6489848 h 6489848"/>
              <a:gd name="connsiteX3-23" fmla="*/ 0 w 5233726"/>
              <a:gd name="connsiteY3-24" fmla="*/ 6489848 h 6489848"/>
            </a:gdLst>
            <a:ahLst/>
            <a:cxnLst>
              <a:cxn ang="0">
                <a:pos x="connsiteX0-1" y="connsiteY0-2"/>
              </a:cxn>
              <a:cxn ang="0">
                <a:pos x="connsiteX1-3" y="connsiteY1-4"/>
              </a:cxn>
              <a:cxn ang="0">
                <a:pos x="connsiteX2-5" y="connsiteY2-6"/>
              </a:cxn>
              <a:cxn ang="0">
                <a:pos x="connsiteX3-7" y="connsiteY3-8"/>
              </a:cxn>
            </a:cxnLst>
            <a:rect l="l" t="t" r="r" b="b"/>
            <a:pathLst>
              <a:path w="5233726" h="6489848">
                <a:moveTo>
                  <a:pt x="0" y="6489848"/>
                </a:moveTo>
                <a:lnTo>
                  <a:pt x="0" y="0"/>
                </a:lnTo>
                <a:cubicBezTo>
                  <a:pt x="4675" y="2201383"/>
                  <a:pt x="2866851" y="6485565"/>
                  <a:pt x="5233726" y="6489848"/>
                </a:cubicBezTo>
                <a:lnTo>
                  <a:pt x="0" y="6489848"/>
                </a:lnTo>
                <a:close/>
              </a:path>
            </a:pathLst>
          </a:custGeom>
          <a:solidFill>
            <a:srgbClr val="07206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4" name="组合 53"/>
          <p:cNvGrpSpPr/>
          <p:nvPr/>
        </p:nvGrpSpPr>
        <p:grpSpPr>
          <a:xfrm>
            <a:off x="2390591" y="4523555"/>
            <a:ext cx="605681" cy="605681"/>
            <a:chOff x="2627784" y="1701415"/>
            <a:chExt cx="605681" cy="605681"/>
          </a:xfrm>
        </p:grpSpPr>
        <p:sp>
          <p:nvSpPr>
            <p:cNvPr id="58" name="椭圆 57"/>
            <p:cNvSpPr/>
            <p:nvPr/>
          </p:nvSpPr>
          <p:spPr>
            <a:xfrm>
              <a:off x="2627784" y="1701415"/>
              <a:ext cx="605681" cy="605681"/>
            </a:xfrm>
            <a:prstGeom prst="ellipse">
              <a:avLst/>
            </a:prstGeom>
            <a:solidFill>
              <a:srgbClr val="0720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lumMod val="65000"/>
                    <a:lumOff val="35000"/>
                  </a:schemeClr>
                </a:solidFill>
              </a:endParaRPr>
            </a:p>
          </p:txBody>
        </p:sp>
        <p:grpSp>
          <p:nvGrpSpPr>
            <p:cNvPr id="59" name="Group 27"/>
            <p:cNvGrpSpPr>
              <a:grpSpLocks noChangeAspect="1"/>
            </p:cNvGrpSpPr>
            <p:nvPr/>
          </p:nvGrpSpPr>
          <p:grpSpPr bwMode="auto">
            <a:xfrm>
              <a:off x="2754994" y="1831401"/>
              <a:ext cx="351260" cy="345708"/>
              <a:chOff x="-2952" y="-1157"/>
              <a:chExt cx="3605" cy="3548"/>
            </a:xfrm>
          </p:grpSpPr>
          <p:sp>
            <p:nvSpPr>
              <p:cNvPr id="60" name="Freeform 28"/>
              <p:cNvSpPr/>
              <p:nvPr/>
            </p:nvSpPr>
            <p:spPr bwMode="auto">
              <a:xfrm>
                <a:off x="-1015" y="806"/>
                <a:ext cx="574" cy="550"/>
              </a:xfrm>
              <a:custGeom>
                <a:avLst/>
                <a:gdLst>
                  <a:gd name="T0" fmla="*/ 181 w 243"/>
                  <a:gd name="T1" fmla="*/ 76 h 233"/>
                  <a:gd name="T2" fmla="*/ 172 w 243"/>
                  <a:gd name="T3" fmla="*/ 75 h 233"/>
                  <a:gd name="T4" fmla="*/ 154 w 243"/>
                  <a:gd name="T5" fmla="*/ 58 h 233"/>
                  <a:gd name="T6" fmla="*/ 133 w 243"/>
                  <a:gd name="T7" fmla="*/ 64 h 233"/>
                  <a:gd name="T8" fmla="*/ 75 w 243"/>
                  <a:gd name="T9" fmla="*/ 9 h 233"/>
                  <a:gd name="T10" fmla="*/ 13 w 243"/>
                  <a:gd name="T11" fmla="*/ 75 h 233"/>
                  <a:gd name="T12" fmla="*/ 71 w 243"/>
                  <a:gd name="T13" fmla="*/ 129 h 233"/>
                  <a:gd name="T14" fmla="*/ 69 w 243"/>
                  <a:gd name="T15" fmla="*/ 150 h 233"/>
                  <a:gd name="T16" fmla="*/ 86 w 243"/>
                  <a:gd name="T17" fmla="*/ 166 h 233"/>
                  <a:gd name="T18" fmla="*/ 88 w 243"/>
                  <a:gd name="T19" fmla="*/ 176 h 233"/>
                  <a:gd name="T20" fmla="*/ 150 w 243"/>
                  <a:gd name="T21" fmla="*/ 233 h 233"/>
                  <a:gd name="T22" fmla="*/ 243 w 243"/>
                  <a:gd name="T23" fmla="*/ 133 h 233"/>
                  <a:gd name="T24" fmla="*/ 181 w 243"/>
                  <a:gd name="T25" fmla="*/ 76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3" h="233">
                    <a:moveTo>
                      <a:pt x="181" y="76"/>
                    </a:moveTo>
                    <a:cubicBezTo>
                      <a:pt x="179" y="74"/>
                      <a:pt x="176" y="74"/>
                      <a:pt x="172" y="75"/>
                    </a:cubicBezTo>
                    <a:cubicBezTo>
                      <a:pt x="168" y="71"/>
                      <a:pt x="161" y="65"/>
                      <a:pt x="154" y="58"/>
                    </a:cubicBezTo>
                    <a:cubicBezTo>
                      <a:pt x="150" y="55"/>
                      <a:pt x="143" y="58"/>
                      <a:pt x="133" y="64"/>
                    </a:cubicBezTo>
                    <a:cubicBezTo>
                      <a:pt x="119" y="51"/>
                      <a:pt x="83" y="17"/>
                      <a:pt x="75" y="9"/>
                    </a:cubicBezTo>
                    <a:cubicBezTo>
                      <a:pt x="64" y="0"/>
                      <a:pt x="0" y="64"/>
                      <a:pt x="13" y="75"/>
                    </a:cubicBezTo>
                    <a:cubicBezTo>
                      <a:pt x="22" y="84"/>
                      <a:pt x="57" y="116"/>
                      <a:pt x="71" y="129"/>
                    </a:cubicBezTo>
                    <a:cubicBezTo>
                      <a:pt x="66" y="139"/>
                      <a:pt x="64" y="146"/>
                      <a:pt x="69" y="150"/>
                    </a:cubicBezTo>
                    <a:cubicBezTo>
                      <a:pt x="75" y="157"/>
                      <a:pt x="81" y="162"/>
                      <a:pt x="86" y="166"/>
                    </a:cubicBezTo>
                    <a:cubicBezTo>
                      <a:pt x="85" y="170"/>
                      <a:pt x="85" y="174"/>
                      <a:pt x="88" y="176"/>
                    </a:cubicBezTo>
                    <a:cubicBezTo>
                      <a:pt x="97" y="183"/>
                      <a:pt x="121" y="206"/>
                      <a:pt x="150" y="233"/>
                    </a:cubicBezTo>
                    <a:cubicBezTo>
                      <a:pt x="243" y="133"/>
                      <a:pt x="243" y="133"/>
                      <a:pt x="243" y="133"/>
                    </a:cubicBezTo>
                    <a:cubicBezTo>
                      <a:pt x="215" y="108"/>
                      <a:pt x="193" y="86"/>
                      <a:pt x="181"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29"/>
              <p:cNvSpPr>
                <a:spLocks noEditPoints="1"/>
              </p:cNvSpPr>
              <p:nvPr/>
            </p:nvSpPr>
            <p:spPr bwMode="auto">
              <a:xfrm>
                <a:off x="-741" y="1052"/>
                <a:ext cx="1394" cy="1339"/>
              </a:xfrm>
              <a:custGeom>
                <a:avLst/>
                <a:gdLst>
                  <a:gd name="T0" fmla="*/ 383 w 590"/>
                  <a:gd name="T1" fmla="*/ 553 h 567"/>
                  <a:gd name="T2" fmla="*/ 20 w 590"/>
                  <a:gd name="T3" fmla="*/ 219 h 567"/>
                  <a:gd name="T4" fmla="*/ 20 w 590"/>
                  <a:gd name="T5" fmla="*/ 219 h 567"/>
                  <a:gd name="T6" fmla="*/ 2 w 590"/>
                  <a:gd name="T7" fmla="*/ 168 h 567"/>
                  <a:gd name="T8" fmla="*/ 2 w 590"/>
                  <a:gd name="T9" fmla="*/ 168 h 567"/>
                  <a:gd name="T10" fmla="*/ 22 w 590"/>
                  <a:gd name="T11" fmla="*/ 116 h 567"/>
                  <a:gd name="T12" fmla="*/ 22 w 590"/>
                  <a:gd name="T13" fmla="*/ 116 h 567"/>
                  <a:gd name="T14" fmla="*/ 56 w 590"/>
                  <a:gd name="T15" fmla="*/ 74 h 567"/>
                  <a:gd name="T16" fmla="*/ 56 w 590"/>
                  <a:gd name="T17" fmla="*/ 74 h 567"/>
                  <a:gd name="T18" fmla="*/ 137 w 590"/>
                  <a:gd name="T19" fmla="*/ 8 h 567"/>
                  <a:gd name="T20" fmla="*/ 137 w 590"/>
                  <a:gd name="T21" fmla="*/ 8 h 567"/>
                  <a:gd name="T22" fmla="*/ 175 w 590"/>
                  <a:gd name="T23" fmla="*/ 1 h 567"/>
                  <a:gd name="T24" fmla="*/ 175 w 590"/>
                  <a:gd name="T25" fmla="*/ 1 h 567"/>
                  <a:gd name="T26" fmla="*/ 209 w 590"/>
                  <a:gd name="T27" fmla="*/ 16 h 567"/>
                  <a:gd name="T28" fmla="*/ 209 w 590"/>
                  <a:gd name="T29" fmla="*/ 16 h 567"/>
                  <a:gd name="T30" fmla="*/ 573 w 590"/>
                  <a:gd name="T31" fmla="*/ 351 h 567"/>
                  <a:gd name="T32" fmla="*/ 573 w 590"/>
                  <a:gd name="T33" fmla="*/ 351 h 567"/>
                  <a:gd name="T34" fmla="*/ 573 w 590"/>
                  <a:gd name="T35" fmla="*/ 351 h 567"/>
                  <a:gd name="T36" fmla="*/ 589 w 590"/>
                  <a:gd name="T37" fmla="*/ 394 h 567"/>
                  <a:gd name="T38" fmla="*/ 589 w 590"/>
                  <a:gd name="T39" fmla="*/ 394 h 567"/>
                  <a:gd name="T40" fmla="*/ 581 w 590"/>
                  <a:gd name="T41" fmla="*/ 420 h 567"/>
                  <a:gd name="T42" fmla="*/ 581 w 590"/>
                  <a:gd name="T43" fmla="*/ 420 h 567"/>
                  <a:gd name="T44" fmla="*/ 571 w 590"/>
                  <a:gd name="T45" fmla="*/ 435 h 567"/>
                  <a:gd name="T46" fmla="*/ 571 w 590"/>
                  <a:gd name="T47" fmla="*/ 435 h 567"/>
                  <a:gd name="T48" fmla="*/ 547 w 590"/>
                  <a:gd name="T49" fmla="*/ 466 h 567"/>
                  <a:gd name="T50" fmla="*/ 547 w 590"/>
                  <a:gd name="T51" fmla="*/ 466 h 567"/>
                  <a:gd name="T52" fmla="*/ 485 w 590"/>
                  <a:gd name="T53" fmla="*/ 531 h 567"/>
                  <a:gd name="T54" fmla="*/ 485 w 590"/>
                  <a:gd name="T55" fmla="*/ 531 h 567"/>
                  <a:gd name="T56" fmla="*/ 442 w 590"/>
                  <a:gd name="T57" fmla="*/ 562 h 567"/>
                  <a:gd name="T58" fmla="*/ 442 w 590"/>
                  <a:gd name="T59" fmla="*/ 562 h 567"/>
                  <a:gd name="T60" fmla="*/ 414 w 590"/>
                  <a:gd name="T61" fmla="*/ 566 h 567"/>
                  <a:gd name="T62" fmla="*/ 414 w 590"/>
                  <a:gd name="T63" fmla="*/ 566 h 567"/>
                  <a:gd name="T64" fmla="*/ 414 w 590"/>
                  <a:gd name="T65" fmla="*/ 566 h 567"/>
                  <a:gd name="T66" fmla="*/ 414 w 590"/>
                  <a:gd name="T67" fmla="*/ 566 h 567"/>
                  <a:gd name="T68" fmla="*/ 383 w 590"/>
                  <a:gd name="T69" fmla="*/ 553 h 567"/>
                  <a:gd name="T70" fmla="*/ 422 w 590"/>
                  <a:gd name="T71" fmla="*/ 454 h 567"/>
                  <a:gd name="T72" fmla="*/ 425 w 590"/>
                  <a:gd name="T73" fmla="*/ 452 h 567"/>
                  <a:gd name="T74" fmla="*/ 425 w 590"/>
                  <a:gd name="T75" fmla="*/ 452 h 567"/>
                  <a:gd name="T76" fmla="*/ 476 w 590"/>
                  <a:gd name="T77" fmla="*/ 397 h 567"/>
                  <a:gd name="T78" fmla="*/ 476 w 590"/>
                  <a:gd name="T79" fmla="*/ 397 h 567"/>
                  <a:gd name="T80" fmla="*/ 476 w 590"/>
                  <a:gd name="T81" fmla="*/ 396 h 567"/>
                  <a:gd name="T82" fmla="*/ 476 w 590"/>
                  <a:gd name="T83" fmla="*/ 396 h 567"/>
                  <a:gd name="T84" fmla="*/ 163 w 590"/>
                  <a:gd name="T85" fmla="*/ 108 h 567"/>
                  <a:gd name="T86" fmla="*/ 163 w 590"/>
                  <a:gd name="T87" fmla="*/ 108 h 567"/>
                  <a:gd name="T88" fmla="*/ 157 w 590"/>
                  <a:gd name="T89" fmla="*/ 113 h 567"/>
                  <a:gd name="T90" fmla="*/ 157 w 590"/>
                  <a:gd name="T91" fmla="*/ 113 h 567"/>
                  <a:gd name="T92" fmla="*/ 112 w 590"/>
                  <a:gd name="T93" fmla="*/ 160 h 567"/>
                  <a:gd name="T94" fmla="*/ 112 w 590"/>
                  <a:gd name="T95" fmla="*/ 160 h 567"/>
                  <a:gd name="T96" fmla="*/ 108 w 590"/>
                  <a:gd name="T97" fmla="*/ 165 h 567"/>
                  <a:gd name="T98" fmla="*/ 108 w 590"/>
                  <a:gd name="T99" fmla="*/ 165 h 567"/>
                  <a:gd name="T100" fmla="*/ 422 w 590"/>
                  <a:gd name="T101" fmla="*/ 454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0" h="567">
                    <a:moveTo>
                      <a:pt x="383" y="553"/>
                    </a:moveTo>
                    <a:cubicBezTo>
                      <a:pt x="374" y="544"/>
                      <a:pt x="31" y="229"/>
                      <a:pt x="20" y="219"/>
                    </a:cubicBezTo>
                    <a:cubicBezTo>
                      <a:pt x="20" y="219"/>
                      <a:pt x="20" y="219"/>
                      <a:pt x="20" y="219"/>
                    </a:cubicBezTo>
                    <a:cubicBezTo>
                      <a:pt x="4" y="204"/>
                      <a:pt x="0" y="181"/>
                      <a:pt x="2" y="168"/>
                    </a:cubicBezTo>
                    <a:cubicBezTo>
                      <a:pt x="2" y="168"/>
                      <a:pt x="2" y="168"/>
                      <a:pt x="2" y="168"/>
                    </a:cubicBezTo>
                    <a:cubicBezTo>
                      <a:pt x="4" y="144"/>
                      <a:pt x="13" y="131"/>
                      <a:pt x="22" y="116"/>
                    </a:cubicBezTo>
                    <a:cubicBezTo>
                      <a:pt x="22" y="116"/>
                      <a:pt x="22" y="116"/>
                      <a:pt x="22" y="116"/>
                    </a:cubicBezTo>
                    <a:cubicBezTo>
                      <a:pt x="32" y="101"/>
                      <a:pt x="43" y="87"/>
                      <a:pt x="56" y="74"/>
                    </a:cubicBezTo>
                    <a:cubicBezTo>
                      <a:pt x="56" y="74"/>
                      <a:pt x="56" y="74"/>
                      <a:pt x="56" y="74"/>
                    </a:cubicBezTo>
                    <a:cubicBezTo>
                      <a:pt x="82" y="46"/>
                      <a:pt x="108" y="23"/>
                      <a:pt x="137" y="8"/>
                    </a:cubicBezTo>
                    <a:cubicBezTo>
                      <a:pt x="137" y="8"/>
                      <a:pt x="137" y="8"/>
                      <a:pt x="137" y="8"/>
                    </a:cubicBezTo>
                    <a:cubicBezTo>
                      <a:pt x="147" y="4"/>
                      <a:pt x="157" y="0"/>
                      <a:pt x="175" y="1"/>
                    </a:cubicBezTo>
                    <a:cubicBezTo>
                      <a:pt x="175" y="1"/>
                      <a:pt x="175" y="1"/>
                      <a:pt x="175" y="1"/>
                    </a:cubicBezTo>
                    <a:cubicBezTo>
                      <a:pt x="185" y="2"/>
                      <a:pt x="199" y="6"/>
                      <a:pt x="209" y="16"/>
                    </a:cubicBezTo>
                    <a:cubicBezTo>
                      <a:pt x="209" y="16"/>
                      <a:pt x="209" y="16"/>
                      <a:pt x="209" y="16"/>
                    </a:cubicBezTo>
                    <a:cubicBezTo>
                      <a:pt x="218" y="25"/>
                      <a:pt x="556" y="335"/>
                      <a:pt x="573" y="351"/>
                    </a:cubicBezTo>
                    <a:cubicBezTo>
                      <a:pt x="573" y="351"/>
                      <a:pt x="573" y="351"/>
                      <a:pt x="573" y="351"/>
                    </a:cubicBezTo>
                    <a:cubicBezTo>
                      <a:pt x="573" y="351"/>
                      <a:pt x="573" y="351"/>
                      <a:pt x="573" y="351"/>
                    </a:cubicBezTo>
                    <a:cubicBezTo>
                      <a:pt x="589" y="367"/>
                      <a:pt x="590" y="386"/>
                      <a:pt x="589" y="394"/>
                    </a:cubicBezTo>
                    <a:cubicBezTo>
                      <a:pt x="589" y="394"/>
                      <a:pt x="589" y="394"/>
                      <a:pt x="589" y="394"/>
                    </a:cubicBezTo>
                    <a:cubicBezTo>
                      <a:pt x="587" y="409"/>
                      <a:pt x="583" y="414"/>
                      <a:pt x="581" y="420"/>
                    </a:cubicBezTo>
                    <a:cubicBezTo>
                      <a:pt x="581" y="420"/>
                      <a:pt x="581" y="420"/>
                      <a:pt x="581" y="420"/>
                    </a:cubicBezTo>
                    <a:cubicBezTo>
                      <a:pt x="578" y="425"/>
                      <a:pt x="575" y="430"/>
                      <a:pt x="571" y="435"/>
                    </a:cubicBezTo>
                    <a:cubicBezTo>
                      <a:pt x="571" y="435"/>
                      <a:pt x="571" y="435"/>
                      <a:pt x="571" y="435"/>
                    </a:cubicBezTo>
                    <a:cubicBezTo>
                      <a:pt x="564" y="445"/>
                      <a:pt x="556" y="455"/>
                      <a:pt x="547" y="466"/>
                    </a:cubicBezTo>
                    <a:cubicBezTo>
                      <a:pt x="547" y="466"/>
                      <a:pt x="547" y="466"/>
                      <a:pt x="547" y="466"/>
                    </a:cubicBezTo>
                    <a:cubicBezTo>
                      <a:pt x="528" y="488"/>
                      <a:pt x="506" y="512"/>
                      <a:pt x="485" y="531"/>
                    </a:cubicBezTo>
                    <a:cubicBezTo>
                      <a:pt x="485" y="531"/>
                      <a:pt x="485" y="531"/>
                      <a:pt x="485" y="531"/>
                    </a:cubicBezTo>
                    <a:cubicBezTo>
                      <a:pt x="471" y="543"/>
                      <a:pt x="461" y="553"/>
                      <a:pt x="442" y="562"/>
                    </a:cubicBezTo>
                    <a:cubicBezTo>
                      <a:pt x="442" y="562"/>
                      <a:pt x="442" y="562"/>
                      <a:pt x="442" y="562"/>
                    </a:cubicBezTo>
                    <a:cubicBezTo>
                      <a:pt x="436" y="564"/>
                      <a:pt x="429" y="567"/>
                      <a:pt x="414" y="566"/>
                    </a:cubicBezTo>
                    <a:cubicBezTo>
                      <a:pt x="414" y="566"/>
                      <a:pt x="414" y="566"/>
                      <a:pt x="414" y="566"/>
                    </a:cubicBezTo>
                    <a:cubicBezTo>
                      <a:pt x="414" y="566"/>
                      <a:pt x="414" y="566"/>
                      <a:pt x="414" y="566"/>
                    </a:cubicBezTo>
                    <a:cubicBezTo>
                      <a:pt x="414" y="566"/>
                      <a:pt x="414" y="566"/>
                      <a:pt x="414" y="566"/>
                    </a:cubicBezTo>
                    <a:cubicBezTo>
                      <a:pt x="406" y="566"/>
                      <a:pt x="394" y="562"/>
                      <a:pt x="383" y="553"/>
                    </a:cubicBezTo>
                    <a:close/>
                    <a:moveTo>
                      <a:pt x="422" y="454"/>
                    </a:moveTo>
                    <a:cubicBezTo>
                      <a:pt x="423" y="453"/>
                      <a:pt x="424" y="453"/>
                      <a:pt x="425" y="452"/>
                    </a:cubicBezTo>
                    <a:cubicBezTo>
                      <a:pt x="425" y="452"/>
                      <a:pt x="425" y="452"/>
                      <a:pt x="425" y="452"/>
                    </a:cubicBezTo>
                    <a:cubicBezTo>
                      <a:pt x="441" y="436"/>
                      <a:pt x="461" y="415"/>
                      <a:pt x="476" y="397"/>
                    </a:cubicBezTo>
                    <a:cubicBezTo>
                      <a:pt x="476" y="397"/>
                      <a:pt x="476" y="397"/>
                      <a:pt x="476" y="397"/>
                    </a:cubicBezTo>
                    <a:cubicBezTo>
                      <a:pt x="476" y="397"/>
                      <a:pt x="476" y="397"/>
                      <a:pt x="476" y="396"/>
                    </a:cubicBezTo>
                    <a:cubicBezTo>
                      <a:pt x="476" y="396"/>
                      <a:pt x="476" y="396"/>
                      <a:pt x="476" y="396"/>
                    </a:cubicBezTo>
                    <a:cubicBezTo>
                      <a:pt x="388" y="313"/>
                      <a:pt x="241" y="181"/>
                      <a:pt x="163" y="108"/>
                    </a:cubicBezTo>
                    <a:cubicBezTo>
                      <a:pt x="163" y="108"/>
                      <a:pt x="163" y="108"/>
                      <a:pt x="163" y="108"/>
                    </a:cubicBezTo>
                    <a:cubicBezTo>
                      <a:pt x="161" y="110"/>
                      <a:pt x="159" y="112"/>
                      <a:pt x="157" y="113"/>
                    </a:cubicBezTo>
                    <a:cubicBezTo>
                      <a:pt x="157" y="113"/>
                      <a:pt x="157" y="113"/>
                      <a:pt x="157" y="113"/>
                    </a:cubicBezTo>
                    <a:cubicBezTo>
                      <a:pt x="142" y="126"/>
                      <a:pt x="124" y="145"/>
                      <a:pt x="112" y="160"/>
                    </a:cubicBezTo>
                    <a:cubicBezTo>
                      <a:pt x="112" y="160"/>
                      <a:pt x="112" y="160"/>
                      <a:pt x="112" y="160"/>
                    </a:cubicBezTo>
                    <a:cubicBezTo>
                      <a:pt x="110" y="162"/>
                      <a:pt x="109" y="164"/>
                      <a:pt x="108" y="165"/>
                    </a:cubicBezTo>
                    <a:cubicBezTo>
                      <a:pt x="108" y="165"/>
                      <a:pt x="108" y="165"/>
                      <a:pt x="108" y="165"/>
                    </a:cubicBezTo>
                    <a:cubicBezTo>
                      <a:pt x="185" y="237"/>
                      <a:pt x="335" y="373"/>
                      <a:pt x="422" y="45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30"/>
              <p:cNvSpPr>
                <a:spLocks noEditPoints="1"/>
              </p:cNvSpPr>
              <p:nvPr/>
            </p:nvSpPr>
            <p:spPr bwMode="auto">
              <a:xfrm>
                <a:off x="-2952" y="-1157"/>
                <a:ext cx="2488" cy="2492"/>
              </a:xfrm>
              <a:custGeom>
                <a:avLst/>
                <a:gdLst>
                  <a:gd name="T0" fmla="*/ 482 w 1053"/>
                  <a:gd name="T1" fmla="*/ 1042 h 1055"/>
                  <a:gd name="T2" fmla="*/ 177 w 1053"/>
                  <a:gd name="T3" fmla="*/ 906 h 1055"/>
                  <a:gd name="T4" fmla="*/ 177 w 1053"/>
                  <a:gd name="T5" fmla="*/ 906 h 1055"/>
                  <a:gd name="T6" fmla="*/ 13 w 1053"/>
                  <a:gd name="T7" fmla="*/ 483 h 1055"/>
                  <a:gd name="T8" fmla="*/ 13 w 1053"/>
                  <a:gd name="T9" fmla="*/ 483 h 1055"/>
                  <a:gd name="T10" fmla="*/ 148 w 1053"/>
                  <a:gd name="T11" fmla="*/ 177 h 1055"/>
                  <a:gd name="T12" fmla="*/ 148 w 1053"/>
                  <a:gd name="T13" fmla="*/ 177 h 1055"/>
                  <a:gd name="T14" fmla="*/ 148 w 1053"/>
                  <a:gd name="T15" fmla="*/ 177 h 1055"/>
                  <a:gd name="T16" fmla="*/ 571 w 1053"/>
                  <a:gd name="T17" fmla="*/ 13 h 1055"/>
                  <a:gd name="T18" fmla="*/ 571 w 1053"/>
                  <a:gd name="T19" fmla="*/ 13 h 1055"/>
                  <a:gd name="T20" fmla="*/ 877 w 1053"/>
                  <a:gd name="T21" fmla="*/ 148 h 1055"/>
                  <a:gd name="T22" fmla="*/ 877 w 1053"/>
                  <a:gd name="T23" fmla="*/ 148 h 1055"/>
                  <a:gd name="T24" fmla="*/ 1040 w 1053"/>
                  <a:gd name="T25" fmla="*/ 572 h 1055"/>
                  <a:gd name="T26" fmla="*/ 1040 w 1053"/>
                  <a:gd name="T27" fmla="*/ 572 h 1055"/>
                  <a:gd name="T28" fmla="*/ 905 w 1053"/>
                  <a:gd name="T29" fmla="*/ 878 h 1055"/>
                  <a:gd name="T30" fmla="*/ 905 w 1053"/>
                  <a:gd name="T31" fmla="*/ 878 h 1055"/>
                  <a:gd name="T32" fmla="*/ 483 w 1053"/>
                  <a:gd name="T33" fmla="*/ 1042 h 1055"/>
                  <a:gd name="T34" fmla="*/ 483 w 1053"/>
                  <a:gd name="T35" fmla="*/ 1042 h 1055"/>
                  <a:gd name="T36" fmla="*/ 482 w 1053"/>
                  <a:gd name="T37" fmla="*/ 1042 h 1055"/>
                  <a:gd name="T38" fmla="*/ 221 w 1053"/>
                  <a:gd name="T39" fmla="*/ 244 h 1055"/>
                  <a:gd name="T40" fmla="*/ 221 w 1053"/>
                  <a:gd name="T41" fmla="*/ 244 h 1055"/>
                  <a:gd name="T42" fmla="*/ 112 w 1053"/>
                  <a:gd name="T43" fmla="*/ 491 h 1055"/>
                  <a:gd name="T44" fmla="*/ 112 w 1053"/>
                  <a:gd name="T45" fmla="*/ 491 h 1055"/>
                  <a:gd name="T46" fmla="*/ 244 w 1053"/>
                  <a:gd name="T47" fmla="*/ 834 h 1055"/>
                  <a:gd name="T48" fmla="*/ 244 w 1053"/>
                  <a:gd name="T49" fmla="*/ 834 h 1055"/>
                  <a:gd name="T50" fmla="*/ 491 w 1053"/>
                  <a:gd name="T51" fmla="*/ 943 h 1055"/>
                  <a:gd name="T52" fmla="*/ 491 w 1053"/>
                  <a:gd name="T53" fmla="*/ 943 h 1055"/>
                  <a:gd name="T54" fmla="*/ 833 w 1053"/>
                  <a:gd name="T55" fmla="*/ 810 h 1055"/>
                  <a:gd name="T56" fmla="*/ 833 w 1053"/>
                  <a:gd name="T57" fmla="*/ 810 h 1055"/>
                  <a:gd name="T58" fmla="*/ 942 w 1053"/>
                  <a:gd name="T59" fmla="*/ 563 h 1055"/>
                  <a:gd name="T60" fmla="*/ 942 w 1053"/>
                  <a:gd name="T61" fmla="*/ 563 h 1055"/>
                  <a:gd name="T62" fmla="*/ 810 w 1053"/>
                  <a:gd name="T63" fmla="*/ 221 h 1055"/>
                  <a:gd name="T64" fmla="*/ 810 w 1053"/>
                  <a:gd name="T65" fmla="*/ 221 h 1055"/>
                  <a:gd name="T66" fmla="*/ 563 w 1053"/>
                  <a:gd name="T67" fmla="*/ 111 h 1055"/>
                  <a:gd name="T68" fmla="*/ 563 w 1053"/>
                  <a:gd name="T69" fmla="*/ 111 h 1055"/>
                  <a:gd name="T70" fmla="*/ 221 w 1053"/>
                  <a:gd name="T71" fmla="*/ 244 h 1055"/>
                  <a:gd name="T72" fmla="*/ 221 w 1053"/>
                  <a:gd name="T73" fmla="*/ 244 h 10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53" h="1055">
                    <a:moveTo>
                      <a:pt x="482" y="1042"/>
                    </a:moveTo>
                    <a:cubicBezTo>
                      <a:pt x="372" y="1032"/>
                      <a:pt x="264" y="987"/>
                      <a:pt x="177" y="906"/>
                    </a:cubicBezTo>
                    <a:cubicBezTo>
                      <a:pt x="177" y="906"/>
                      <a:pt x="177" y="906"/>
                      <a:pt x="177" y="906"/>
                    </a:cubicBezTo>
                    <a:cubicBezTo>
                      <a:pt x="55" y="794"/>
                      <a:pt x="0" y="636"/>
                      <a:pt x="13" y="483"/>
                    </a:cubicBezTo>
                    <a:cubicBezTo>
                      <a:pt x="13" y="483"/>
                      <a:pt x="13" y="483"/>
                      <a:pt x="13" y="483"/>
                    </a:cubicBezTo>
                    <a:cubicBezTo>
                      <a:pt x="23" y="373"/>
                      <a:pt x="68" y="264"/>
                      <a:pt x="148" y="177"/>
                    </a:cubicBezTo>
                    <a:cubicBezTo>
                      <a:pt x="148" y="177"/>
                      <a:pt x="148" y="177"/>
                      <a:pt x="148" y="177"/>
                    </a:cubicBezTo>
                    <a:cubicBezTo>
                      <a:pt x="148" y="177"/>
                      <a:pt x="148" y="177"/>
                      <a:pt x="148" y="177"/>
                    </a:cubicBezTo>
                    <a:cubicBezTo>
                      <a:pt x="261" y="55"/>
                      <a:pt x="418" y="0"/>
                      <a:pt x="571" y="13"/>
                    </a:cubicBezTo>
                    <a:cubicBezTo>
                      <a:pt x="571" y="13"/>
                      <a:pt x="571" y="13"/>
                      <a:pt x="571" y="13"/>
                    </a:cubicBezTo>
                    <a:cubicBezTo>
                      <a:pt x="681" y="22"/>
                      <a:pt x="789" y="67"/>
                      <a:pt x="877" y="148"/>
                    </a:cubicBezTo>
                    <a:cubicBezTo>
                      <a:pt x="877" y="148"/>
                      <a:pt x="877" y="148"/>
                      <a:pt x="877" y="148"/>
                    </a:cubicBezTo>
                    <a:cubicBezTo>
                      <a:pt x="998" y="261"/>
                      <a:pt x="1053" y="418"/>
                      <a:pt x="1040" y="572"/>
                    </a:cubicBezTo>
                    <a:cubicBezTo>
                      <a:pt x="1040" y="572"/>
                      <a:pt x="1040" y="572"/>
                      <a:pt x="1040" y="572"/>
                    </a:cubicBezTo>
                    <a:cubicBezTo>
                      <a:pt x="1031" y="682"/>
                      <a:pt x="986" y="790"/>
                      <a:pt x="905" y="878"/>
                    </a:cubicBezTo>
                    <a:cubicBezTo>
                      <a:pt x="905" y="878"/>
                      <a:pt x="905" y="878"/>
                      <a:pt x="905" y="878"/>
                    </a:cubicBezTo>
                    <a:cubicBezTo>
                      <a:pt x="793" y="999"/>
                      <a:pt x="635" y="1055"/>
                      <a:pt x="483" y="1042"/>
                    </a:cubicBezTo>
                    <a:cubicBezTo>
                      <a:pt x="483" y="1042"/>
                      <a:pt x="483" y="1042"/>
                      <a:pt x="483" y="1042"/>
                    </a:cubicBezTo>
                    <a:cubicBezTo>
                      <a:pt x="482" y="1042"/>
                      <a:pt x="482" y="1042"/>
                      <a:pt x="482" y="1042"/>
                    </a:cubicBezTo>
                    <a:close/>
                    <a:moveTo>
                      <a:pt x="221" y="244"/>
                    </a:moveTo>
                    <a:cubicBezTo>
                      <a:pt x="221" y="244"/>
                      <a:pt x="221" y="244"/>
                      <a:pt x="221" y="244"/>
                    </a:cubicBezTo>
                    <a:cubicBezTo>
                      <a:pt x="155" y="315"/>
                      <a:pt x="119" y="402"/>
                      <a:pt x="112" y="491"/>
                    </a:cubicBezTo>
                    <a:cubicBezTo>
                      <a:pt x="112" y="491"/>
                      <a:pt x="112" y="491"/>
                      <a:pt x="112" y="491"/>
                    </a:cubicBezTo>
                    <a:cubicBezTo>
                      <a:pt x="101" y="615"/>
                      <a:pt x="145" y="743"/>
                      <a:pt x="244" y="834"/>
                    </a:cubicBezTo>
                    <a:cubicBezTo>
                      <a:pt x="244" y="834"/>
                      <a:pt x="244" y="834"/>
                      <a:pt x="244" y="834"/>
                    </a:cubicBezTo>
                    <a:cubicBezTo>
                      <a:pt x="315" y="899"/>
                      <a:pt x="402" y="935"/>
                      <a:pt x="491" y="943"/>
                    </a:cubicBezTo>
                    <a:cubicBezTo>
                      <a:pt x="491" y="943"/>
                      <a:pt x="491" y="943"/>
                      <a:pt x="491" y="943"/>
                    </a:cubicBezTo>
                    <a:cubicBezTo>
                      <a:pt x="615" y="954"/>
                      <a:pt x="742" y="909"/>
                      <a:pt x="833" y="810"/>
                    </a:cubicBezTo>
                    <a:cubicBezTo>
                      <a:pt x="833" y="810"/>
                      <a:pt x="833" y="810"/>
                      <a:pt x="833" y="810"/>
                    </a:cubicBezTo>
                    <a:cubicBezTo>
                      <a:pt x="898" y="740"/>
                      <a:pt x="934" y="652"/>
                      <a:pt x="942" y="563"/>
                    </a:cubicBezTo>
                    <a:cubicBezTo>
                      <a:pt x="942" y="563"/>
                      <a:pt x="942" y="563"/>
                      <a:pt x="942" y="563"/>
                    </a:cubicBezTo>
                    <a:cubicBezTo>
                      <a:pt x="952" y="439"/>
                      <a:pt x="908" y="312"/>
                      <a:pt x="810" y="221"/>
                    </a:cubicBezTo>
                    <a:cubicBezTo>
                      <a:pt x="810" y="221"/>
                      <a:pt x="810" y="221"/>
                      <a:pt x="810" y="221"/>
                    </a:cubicBezTo>
                    <a:cubicBezTo>
                      <a:pt x="739" y="155"/>
                      <a:pt x="652" y="119"/>
                      <a:pt x="563" y="111"/>
                    </a:cubicBezTo>
                    <a:cubicBezTo>
                      <a:pt x="563" y="111"/>
                      <a:pt x="563" y="111"/>
                      <a:pt x="563" y="111"/>
                    </a:cubicBezTo>
                    <a:cubicBezTo>
                      <a:pt x="439" y="101"/>
                      <a:pt x="312" y="145"/>
                      <a:pt x="221" y="244"/>
                    </a:cubicBezTo>
                    <a:cubicBezTo>
                      <a:pt x="221" y="244"/>
                      <a:pt x="221" y="244"/>
                      <a:pt x="221" y="244"/>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64" name="组合 63"/>
          <p:cNvGrpSpPr/>
          <p:nvPr/>
        </p:nvGrpSpPr>
        <p:grpSpPr>
          <a:xfrm>
            <a:off x="3085639" y="4566729"/>
            <a:ext cx="3140530" cy="461665"/>
            <a:chOff x="3306495" y="4164805"/>
            <a:chExt cx="3140530" cy="461665"/>
          </a:xfrm>
        </p:grpSpPr>
        <p:sp>
          <p:nvSpPr>
            <p:cNvPr id="65" name="TextBox 55"/>
            <p:cNvSpPr txBox="1"/>
            <p:nvPr/>
          </p:nvSpPr>
          <p:spPr>
            <a:xfrm>
              <a:off x="3306495" y="4164805"/>
              <a:ext cx="3140530" cy="461665"/>
            </a:xfrm>
            <a:prstGeom prst="rect">
              <a:avLst/>
            </a:prstGeom>
            <a:noFill/>
          </p:spPr>
          <p:txBody>
            <a:bodyPr wrap="square" rtlCol="0">
              <a:spAutoFit/>
            </a:bodyPr>
            <a:lstStyle/>
            <a:p>
              <a:pPr algn="ctr"/>
              <a:r>
                <a:rPr lang="zh-CN" altLang="en-US" sz="2400" b="1" dirty="0">
                  <a:solidFill>
                    <a:srgbClr val="072063"/>
                  </a:solidFill>
                </a:rPr>
                <a:t>预期研究成果</a:t>
              </a:r>
            </a:p>
          </p:txBody>
        </p:sp>
        <p:cxnSp>
          <p:nvCxnSpPr>
            <p:cNvPr id="66" name="直接连接符 65"/>
            <p:cNvCxnSpPr/>
            <p:nvPr/>
          </p:nvCxnSpPr>
          <p:spPr>
            <a:xfrm>
              <a:off x="3419872" y="4597351"/>
              <a:ext cx="2954123"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67" name="组合 66"/>
          <p:cNvGrpSpPr/>
          <p:nvPr/>
        </p:nvGrpSpPr>
        <p:grpSpPr>
          <a:xfrm>
            <a:off x="2383937" y="5340520"/>
            <a:ext cx="605681" cy="605681"/>
            <a:chOff x="2627784" y="2503949"/>
            <a:chExt cx="605681" cy="605681"/>
          </a:xfrm>
        </p:grpSpPr>
        <p:sp>
          <p:nvSpPr>
            <p:cNvPr id="68" name="椭圆 67"/>
            <p:cNvSpPr/>
            <p:nvPr/>
          </p:nvSpPr>
          <p:spPr>
            <a:xfrm>
              <a:off x="2627784" y="2503949"/>
              <a:ext cx="605681" cy="605681"/>
            </a:xfrm>
            <a:prstGeom prst="ellipse">
              <a:avLst/>
            </a:prstGeom>
            <a:solidFill>
              <a:srgbClr val="0720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lumMod val="65000"/>
                    <a:lumOff val="35000"/>
                  </a:schemeClr>
                </a:solidFill>
              </a:endParaRPr>
            </a:p>
          </p:txBody>
        </p:sp>
        <p:grpSp>
          <p:nvGrpSpPr>
            <p:cNvPr id="69" name="Group 61"/>
            <p:cNvGrpSpPr>
              <a:grpSpLocks noChangeAspect="1"/>
            </p:cNvGrpSpPr>
            <p:nvPr/>
          </p:nvGrpSpPr>
          <p:grpSpPr bwMode="auto">
            <a:xfrm>
              <a:off x="2727513" y="2603678"/>
              <a:ext cx="406222" cy="406222"/>
              <a:chOff x="569" y="2009"/>
              <a:chExt cx="687" cy="687"/>
            </a:xfrm>
          </p:grpSpPr>
          <p:sp>
            <p:nvSpPr>
              <p:cNvPr id="70" name="Freeform 62"/>
              <p:cNvSpPr/>
              <p:nvPr/>
            </p:nvSpPr>
            <p:spPr bwMode="auto">
              <a:xfrm>
                <a:off x="982" y="2026"/>
                <a:ext cx="260" cy="259"/>
              </a:xfrm>
              <a:custGeom>
                <a:avLst/>
                <a:gdLst>
                  <a:gd name="T0" fmla="*/ 44 w 110"/>
                  <a:gd name="T1" fmla="*/ 110 h 110"/>
                  <a:gd name="T2" fmla="*/ 110 w 110"/>
                  <a:gd name="T3" fmla="*/ 110 h 110"/>
                  <a:gd name="T4" fmla="*/ 0 w 110"/>
                  <a:gd name="T5" fmla="*/ 0 h 110"/>
                  <a:gd name="T6" fmla="*/ 0 w 110"/>
                  <a:gd name="T7" fmla="*/ 65 h 110"/>
                  <a:gd name="T8" fmla="*/ 44 w 110"/>
                  <a:gd name="T9" fmla="*/ 110 h 110"/>
                </a:gdLst>
                <a:ahLst/>
                <a:cxnLst>
                  <a:cxn ang="0">
                    <a:pos x="T0" y="T1"/>
                  </a:cxn>
                  <a:cxn ang="0">
                    <a:pos x="T2" y="T3"/>
                  </a:cxn>
                  <a:cxn ang="0">
                    <a:pos x="T4" y="T5"/>
                  </a:cxn>
                  <a:cxn ang="0">
                    <a:pos x="T6" y="T7"/>
                  </a:cxn>
                  <a:cxn ang="0">
                    <a:pos x="T8" y="T9"/>
                  </a:cxn>
                </a:cxnLst>
                <a:rect l="0" t="0" r="r" b="b"/>
                <a:pathLst>
                  <a:path w="110" h="110">
                    <a:moveTo>
                      <a:pt x="44" y="110"/>
                    </a:moveTo>
                    <a:cubicBezTo>
                      <a:pt x="110" y="110"/>
                      <a:pt x="110" y="110"/>
                      <a:pt x="110" y="110"/>
                    </a:cubicBezTo>
                    <a:cubicBezTo>
                      <a:pt x="98" y="54"/>
                      <a:pt x="55" y="11"/>
                      <a:pt x="0" y="0"/>
                    </a:cubicBezTo>
                    <a:cubicBezTo>
                      <a:pt x="0" y="65"/>
                      <a:pt x="0" y="65"/>
                      <a:pt x="0" y="65"/>
                    </a:cubicBezTo>
                    <a:cubicBezTo>
                      <a:pt x="20" y="73"/>
                      <a:pt x="36" y="90"/>
                      <a:pt x="44" y="11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63"/>
              <p:cNvSpPr/>
              <p:nvPr/>
            </p:nvSpPr>
            <p:spPr bwMode="auto">
              <a:xfrm>
                <a:off x="586" y="2026"/>
                <a:ext cx="259" cy="259"/>
              </a:xfrm>
              <a:custGeom>
                <a:avLst/>
                <a:gdLst>
                  <a:gd name="T0" fmla="*/ 110 w 110"/>
                  <a:gd name="T1" fmla="*/ 65 h 110"/>
                  <a:gd name="T2" fmla="*/ 110 w 110"/>
                  <a:gd name="T3" fmla="*/ 0 h 110"/>
                  <a:gd name="T4" fmla="*/ 0 w 110"/>
                  <a:gd name="T5" fmla="*/ 110 h 110"/>
                  <a:gd name="T6" fmla="*/ 66 w 110"/>
                  <a:gd name="T7" fmla="*/ 110 h 110"/>
                  <a:gd name="T8" fmla="*/ 110 w 110"/>
                  <a:gd name="T9" fmla="*/ 65 h 110"/>
                </a:gdLst>
                <a:ahLst/>
                <a:cxnLst>
                  <a:cxn ang="0">
                    <a:pos x="T0" y="T1"/>
                  </a:cxn>
                  <a:cxn ang="0">
                    <a:pos x="T2" y="T3"/>
                  </a:cxn>
                  <a:cxn ang="0">
                    <a:pos x="T4" y="T5"/>
                  </a:cxn>
                  <a:cxn ang="0">
                    <a:pos x="T6" y="T7"/>
                  </a:cxn>
                  <a:cxn ang="0">
                    <a:pos x="T8" y="T9"/>
                  </a:cxn>
                </a:cxnLst>
                <a:rect l="0" t="0" r="r" b="b"/>
                <a:pathLst>
                  <a:path w="110" h="110">
                    <a:moveTo>
                      <a:pt x="110" y="65"/>
                    </a:moveTo>
                    <a:cubicBezTo>
                      <a:pt x="110" y="0"/>
                      <a:pt x="110" y="0"/>
                      <a:pt x="110" y="0"/>
                    </a:cubicBezTo>
                    <a:cubicBezTo>
                      <a:pt x="55" y="11"/>
                      <a:pt x="11" y="54"/>
                      <a:pt x="0" y="110"/>
                    </a:cubicBezTo>
                    <a:cubicBezTo>
                      <a:pt x="66" y="110"/>
                      <a:pt x="66" y="110"/>
                      <a:pt x="66" y="110"/>
                    </a:cubicBezTo>
                    <a:cubicBezTo>
                      <a:pt x="74" y="90"/>
                      <a:pt x="90" y="73"/>
                      <a:pt x="110" y="6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64"/>
              <p:cNvSpPr/>
              <p:nvPr/>
            </p:nvSpPr>
            <p:spPr bwMode="auto">
              <a:xfrm>
                <a:off x="982" y="2420"/>
                <a:ext cx="260" cy="262"/>
              </a:xfrm>
              <a:custGeom>
                <a:avLst/>
                <a:gdLst>
                  <a:gd name="T0" fmla="*/ 0 w 110"/>
                  <a:gd name="T1" fmla="*/ 45 h 111"/>
                  <a:gd name="T2" fmla="*/ 0 w 110"/>
                  <a:gd name="T3" fmla="*/ 111 h 111"/>
                  <a:gd name="T4" fmla="*/ 110 w 110"/>
                  <a:gd name="T5" fmla="*/ 0 h 111"/>
                  <a:gd name="T6" fmla="*/ 44 w 110"/>
                  <a:gd name="T7" fmla="*/ 0 h 111"/>
                  <a:gd name="T8" fmla="*/ 0 w 110"/>
                  <a:gd name="T9" fmla="*/ 45 h 111"/>
                </a:gdLst>
                <a:ahLst/>
                <a:cxnLst>
                  <a:cxn ang="0">
                    <a:pos x="T0" y="T1"/>
                  </a:cxn>
                  <a:cxn ang="0">
                    <a:pos x="T2" y="T3"/>
                  </a:cxn>
                  <a:cxn ang="0">
                    <a:pos x="T4" y="T5"/>
                  </a:cxn>
                  <a:cxn ang="0">
                    <a:pos x="T6" y="T7"/>
                  </a:cxn>
                  <a:cxn ang="0">
                    <a:pos x="T8" y="T9"/>
                  </a:cxn>
                </a:cxnLst>
                <a:rect l="0" t="0" r="r" b="b"/>
                <a:pathLst>
                  <a:path w="110" h="111">
                    <a:moveTo>
                      <a:pt x="0" y="45"/>
                    </a:moveTo>
                    <a:cubicBezTo>
                      <a:pt x="0" y="111"/>
                      <a:pt x="0" y="111"/>
                      <a:pt x="0" y="111"/>
                    </a:cubicBezTo>
                    <a:cubicBezTo>
                      <a:pt x="55" y="99"/>
                      <a:pt x="98" y="56"/>
                      <a:pt x="110" y="0"/>
                    </a:cubicBezTo>
                    <a:cubicBezTo>
                      <a:pt x="44" y="0"/>
                      <a:pt x="44" y="0"/>
                      <a:pt x="44" y="0"/>
                    </a:cubicBezTo>
                    <a:cubicBezTo>
                      <a:pt x="36" y="21"/>
                      <a:pt x="20" y="37"/>
                      <a:pt x="0" y="4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65"/>
              <p:cNvSpPr/>
              <p:nvPr/>
            </p:nvSpPr>
            <p:spPr bwMode="auto">
              <a:xfrm>
                <a:off x="586" y="2420"/>
                <a:ext cx="259" cy="262"/>
              </a:xfrm>
              <a:custGeom>
                <a:avLst/>
                <a:gdLst>
                  <a:gd name="T0" fmla="*/ 66 w 110"/>
                  <a:gd name="T1" fmla="*/ 0 h 111"/>
                  <a:gd name="T2" fmla="*/ 0 w 110"/>
                  <a:gd name="T3" fmla="*/ 0 h 111"/>
                  <a:gd name="T4" fmla="*/ 110 w 110"/>
                  <a:gd name="T5" fmla="*/ 111 h 111"/>
                  <a:gd name="T6" fmla="*/ 110 w 110"/>
                  <a:gd name="T7" fmla="*/ 45 h 111"/>
                  <a:gd name="T8" fmla="*/ 66 w 110"/>
                  <a:gd name="T9" fmla="*/ 0 h 111"/>
                </a:gdLst>
                <a:ahLst/>
                <a:cxnLst>
                  <a:cxn ang="0">
                    <a:pos x="T0" y="T1"/>
                  </a:cxn>
                  <a:cxn ang="0">
                    <a:pos x="T2" y="T3"/>
                  </a:cxn>
                  <a:cxn ang="0">
                    <a:pos x="T4" y="T5"/>
                  </a:cxn>
                  <a:cxn ang="0">
                    <a:pos x="T6" y="T7"/>
                  </a:cxn>
                  <a:cxn ang="0">
                    <a:pos x="T8" y="T9"/>
                  </a:cxn>
                </a:cxnLst>
                <a:rect l="0" t="0" r="r" b="b"/>
                <a:pathLst>
                  <a:path w="110" h="111">
                    <a:moveTo>
                      <a:pt x="66" y="0"/>
                    </a:moveTo>
                    <a:cubicBezTo>
                      <a:pt x="0" y="0"/>
                      <a:pt x="0" y="0"/>
                      <a:pt x="0" y="0"/>
                    </a:cubicBezTo>
                    <a:cubicBezTo>
                      <a:pt x="11" y="56"/>
                      <a:pt x="55" y="99"/>
                      <a:pt x="110" y="111"/>
                    </a:cubicBezTo>
                    <a:cubicBezTo>
                      <a:pt x="110" y="45"/>
                      <a:pt x="110" y="45"/>
                      <a:pt x="110" y="45"/>
                    </a:cubicBezTo>
                    <a:cubicBezTo>
                      <a:pt x="90" y="37"/>
                      <a:pt x="74" y="21"/>
                      <a:pt x="66"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66"/>
              <p:cNvSpPr>
                <a:spLocks noEditPoints="1"/>
              </p:cNvSpPr>
              <p:nvPr/>
            </p:nvSpPr>
            <p:spPr bwMode="auto">
              <a:xfrm>
                <a:off x="569" y="2009"/>
                <a:ext cx="687" cy="687"/>
              </a:xfrm>
              <a:custGeom>
                <a:avLst/>
                <a:gdLst>
                  <a:gd name="T0" fmla="*/ 146 w 291"/>
                  <a:gd name="T1" fmla="*/ 66 h 291"/>
                  <a:gd name="T2" fmla="*/ 168 w 291"/>
                  <a:gd name="T3" fmla="*/ 70 h 291"/>
                  <a:gd name="T4" fmla="*/ 169 w 291"/>
                  <a:gd name="T5" fmla="*/ 64 h 291"/>
                  <a:gd name="T6" fmla="*/ 169 w 291"/>
                  <a:gd name="T7" fmla="*/ 11 h 291"/>
                  <a:gd name="T8" fmla="*/ 158 w 291"/>
                  <a:gd name="T9" fmla="*/ 0 h 291"/>
                  <a:gd name="T10" fmla="*/ 134 w 291"/>
                  <a:gd name="T11" fmla="*/ 0 h 291"/>
                  <a:gd name="T12" fmla="*/ 122 w 291"/>
                  <a:gd name="T13" fmla="*/ 11 h 291"/>
                  <a:gd name="T14" fmla="*/ 122 w 291"/>
                  <a:gd name="T15" fmla="*/ 64 h 291"/>
                  <a:gd name="T16" fmla="*/ 124 w 291"/>
                  <a:gd name="T17" fmla="*/ 70 h 291"/>
                  <a:gd name="T18" fmla="*/ 146 w 291"/>
                  <a:gd name="T19" fmla="*/ 66 h 291"/>
                  <a:gd name="T20" fmla="*/ 64 w 291"/>
                  <a:gd name="T21" fmla="*/ 122 h 291"/>
                  <a:gd name="T22" fmla="*/ 12 w 291"/>
                  <a:gd name="T23" fmla="*/ 122 h 291"/>
                  <a:gd name="T24" fmla="*/ 0 w 291"/>
                  <a:gd name="T25" fmla="*/ 133 h 291"/>
                  <a:gd name="T26" fmla="*/ 0 w 291"/>
                  <a:gd name="T27" fmla="*/ 158 h 291"/>
                  <a:gd name="T28" fmla="*/ 12 w 291"/>
                  <a:gd name="T29" fmla="*/ 169 h 291"/>
                  <a:gd name="T30" fmla="*/ 64 w 291"/>
                  <a:gd name="T31" fmla="*/ 169 h 291"/>
                  <a:gd name="T32" fmla="*/ 70 w 291"/>
                  <a:gd name="T33" fmla="*/ 167 h 291"/>
                  <a:gd name="T34" fmla="*/ 67 w 291"/>
                  <a:gd name="T35" fmla="*/ 145 h 291"/>
                  <a:gd name="T36" fmla="*/ 70 w 291"/>
                  <a:gd name="T37" fmla="*/ 123 h 291"/>
                  <a:gd name="T38" fmla="*/ 64 w 291"/>
                  <a:gd name="T39" fmla="*/ 122 h 291"/>
                  <a:gd name="T40" fmla="*/ 146 w 291"/>
                  <a:gd name="T41" fmla="*/ 224 h 291"/>
                  <a:gd name="T42" fmla="*/ 124 w 291"/>
                  <a:gd name="T43" fmla="*/ 221 h 291"/>
                  <a:gd name="T44" fmla="*/ 122 w 291"/>
                  <a:gd name="T45" fmla="*/ 227 h 291"/>
                  <a:gd name="T46" fmla="*/ 122 w 291"/>
                  <a:gd name="T47" fmla="*/ 279 h 291"/>
                  <a:gd name="T48" fmla="*/ 134 w 291"/>
                  <a:gd name="T49" fmla="*/ 291 h 291"/>
                  <a:gd name="T50" fmla="*/ 158 w 291"/>
                  <a:gd name="T51" fmla="*/ 291 h 291"/>
                  <a:gd name="T52" fmla="*/ 169 w 291"/>
                  <a:gd name="T53" fmla="*/ 279 h 291"/>
                  <a:gd name="T54" fmla="*/ 169 w 291"/>
                  <a:gd name="T55" fmla="*/ 227 h 291"/>
                  <a:gd name="T56" fmla="*/ 168 w 291"/>
                  <a:gd name="T57" fmla="*/ 221 h 291"/>
                  <a:gd name="T58" fmla="*/ 146 w 291"/>
                  <a:gd name="T59" fmla="*/ 224 h 291"/>
                  <a:gd name="T60" fmla="*/ 280 w 291"/>
                  <a:gd name="T61" fmla="*/ 122 h 291"/>
                  <a:gd name="T62" fmla="*/ 227 w 291"/>
                  <a:gd name="T63" fmla="*/ 122 h 291"/>
                  <a:gd name="T64" fmla="*/ 222 w 291"/>
                  <a:gd name="T65" fmla="*/ 123 h 291"/>
                  <a:gd name="T66" fmla="*/ 225 w 291"/>
                  <a:gd name="T67" fmla="*/ 145 h 291"/>
                  <a:gd name="T68" fmla="*/ 222 w 291"/>
                  <a:gd name="T69" fmla="*/ 167 h 291"/>
                  <a:gd name="T70" fmla="*/ 227 w 291"/>
                  <a:gd name="T71" fmla="*/ 169 h 291"/>
                  <a:gd name="T72" fmla="*/ 280 w 291"/>
                  <a:gd name="T73" fmla="*/ 169 h 291"/>
                  <a:gd name="T74" fmla="*/ 291 w 291"/>
                  <a:gd name="T75" fmla="*/ 158 h 291"/>
                  <a:gd name="T76" fmla="*/ 291 w 291"/>
                  <a:gd name="T77" fmla="*/ 133 h 291"/>
                  <a:gd name="T78" fmla="*/ 280 w 291"/>
                  <a:gd name="T79" fmla="*/ 122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91" h="291">
                    <a:moveTo>
                      <a:pt x="146" y="66"/>
                    </a:moveTo>
                    <a:cubicBezTo>
                      <a:pt x="153" y="66"/>
                      <a:pt x="161" y="68"/>
                      <a:pt x="168" y="70"/>
                    </a:cubicBezTo>
                    <a:cubicBezTo>
                      <a:pt x="169" y="68"/>
                      <a:pt x="169" y="66"/>
                      <a:pt x="169" y="64"/>
                    </a:cubicBezTo>
                    <a:cubicBezTo>
                      <a:pt x="169" y="11"/>
                      <a:pt x="169" y="11"/>
                      <a:pt x="169" y="11"/>
                    </a:cubicBezTo>
                    <a:cubicBezTo>
                      <a:pt x="169" y="5"/>
                      <a:pt x="164" y="0"/>
                      <a:pt x="158" y="0"/>
                    </a:cubicBezTo>
                    <a:cubicBezTo>
                      <a:pt x="134" y="0"/>
                      <a:pt x="134" y="0"/>
                      <a:pt x="134" y="0"/>
                    </a:cubicBezTo>
                    <a:cubicBezTo>
                      <a:pt x="127" y="0"/>
                      <a:pt x="122" y="5"/>
                      <a:pt x="122" y="11"/>
                    </a:cubicBezTo>
                    <a:cubicBezTo>
                      <a:pt x="122" y="64"/>
                      <a:pt x="122" y="64"/>
                      <a:pt x="122" y="64"/>
                    </a:cubicBezTo>
                    <a:cubicBezTo>
                      <a:pt x="122" y="66"/>
                      <a:pt x="123" y="68"/>
                      <a:pt x="124" y="70"/>
                    </a:cubicBezTo>
                    <a:cubicBezTo>
                      <a:pt x="131" y="68"/>
                      <a:pt x="138" y="66"/>
                      <a:pt x="146" y="66"/>
                    </a:cubicBezTo>
                    <a:close/>
                    <a:moveTo>
                      <a:pt x="64" y="122"/>
                    </a:moveTo>
                    <a:cubicBezTo>
                      <a:pt x="12" y="122"/>
                      <a:pt x="12" y="122"/>
                      <a:pt x="12" y="122"/>
                    </a:cubicBezTo>
                    <a:cubicBezTo>
                      <a:pt x="5" y="122"/>
                      <a:pt x="0" y="127"/>
                      <a:pt x="0" y="133"/>
                    </a:cubicBezTo>
                    <a:cubicBezTo>
                      <a:pt x="0" y="158"/>
                      <a:pt x="0" y="158"/>
                      <a:pt x="0" y="158"/>
                    </a:cubicBezTo>
                    <a:cubicBezTo>
                      <a:pt x="0" y="164"/>
                      <a:pt x="5" y="169"/>
                      <a:pt x="12" y="169"/>
                    </a:cubicBezTo>
                    <a:cubicBezTo>
                      <a:pt x="64" y="169"/>
                      <a:pt x="64" y="169"/>
                      <a:pt x="64" y="169"/>
                    </a:cubicBezTo>
                    <a:cubicBezTo>
                      <a:pt x="66" y="169"/>
                      <a:pt x="68" y="168"/>
                      <a:pt x="70" y="167"/>
                    </a:cubicBezTo>
                    <a:cubicBezTo>
                      <a:pt x="68" y="160"/>
                      <a:pt x="67" y="153"/>
                      <a:pt x="67" y="145"/>
                    </a:cubicBezTo>
                    <a:cubicBezTo>
                      <a:pt x="67" y="138"/>
                      <a:pt x="68" y="130"/>
                      <a:pt x="70" y="123"/>
                    </a:cubicBezTo>
                    <a:cubicBezTo>
                      <a:pt x="68" y="122"/>
                      <a:pt x="66" y="122"/>
                      <a:pt x="64" y="122"/>
                    </a:cubicBezTo>
                    <a:close/>
                    <a:moveTo>
                      <a:pt x="146" y="224"/>
                    </a:moveTo>
                    <a:cubicBezTo>
                      <a:pt x="138" y="224"/>
                      <a:pt x="131" y="223"/>
                      <a:pt x="124" y="221"/>
                    </a:cubicBezTo>
                    <a:cubicBezTo>
                      <a:pt x="123" y="223"/>
                      <a:pt x="122" y="225"/>
                      <a:pt x="122" y="227"/>
                    </a:cubicBezTo>
                    <a:cubicBezTo>
                      <a:pt x="122" y="279"/>
                      <a:pt x="122" y="279"/>
                      <a:pt x="122" y="279"/>
                    </a:cubicBezTo>
                    <a:cubicBezTo>
                      <a:pt x="122" y="286"/>
                      <a:pt x="127" y="291"/>
                      <a:pt x="134" y="291"/>
                    </a:cubicBezTo>
                    <a:cubicBezTo>
                      <a:pt x="158" y="291"/>
                      <a:pt x="158" y="291"/>
                      <a:pt x="158" y="291"/>
                    </a:cubicBezTo>
                    <a:cubicBezTo>
                      <a:pt x="164" y="291"/>
                      <a:pt x="169" y="286"/>
                      <a:pt x="169" y="279"/>
                    </a:cubicBezTo>
                    <a:cubicBezTo>
                      <a:pt x="169" y="227"/>
                      <a:pt x="169" y="227"/>
                      <a:pt x="169" y="227"/>
                    </a:cubicBezTo>
                    <a:cubicBezTo>
                      <a:pt x="169" y="225"/>
                      <a:pt x="169" y="223"/>
                      <a:pt x="168" y="221"/>
                    </a:cubicBezTo>
                    <a:cubicBezTo>
                      <a:pt x="161" y="223"/>
                      <a:pt x="153" y="224"/>
                      <a:pt x="146" y="224"/>
                    </a:cubicBezTo>
                    <a:close/>
                    <a:moveTo>
                      <a:pt x="280" y="122"/>
                    </a:moveTo>
                    <a:cubicBezTo>
                      <a:pt x="227" y="122"/>
                      <a:pt x="227" y="122"/>
                      <a:pt x="227" y="122"/>
                    </a:cubicBezTo>
                    <a:cubicBezTo>
                      <a:pt x="225" y="122"/>
                      <a:pt x="223" y="122"/>
                      <a:pt x="222" y="123"/>
                    </a:cubicBezTo>
                    <a:cubicBezTo>
                      <a:pt x="224" y="130"/>
                      <a:pt x="225" y="138"/>
                      <a:pt x="225" y="145"/>
                    </a:cubicBezTo>
                    <a:cubicBezTo>
                      <a:pt x="225" y="153"/>
                      <a:pt x="224" y="160"/>
                      <a:pt x="222" y="167"/>
                    </a:cubicBezTo>
                    <a:cubicBezTo>
                      <a:pt x="223" y="168"/>
                      <a:pt x="225" y="169"/>
                      <a:pt x="227" y="169"/>
                    </a:cubicBezTo>
                    <a:cubicBezTo>
                      <a:pt x="280" y="169"/>
                      <a:pt x="280" y="169"/>
                      <a:pt x="280" y="169"/>
                    </a:cubicBezTo>
                    <a:cubicBezTo>
                      <a:pt x="286" y="169"/>
                      <a:pt x="291" y="164"/>
                      <a:pt x="291" y="158"/>
                    </a:cubicBezTo>
                    <a:cubicBezTo>
                      <a:pt x="291" y="133"/>
                      <a:pt x="291" y="133"/>
                      <a:pt x="291" y="133"/>
                    </a:cubicBezTo>
                    <a:cubicBezTo>
                      <a:pt x="291" y="127"/>
                      <a:pt x="286" y="122"/>
                      <a:pt x="280" y="1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75" name="组合 74"/>
          <p:cNvGrpSpPr/>
          <p:nvPr/>
        </p:nvGrpSpPr>
        <p:grpSpPr>
          <a:xfrm>
            <a:off x="3097123" y="5370623"/>
            <a:ext cx="3140530" cy="461665"/>
            <a:chOff x="3303678" y="4179811"/>
            <a:chExt cx="3140530" cy="461665"/>
          </a:xfrm>
        </p:grpSpPr>
        <p:sp>
          <p:nvSpPr>
            <p:cNvPr id="76" name="TextBox 55"/>
            <p:cNvSpPr txBox="1"/>
            <p:nvPr/>
          </p:nvSpPr>
          <p:spPr>
            <a:xfrm>
              <a:off x="3303678" y="4179811"/>
              <a:ext cx="3140530" cy="461665"/>
            </a:xfrm>
            <a:prstGeom prst="rect">
              <a:avLst/>
            </a:prstGeom>
            <a:noFill/>
          </p:spPr>
          <p:txBody>
            <a:bodyPr wrap="square" rtlCol="0">
              <a:spAutoFit/>
            </a:bodyPr>
            <a:lstStyle/>
            <a:p>
              <a:pPr algn="ctr"/>
              <a:r>
                <a:rPr lang="zh-CN" altLang="en-US" sz="2400" b="1" dirty="0">
                  <a:solidFill>
                    <a:srgbClr val="072063"/>
                  </a:solidFill>
                </a:rPr>
                <a:t>总结</a:t>
              </a:r>
            </a:p>
          </p:txBody>
        </p:sp>
        <p:cxnSp>
          <p:nvCxnSpPr>
            <p:cNvPr id="77" name="直接连接符 76"/>
            <p:cNvCxnSpPr/>
            <p:nvPr/>
          </p:nvCxnSpPr>
          <p:spPr>
            <a:xfrm>
              <a:off x="3419872" y="4597351"/>
              <a:ext cx="2954123"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advTm="6085">
        <p:fade/>
      </p:transition>
    </mc:Choice>
    <mc:Fallback xmlns="">
      <p:transition spd="med" advTm="6085">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p:cNvPicPr>
            <a:picLocks noChangeAspect="1" noChangeArrowheads="1"/>
          </p:cNvPicPr>
          <p:nvPr/>
        </p:nvPicPr>
        <p:blipFill rotWithShape="1">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767" r="7205" b="57679"/>
          <a:stretch>
            <a:fillRect/>
          </a:stretch>
        </p:blipFill>
        <p:spPr bwMode="auto">
          <a:xfrm rot="10800000">
            <a:off x="943962" y="5049379"/>
            <a:ext cx="7272808" cy="469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3"/>
          <p:cNvPicPr>
            <a:picLocks noChangeAspect="1" noChangeArrowheads="1"/>
          </p:cNvPicPr>
          <p:nvPr/>
        </p:nvPicPr>
        <p:blipFill rotWithShape="1">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767" r="7205" b="57679"/>
          <a:stretch>
            <a:fillRect/>
          </a:stretch>
        </p:blipFill>
        <p:spPr bwMode="auto">
          <a:xfrm rot="10800000" flipV="1">
            <a:off x="943962" y="1665861"/>
            <a:ext cx="7272808" cy="469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0" name="组合 19"/>
          <p:cNvGrpSpPr/>
          <p:nvPr/>
        </p:nvGrpSpPr>
        <p:grpSpPr>
          <a:xfrm>
            <a:off x="2214618" y="2425705"/>
            <a:ext cx="1224137" cy="1190267"/>
            <a:chOff x="2195736" y="2883161"/>
            <a:chExt cx="1224137" cy="1190267"/>
          </a:xfrm>
        </p:grpSpPr>
        <p:sp>
          <p:nvSpPr>
            <p:cNvPr id="19" name="椭圆 18"/>
            <p:cNvSpPr/>
            <p:nvPr/>
          </p:nvSpPr>
          <p:spPr>
            <a:xfrm>
              <a:off x="2195736" y="3683124"/>
              <a:ext cx="1224137" cy="390304"/>
            </a:xfrm>
            <a:prstGeom prst="ellipse">
              <a:avLst/>
            </a:prstGeom>
            <a:gradFill flip="none" rotWithShape="1">
              <a:gsLst>
                <a:gs pos="0">
                  <a:schemeClr val="tx1">
                    <a:alpha val="68000"/>
                  </a:schemeClr>
                </a:gs>
                <a:gs pos="100000">
                  <a:schemeClr val="tx1">
                    <a:lumMod val="65000"/>
                    <a:lumOff val="35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nvGrpSpPr>
            <p:cNvPr id="12" name="组合 11"/>
            <p:cNvGrpSpPr/>
            <p:nvPr/>
          </p:nvGrpSpPr>
          <p:grpSpPr>
            <a:xfrm>
              <a:off x="2282857" y="2883161"/>
              <a:ext cx="1049896" cy="1049896"/>
              <a:chOff x="2627784" y="1701415"/>
              <a:chExt cx="605681" cy="605681"/>
            </a:xfrm>
          </p:grpSpPr>
          <p:sp>
            <p:nvSpPr>
              <p:cNvPr id="13" name="椭圆 12"/>
              <p:cNvSpPr/>
              <p:nvPr/>
            </p:nvSpPr>
            <p:spPr>
              <a:xfrm>
                <a:off x="2627784" y="1701415"/>
                <a:ext cx="605681" cy="605681"/>
              </a:xfrm>
              <a:prstGeom prst="ellipse">
                <a:avLst/>
              </a:prstGeom>
              <a:solidFill>
                <a:srgbClr val="0720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lumMod val="65000"/>
                      <a:lumOff val="35000"/>
                    </a:schemeClr>
                  </a:solidFill>
                </a:endParaRPr>
              </a:p>
            </p:txBody>
          </p:sp>
          <p:grpSp>
            <p:nvGrpSpPr>
              <p:cNvPr id="14" name="Group 27"/>
              <p:cNvGrpSpPr>
                <a:grpSpLocks noChangeAspect="1"/>
              </p:cNvGrpSpPr>
              <p:nvPr/>
            </p:nvGrpSpPr>
            <p:grpSpPr bwMode="auto">
              <a:xfrm>
                <a:off x="2754994" y="1831401"/>
                <a:ext cx="351260" cy="345708"/>
                <a:chOff x="-2952" y="-1157"/>
                <a:chExt cx="3605" cy="3548"/>
              </a:xfrm>
            </p:grpSpPr>
            <p:sp>
              <p:nvSpPr>
                <p:cNvPr id="15" name="Freeform 28"/>
                <p:cNvSpPr/>
                <p:nvPr/>
              </p:nvSpPr>
              <p:spPr bwMode="auto">
                <a:xfrm>
                  <a:off x="-1015" y="806"/>
                  <a:ext cx="574" cy="550"/>
                </a:xfrm>
                <a:custGeom>
                  <a:avLst/>
                  <a:gdLst>
                    <a:gd name="T0" fmla="*/ 181 w 243"/>
                    <a:gd name="T1" fmla="*/ 76 h 233"/>
                    <a:gd name="T2" fmla="*/ 172 w 243"/>
                    <a:gd name="T3" fmla="*/ 75 h 233"/>
                    <a:gd name="T4" fmla="*/ 154 w 243"/>
                    <a:gd name="T5" fmla="*/ 58 h 233"/>
                    <a:gd name="T6" fmla="*/ 133 w 243"/>
                    <a:gd name="T7" fmla="*/ 64 h 233"/>
                    <a:gd name="T8" fmla="*/ 75 w 243"/>
                    <a:gd name="T9" fmla="*/ 9 h 233"/>
                    <a:gd name="T10" fmla="*/ 13 w 243"/>
                    <a:gd name="T11" fmla="*/ 75 h 233"/>
                    <a:gd name="T12" fmla="*/ 71 w 243"/>
                    <a:gd name="T13" fmla="*/ 129 h 233"/>
                    <a:gd name="T14" fmla="*/ 69 w 243"/>
                    <a:gd name="T15" fmla="*/ 150 h 233"/>
                    <a:gd name="T16" fmla="*/ 86 w 243"/>
                    <a:gd name="T17" fmla="*/ 166 h 233"/>
                    <a:gd name="T18" fmla="*/ 88 w 243"/>
                    <a:gd name="T19" fmla="*/ 176 h 233"/>
                    <a:gd name="T20" fmla="*/ 150 w 243"/>
                    <a:gd name="T21" fmla="*/ 233 h 233"/>
                    <a:gd name="T22" fmla="*/ 243 w 243"/>
                    <a:gd name="T23" fmla="*/ 133 h 233"/>
                    <a:gd name="T24" fmla="*/ 181 w 243"/>
                    <a:gd name="T25" fmla="*/ 76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3" h="233">
                      <a:moveTo>
                        <a:pt x="181" y="76"/>
                      </a:moveTo>
                      <a:cubicBezTo>
                        <a:pt x="179" y="74"/>
                        <a:pt x="176" y="74"/>
                        <a:pt x="172" y="75"/>
                      </a:cubicBezTo>
                      <a:cubicBezTo>
                        <a:pt x="168" y="71"/>
                        <a:pt x="161" y="65"/>
                        <a:pt x="154" y="58"/>
                      </a:cubicBezTo>
                      <a:cubicBezTo>
                        <a:pt x="150" y="55"/>
                        <a:pt x="143" y="58"/>
                        <a:pt x="133" y="64"/>
                      </a:cubicBezTo>
                      <a:cubicBezTo>
                        <a:pt x="119" y="51"/>
                        <a:pt x="83" y="17"/>
                        <a:pt x="75" y="9"/>
                      </a:cubicBezTo>
                      <a:cubicBezTo>
                        <a:pt x="64" y="0"/>
                        <a:pt x="0" y="64"/>
                        <a:pt x="13" y="75"/>
                      </a:cubicBezTo>
                      <a:cubicBezTo>
                        <a:pt x="22" y="84"/>
                        <a:pt x="57" y="116"/>
                        <a:pt x="71" y="129"/>
                      </a:cubicBezTo>
                      <a:cubicBezTo>
                        <a:pt x="66" y="139"/>
                        <a:pt x="64" y="146"/>
                        <a:pt x="69" y="150"/>
                      </a:cubicBezTo>
                      <a:cubicBezTo>
                        <a:pt x="75" y="157"/>
                        <a:pt x="81" y="162"/>
                        <a:pt x="86" y="166"/>
                      </a:cubicBezTo>
                      <a:cubicBezTo>
                        <a:pt x="85" y="170"/>
                        <a:pt x="85" y="174"/>
                        <a:pt x="88" y="176"/>
                      </a:cubicBezTo>
                      <a:cubicBezTo>
                        <a:pt x="97" y="183"/>
                        <a:pt x="121" y="206"/>
                        <a:pt x="150" y="233"/>
                      </a:cubicBezTo>
                      <a:cubicBezTo>
                        <a:pt x="243" y="133"/>
                        <a:pt x="243" y="133"/>
                        <a:pt x="243" y="133"/>
                      </a:cubicBezTo>
                      <a:cubicBezTo>
                        <a:pt x="215" y="108"/>
                        <a:pt x="193" y="86"/>
                        <a:pt x="181"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29"/>
                <p:cNvSpPr>
                  <a:spLocks noEditPoints="1"/>
                </p:cNvSpPr>
                <p:nvPr/>
              </p:nvSpPr>
              <p:spPr bwMode="auto">
                <a:xfrm>
                  <a:off x="-741" y="1052"/>
                  <a:ext cx="1394" cy="1339"/>
                </a:xfrm>
                <a:custGeom>
                  <a:avLst/>
                  <a:gdLst>
                    <a:gd name="T0" fmla="*/ 383 w 590"/>
                    <a:gd name="T1" fmla="*/ 553 h 567"/>
                    <a:gd name="T2" fmla="*/ 20 w 590"/>
                    <a:gd name="T3" fmla="*/ 219 h 567"/>
                    <a:gd name="T4" fmla="*/ 20 w 590"/>
                    <a:gd name="T5" fmla="*/ 219 h 567"/>
                    <a:gd name="T6" fmla="*/ 2 w 590"/>
                    <a:gd name="T7" fmla="*/ 168 h 567"/>
                    <a:gd name="T8" fmla="*/ 2 w 590"/>
                    <a:gd name="T9" fmla="*/ 168 h 567"/>
                    <a:gd name="T10" fmla="*/ 22 w 590"/>
                    <a:gd name="T11" fmla="*/ 116 h 567"/>
                    <a:gd name="T12" fmla="*/ 22 w 590"/>
                    <a:gd name="T13" fmla="*/ 116 h 567"/>
                    <a:gd name="T14" fmla="*/ 56 w 590"/>
                    <a:gd name="T15" fmla="*/ 74 h 567"/>
                    <a:gd name="T16" fmla="*/ 56 w 590"/>
                    <a:gd name="T17" fmla="*/ 74 h 567"/>
                    <a:gd name="T18" fmla="*/ 137 w 590"/>
                    <a:gd name="T19" fmla="*/ 8 h 567"/>
                    <a:gd name="T20" fmla="*/ 137 w 590"/>
                    <a:gd name="T21" fmla="*/ 8 h 567"/>
                    <a:gd name="T22" fmla="*/ 175 w 590"/>
                    <a:gd name="T23" fmla="*/ 1 h 567"/>
                    <a:gd name="T24" fmla="*/ 175 w 590"/>
                    <a:gd name="T25" fmla="*/ 1 h 567"/>
                    <a:gd name="T26" fmla="*/ 209 w 590"/>
                    <a:gd name="T27" fmla="*/ 16 h 567"/>
                    <a:gd name="T28" fmla="*/ 209 w 590"/>
                    <a:gd name="T29" fmla="*/ 16 h 567"/>
                    <a:gd name="T30" fmla="*/ 573 w 590"/>
                    <a:gd name="T31" fmla="*/ 351 h 567"/>
                    <a:gd name="T32" fmla="*/ 573 w 590"/>
                    <a:gd name="T33" fmla="*/ 351 h 567"/>
                    <a:gd name="T34" fmla="*/ 573 w 590"/>
                    <a:gd name="T35" fmla="*/ 351 h 567"/>
                    <a:gd name="T36" fmla="*/ 589 w 590"/>
                    <a:gd name="T37" fmla="*/ 394 h 567"/>
                    <a:gd name="T38" fmla="*/ 589 w 590"/>
                    <a:gd name="T39" fmla="*/ 394 h 567"/>
                    <a:gd name="T40" fmla="*/ 581 w 590"/>
                    <a:gd name="T41" fmla="*/ 420 h 567"/>
                    <a:gd name="T42" fmla="*/ 581 w 590"/>
                    <a:gd name="T43" fmla="*/ 420 h 567"/>
                    <a:gd name="T44" fmla="*/ 571 w 590"/>
                    <a:gd name="T45" fmla="*/ 435 h 567"/>
                    <a:gd name="T46" fmla="*/ 571 w 590"/>
                    <a:gd name="T47" fmla="*/ 435 h 567"/>
                    <a:gd name="T48" fmla="*/ 547 w 590"/>
                    <a:gd name="T49" fmla="*/ 466 h 567"/>
                    <a:gd name="T50" fmla="*/ 547 w 590"/>
                    <a:gd name="T51" fmla="*/ 466 h 567"/>
                    <a:gd name="T52" fmla="*/ 485 w 590"/>
                    <a:gd name="T53" fmla="*/ 531 h 567"/>
                    <a:gd name="T54" fmla="*/ 485 w 590"/>
                    <a:gd name="T55" fmla="*/ 531 h 567"/>
                    <a:gd name="T56" fmla="*/ 442 w 590"/>
                    <a:gd name="T57" fmla="*/ 562 h 567"/>
                    <a:gd name="T58" fmla="*/ 442 w 590"/>
                    <a:gd name="T59" fmla="*/ 562 h 567"/>
                    <a:gd name="T60" fmla="*/ 414 w 590"/>
                    <a:gd name="T61" fmla="*/ 566 h 567"/>
                    <a:gd name="T62" fmla="*/ 414 w 590"/>
                    <a:gd name="T63" fmla="*/ 566 h 567"/>
                    <a:gd name="T64" fmla="*/ 414 w 590"/>
                    <a:gd name="T65" fmla="*/ 566 h 567"/>
                    <a:gd name="T66" fmla="*/ 414 w 590"/>
                    <a:gd name="T67" fmla="*/ 566 h 567"/>
                    <a:gd name="T68" fmla="*/ 383 w 590"/>
                    <a:gd name="T69" fmla="*/ 553 h 567"/>
                    <a:gd name="T70" fmla="*/ 422 w 590"/>
                    <a:gd name="T71" fmla="*/ 454 h 567"/>
                    <a:gd name="T72" fmla="*/ 425 w 590"/>
                    <a:gd name="T73" fmla="*/ 452 h 567"/>
                    <a:gd name="T74" fmla="*/ 425 w 590"/>
                    <a:gd name="T75" fmla="*/ 452 h 567"/>
                    <a:gd name="T76" fmla="*/ 476 w 590"/>
                    <a:gd name="T77" fmla="*/ 397 h 567"/>
                    <a:gd name="T78" fmla="*/ 476 w 590"/>
                    <a:gd name="T79" fmla="*/ 397 h 567"/>
                    <a:gd name="T80" fmla="*/ 476 w 590"/>
                    <a:gd name="T81" fmla="*/ 396 h 567"/>
                    <a:gd name="T82" fmla="*/ 476 w 590"/>
                    <a:gd name="T83" fmla="*/ 396 h 567"/>
                    <a:gd name="T84" fmla="*/ 163 w 590"/>
                    <a:gd name="T85" fmla="*/ 108 h 567"/>
                    <a:gd name="T86" fmla="*/ 163 w 590"/>
                    <a:gd name="T87" fmla="*/ 108 h 567"/>
                    <a:gd name="T88" fmla="*/ 157 w 590"/>
                    <a:gd name="T89" fmla="*/ 113 h 567"/>
                    <a:gd name="T90" fmla="*/ 157 w 590"/>
                    <a:gd name="T91" fmla="*/ 113 h 567"/>
                    <a:gd name="T92" fmla="*/ 112 w 590"/>
                    <a:gd name="T93" fmla="*/ 160 h 567"/>
                    <a:gd name="T94" fmla="*/ 112 w 590"/>
                    <a:gd name="T95" fmla="*/ 160 h 567"/>
                    <a:gd name="T96" fmla="*/ 108 w 590"/>
                    <a:gd name="T97" fmla="*/ 165 h 567"/>
                    <a:gd name="T98" fmla="*/ 108 w 590"/>
                    <a:gd name="T99" fmla="*/ 165 h 567"/>
                    <a:gd name="T100" fmla="*/ 422 w 590"/>
                    <a:gd name="T101" fmla="*/ 454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0" h="567">
                      <a:moveTo>
                        <a:pt x="383" y="553"/>
                      </a:moveTo>
                      <a:cubicBezTo>
                        <a:pt x="374" y="544"/>
                        <a:pt x="31" y="229"/>
                        <a:pt x="20" y="219"/>
                      </a:cubicBezTo>
                      <a:cubicBezTo>
                        <a:pt x="20" y="219"/>
                        <a:pt x="20" y="219"/>
                        <a:pt x="20" y="219"/>
                      </a:cubicBezTo>
                      <a:cubicBezTo>
                        <a:pt x="4" y="204"/>
                        <a:pt x="0" y="181"/>
                        <a:pt x="2" y="168"/>
                      </a:cubicBezTo>
                      <a:cubicBezTo>
                        <a:pt x="2" y="168"/>
                        <a:pt x="2" y="168"/>
                        <a:pt x="2" y="168"/>
                      </a:cubicBezTo>
                      <a:cubicBezTo>
                        <a:pt x="4" y="144"/>
                        <a:pt x="13" y="131"/>
                        <a:pt x="22" y="116"/>
                      </a:cubicBezTo>
                      <a:cubicBezTo>
                        <a:pt x="22" y="116"/>
                        <a:pt x="22" y="116"/>
                        <a:pt x="22" y="116"/>
                      </a:cubicBezTo>
                      <a:cubicBezTo>
                        <a:pt x="32" y="101"/>
                        <a:pt x="43" y="87"/>
                        <a:pt x="56" y="74"/>
                      </a:cubicBezTo>
                      <a:cubicBezTo>
                        <a:pt x="56" y="74"/>
                        <a:pt x="56" y="74"/>
                        <a:pt x="56" y="74"/>
                      </a:cubicBezTo>
                      <a:cubicBezTo>
                        <a:pt x="82" y="46"/>
                        <a:pt x="108" y="23"/>
                        <a:pt x="137" y="8"/>
                      </a:cubicBezTo>
                      <a:cubicBezTo>
                        <a:pt x="137" y="8"/>
                        <a:pt x="137" y="8"/>
                        <a:pt x="137" y="8"/>
                      </a:cubicBezTo>
                      <a:cubicBezTo>
                        <a:pt x="147" y="4"/>
                        <a:pt x="157" y="0"/>
                        <a:pt x="175" y="1"/>
                      </a:cubicBezTo>
                      <a:cubicBezTo>
                        <a:pt x="175" y="1"/>
                        <a:pt x="175" y="1"/>
                        <a:pt x="175" y="1"/>
                      </a:cubicBezTo>
                      <a:cubicBezTo>
                        <a:pt x="185" y="2"/>
                        <a:pt x="199" y="6"/>
                        <a:pt x="209" y="16"/>
                      </a:cubicBezTo>
                      <a:cubicBezTo>
                        <a:pt x="209" y="16"/>
                        <a:pt x="209" y="16"/>
                        <a:pt x="209" y="16"/>
                      </a:cubicBezTo>
                      <a:cubicBezTo>
                        <a:pt x="218" y="25"/>
                        <a:pt x="556" y="335"/>
                        <a:pt x="573" y="351"/>
                      </a:cubicBezTo>
                      <a:cubicBezTo>
                        <a:pt x="573" y="351"/>
                        <a:pt x="573" y="351"/>
                        <a:pt x="573" y="351"/>
                      </a:cubicBezTo>
                      <a:cubicBezTo>
                        <a:pt x="573" y="351"/>
                        <a:pt x="573" y="351"/>
                        <a:pt x="573" y="351"/>
                      </a:cubicBezTo>
                      <a:cubicBezTo>
                        <a:pt x="589" y="367"/>
                        <a:pt x="590" y="386"/>
                        <a:pt x="589" y="394"/>
                      </a:cubicBezTo>
                      <a:cubicBezTo>
                        <a:pt x="589" y="394"/>
                        <a:pt x="589" y="394"/>
                        <a:pt x="589" y="394"/>
                      </a:cubicBezTo>
                      <a:cubicBezTo>
                        <a:pt x="587" y="409"/>
                        <a:pt x="583" y="414"/>
                        <a:pt x="581" y="420"/>
                      </a:cubicBezTo>
                      <a:cubicBezTo>
                        <a:pt x="581" y="420"/>
                        <a:pt x="581" y="420"/>
                        <a:pt x="581" y="420"/>
                      </a:cubicBezTo>
                      <a:cubicBezTo>
                        <a:pt x="578" y="425"/>
                        <a:pt x="575" y="430"/>
                        <a:pt x="571" y="435"/>
                      </a:cubicBezTo>
                      <a:cubicBezTo>
                        <a:pt x="571" y="435"/>
                        <a:pt x="571" y="435"/>
                        <a:pt x="571" y="435"/>
                      </a:cubicBezTo>
                      <a:cubicBezTo>
                        <a:pt x="564" y="445"/>
                        <a:pt x="556" y="455"/>
                        <a:pt x="547" y="466"/>
                      </a:cubicBezTo>
                      <a:cubicBezTo>
                        <a:pt x="547" y="466"/>
                        <a:pt x="547" y="466"/>
                        <a:pt x="547" y="466"/>
                      </a:cubicBezTo>
                      <a:cubicBezTo>
                        <a:pt x="528" y="488"/>
                        <a:pt x="506" y="512"/>
                        <a:pt x="485" y="531"/>
                      </a:cubicBezTo>
                      <a:cubicBezTo>
                        <a:pt x="485" y="531"/>
                        <a:pt x="485" y="531"/>
                        <a:pt x="485" y="531"/>
                      </a:cubicBezTo>
                      <a:cubicBezTo>
                        <a:pt x="471" y="543"/>
                        <a:pt x="461" y="553"/>
                        <a:pt x="442" y="562"/>
                      </a:cubicBezTo>
                      <a:cubicBezTo>
                        <a:pt x="442" y="562"/>
                        <a:pt x="442" y="562"/>
                        <a:pt x="442" y="562"/>
                      </a:cubicBezTo>
                      <a:cubicBezTo>
                        <a:pt x="436" y="564"/>
                        <a:pt x="429" y="567"/>
                        <a:pt x="414" y="566"/>
                      </a:cubicBezTo>
                      <a:cubicBezTo>
                        <a:pt x="414" y="566"/>
                        <a:pt x="414" y="566"/>
                        <a:pt x="414" y="566"/>
                      </a:cubicBezTo>
                      <a:cubicBezTo>
                        <a:pt x="414" y="566"/>
                        <a:pt x="414" y="566"/>
                        <a:pt x="414" y="566"/>
                      </a:cubicBezTo>
                      <a:cubicBezTo>
                        <a:pt x="414" y="566"/>
                        <a:pt x="414" y="566"/>
                        <a:pt x="414" y="566"/>
                      </a:cubicBezTo>
                      <a:cubicBezTo>
                        <a:pt x="406" y="566"/>
                        <a:pt x="394" y="562"/>
                        <a:pt x="383" y="553"/>
                      </a:cubicBezTo>
                      <a:close/>
                      <a:moveTo>
                        <a:pt x="422" y="454"/>
                      </a:moveTo>
                      <a:cubicBezTo>
                        <a:pt x="423" y="453"/>
                        <a:pt x="424" y="453"/>
                        <a:pt x="425" y="452"/>
                      </a:cubicBezTo>
                      <a:cubicBezTo>
                        <a:pt x="425" y="452"/>
                        <a:pt x="425" y="452"/>
                        <a:pt x="425" y="452"/>
                      </a:cubicBezTo>
                      <a:cubicBezTo>
                        <a:pt x="441" y="436"/>
                        <a:pt x="461" y="415"/>
                        <a:pt x="476" y="397"/>
                      </a:cubicBezTo>
                      <a:cubicBezTo>
                        <a:pt x="476" y="397"/>
                        <a:pt x="476" y="397"/>
                        <a:pt x="476" y="397"/>
                      </a:cubicBezTo>
                      <a:cubicBezTo>
                        <a:pt x="476" y="397"/>
                        <a:pt x="476" y="397"/>
                        <a:pt x="476" y="396"/>
                      </a:cubicBezTo>
                      <a:cubicBezTo>
                        <a:pt x="476" y="396"/>
                        <a:pt x="476" y="396"/>
                        <a:pt x="476" y="396"/>
                      </a:cubicBezTo>
                      <a:cubicBezTo>
                        <a:pt x="388" y="313"/>
                        <a:pt x="241" y="181"/>
                        <a:pt x="163" y="108"/>
                      </a:cubicBezTo>
                      <a:cubicBezTo>
                        <a:pt x="163" y="108"/>
                        <a:pt x="163" y="108"/>
                        <a:pt x="163" y="108"/>
                      </a:cubicBezTo>
                      <a:cubicBezTo>
                        <a:pt x="161" y="110"/>
                        <a:pt x="159" y="112"/>
                        <a:pt x="157" y="113"/>
                      </a:cubicBezTo>
                      <a:cubicBezTo>
                        <a:pt x="157" y="113"/>
                        <a:pt x="157" y="113"/>
                        <a:pt x="157" y="113"/>
                      </a:cubicBezTo>
                      <a:cubicBezTo>
                        <a:pt x="142" y="126"/>
                        <a:pt x="124" y="145"/>
                        <a:pt x="112" y="160"/>
                      </a:cubicBezTo>
                      <a:cubicBezTo>
                        <a:pt x="112" y="160"/>
                        <a:pt x="112" y="160"/>
                        <a:pt x="112" y="160"/>
                      </a:cubicBezTo>
                      <a:cubicBezTo>
                        <a:pt x="110" y="162"/>
                        <a:pt x="109" y="164"/>
                        <a:pt x="108" y="165"/>
                      </a:cubicBezTo>
                      <a:cubicBezTo>
                        <a:pt x="108" y="165"/>
                        <a:pt x="108" y="165"/>
                        <a:pt x="108" y="165"/>
                      </a:cubicBezTo>
                      <a:cubicBezTo>
                        <a:pt x="185" y="237"/>
                        <a:pt x="335" y="373"/>
                        <a:pt x="422" y="45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30"/>
                <p:cNvSpPr>
                  <a:spLocks noEditPoints="1"/>
                </p:cNvSpPr>
                <p:nvPr/>
              </p:nvSpPr>
              <p:spPr bwMode="auto">
                <a:xfrm>
                  <a:off x="-2952" y="-1157"/>
                  <a:ext cx="2488" cy="2492"/>
                </a:xfrm>
                <a:custGeom>
                  <a:avLst/>
                  <a:gdLst>
                    <a:gd name="T0" fmla="*/ 482 w 1053"/>
                    <a:gd name="T1" fmla="*/ 1042 h 1055"/>
                    <a:gd name="T2" fmla="*/ 177 w 1053"/>
                    <a:gd name="T3" fmla="*/ 906 h 1055"/>
                    <a:gd name="T4" fmla="*/ 177 w 1053"/>
                    <a:gd name="T5" fmla="*/ 906 h 1055"/>
                    <a:gd name="T6" fmla="*/ 13 w 1053"/>
                    <a:gd name="T7" fmla="*/ 483 h 1055"/>
                    <a:gd name="T8" fmla="*/ 13 w 1053"/>
                    <a:gd name="T9" fmla="*/ 483 h 1055"/>
                    <a:gd name="T10" fmla="*/ 148 w 1053"/>
                    <a:gd name="T11" fmla="*/ 177 h 1055"/>
                    <a:gd name="T12" fmla="*/ 148 w 1053"/>
                    <a:gd name="T13" fmla="*/ 177 h 1055"/>
                    <a:gd name="T14" fmla="*/ 148 w 1053"/>
                    <a:gd name="T15" fmla="*/ 177 h 1055"/>
                    <a:gd name="T16" fmla="*/ 571 w 1053"/>
                    <a:gd name="T17" fmla="*/ 13 h 1055"/>
                    <a:gd name="T18" fmla="*/ 571 w 1053"/>
                    <a:gd name="T19" fmla="*/ 13 h 1055"/>
                    <a:gd name="T20" fmla="*/ 877 w 1053"/>
                    <a:gd name="T21" fmla="*/ 148 h 1055"/>
                    <a:gd name="T22" fmla="*/ 877 w 1053"/>
                    <a:gd name="T23" fmla="*/ 148 h 1055"/>
                    <a:gd name="T24" fmla="*/ 1040 w 1053"/>
                    <a:gd name="T25" fmla="*/ 572 h 1055"/>
                    <a:gd name="T26" fmla="*/ 1040 w 1053"/>
                    <a:gd name="T27" fmla="*/ 572 h 1055"/>
                    <a:gd name="T28" fmla="*/ 905 w 1053"/>
                    <a:gd name="T29" fmla="*/ 878 h 1055"/>
                    <a:gd name="T30" fmla="*/ 905 w 1053"/>
                    <a:gd name="T31" fmla="*/ 878 h 1055"/>
                    <a:gd name="T32" fmla="*/ 483 w 1053"/>
                    <a:gd name="T33" fmla="*/ 1042 h 1055"/>
                    <a:gd name="T34" fmla="*/ 483 w 1053"/>
                    <a:gd name="T35" fmla="*/ 1042 h 1055"/>
                    <a:gd name="T36" fmla="*/ 482 w 1053"/>
                    <a:gd name="T37" fmla="*/ 1042 h 1055"/>
                    <a:gd name="T38" fmla="*/ 221 w 1053"/>
                    <a:gd name="T39" fmla="*/ 244 h 1055"/>
                    <a:gd name="T40" fmla="*/ 221 w 1053"/>
                    <a:gd name="T41" fmla="*/ 244 h 1055"/>
                    <a:gd name="T42" fmla="*/ 112 w 1053"/>
                    <a:gd name="T43" fmla="*/ 491 h 1055"/>
                    <a:gd name="T44" fmla="*/ 112 w 1053"/>
                    <a:gd name="T45" fmla="*/ 491 h 1055"/>
                    <a:gd name="T46" fmla="*/ 244 w 1053"/>
                    <a:gd name="T47" fmla="*/ 834 h 1055"/>
                    <a:gd name="T48" fmla="*/ 244 w 1053"/>
                    <a:gd name="T49" fmla="*/ 834 h 1055"/>
                    <a:gd name="T50" fmla="*/ 491 w 1053"/>
                    <a:gd name="T51" fmla="*/ 943 h 1055"/>
                    <a:gd name="T52" fmla="*/ 491 w 1053"/>
                    <a:gd name="T53" fmla="*/ 943 h 1055"/>
                    <a:gd name="T54" fmla="*/ 833 w 1053"/>
                    <a:gd name="T55" fmla="*/ 810 h 1055"/>
                    <a:gd name="T56" fmla="*/ 833 w 1053"/>
                    <a:gd name="T57" fmla="*/ 810 h 1055"/>
                    <a:gd name="T58" fmla="*/ 942 w 1053"/>
                    <a:gd name="T59" fmla="*/ 563 h 1055"/>
                    <a:gd name="T60" fmla="*/ 942 w 1053"/>
                    <a:gd name="T61" fmla="*/ 563 h 1055"/>
                    <a:gd name="T62" fmla="*/ 810 w 1053"/>
                    <a:gd name="T63" fmla="*/ 221 h 1055"/>
                    <a:gd name="T64" fmla="*/ 810 w 1053"/>
                    <a:gd name="T65" fmla="*/ 221 h 1055"/>
                    <a:gd name="T66" fmla="*/ 563 w 1053"/>
                    <a:gd name="T67" fmla="*/ 111 h 1055"/>
                    <a:gd name="T68" fmla="*/ 563 w 1053"/>
                    <a:gd name="T69" fmla="*/ 111 h 1055"/>
                    <a:gd name="T70" fmla="*/ 221 w 1053"/>
                    <a:gd name="T71" fmla="*/ 244 h 1055"/>
                    <a:gd name="T72" fmla="*/ 221 w 1053"/>
                    <a:gd name="T73" fmla="*/ 244 h 10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53" h="1055">
                      <a:moveTo>
                        <a:pt x="482" y="1042"/>
                      </a:moveTo>
                      <a:cubicBezTo>
                        <a:pt x="372" y="1032"/>
                        <a:pt x="264" y="987"/>
                        <a:pt x="177" y="906"/>
                      </a:cubicBezTo>
                      <a:cubicBezTo>
                        <a:pt x="177" y="906"/>
                        <a:pt x="177" y="906"/>
                        <a:pt x="177" y="906"/>
                      </a:cubicBezTo>
                      <a:cubicBezTo>
                        <a:pt x="55" y="794"/>
                        <a:pt x="0" y="636"/>
                        <a:pt x="13" y="483"/>
                      </a:cubicBezTo>
                      <a:cubicBezTo>
                        <a:pt x="13" y="483"/>
                        <a:pt x="13" y="483"/>
                        <a:pt x="13" y="483"/>
                      </a:cubicBezTo>
                      <a:cubicBezTo>
                        <a:pt x="23" y="373"/>
                        <a:pt x="68" y="264"/>
                        <a:pt x="148" y="177"/>
                      </a:cubicBezTo>
                      <a:cubicBezTo>
                        <a:pt x="148" y="177"/>
                        <a:pt x="148" y="177"/>
                        <a:pt x="148" y="177"/>
                      </a:cubicBezTo>
                      <a:cubicBezTo>
                        <a:pt x="148" y="177"/>
                        <a:pt x="148" y="177"/>
                        <a:pt x="148" y="177"/>
                      </a:cubicBezTo>
                      <a:cubicBezTo>
                        <a:pt x="261" y="55"/>
                        <a:pt x="418" y="0"/>
                        <a:pt x="571" y="13"/>
                      </a:cubicBezTo>
                      <a:cubicBezTo>
                        <a:pt x="571" y="13"/>
                        <a:pt x="571" y="13"/>
                        <a:pt x="571" y="13"/>
                      </a:cubicBezTo>
                      <a:cubicBezTo>
                        <a:pt x="681" y="22"/>
                        <a:pt x="789" y="67"/>
                        <a:pt x="877" y="148"/>
                      </a:cubicBezTo>
                      <a:cubicBezTo>
                        <a:pt x="877" y="148"/>
                        <a:pt x="877" y="148"/>
                        <a:pt x="877" y="148"/>
                      </a:cubicBezTo>
                      <a:cubicBezTo>
                        <a:pt x="998" y="261"/>
                        <a:pt x="1053" y="418"/>
                        <a:pt x="1040" y="572"/>
                      </a:cubicBezTo>
                      <a:cubicBezTo>
                        <a:pt x="1040" y="572"/>
                        <a:pt x="1040" y="572"/>
                        <a:pt x="1040" y="572"/>
                      </a:cubicBezTo>
                      <a:cubicBezTo>
                        <a:pt x="1031" y="682"/>
                        <a:pt x="986" y="790"/>
                        <a:pt x="905" y="878"/>
                      </a:cubicBezTo>
                      <a:cubicBezTo>
                        <a:pt x="905" y="878"/>
                        <a:pt x="905" y="878"/>
                        <a:pt x="905" y="878"/>
                      </a:cubicBezTo>
                      <a:cubicBezTo>
                        <a:pt x="793" y="999"/>
                        <a:pt x="635" y="1055"/>
                        <a:pt x="483" y="1042"/>
                      </a:cubicBezTo>
                      <a:cubicBezTo>
                        <a:pt x="483" y="1042"/>
                        <a:pt x="483" y="1042"/>
                        <a:pt x="483" y="1042"/>
                      </a:cubicBezTo>
                      <a:cubicBezTo>
                        <a:pt x="482" y="1042"/>
                        <a:pt x="482" y="1042"/>
                        <a:pt x="482" y="1042"/>
                      </a:cubicBezTo>
                      <a:close/>
                      <a:moveTo>
                        <a:pt x="221" y="244"/>
                      </a:moveTo>
                      <a:cubicBezTo>
                        <a:pt x="221" y="244"/>
                        <a:pt x="221" y="244"/>
                        <a:pt x="221" y="244"/>
                      </a:cubicBezTo>
                      <a:cubicBezTo>
                        <a:pt x="155" y="315"/>
                        <a:pt x="119" y="402"/>
                        <a:pt x="112" y="491"/>
                      </a:cubicBezTo>
                      <a:cubicBezTo>
                        <a:pt x="112" y="491"/>
                        <a:pt x="112" y="491"/>
                        <a:pt x="112" y="491"/>
                      </a:cubicBezTo>
                      <a:cubicBezTo>
                        <a:pt x="101" y="615"/>
                        <a:pt x="145" y="743"/>
                        <a:pt x="244" y="834"/>
                      </a:cubicBezTo>
                      <a:cubicBezTo>
                        <a:pt x="244" y="834"/>
                        <a:pt x="244" y="834"/>
                        <a:pt x="244" y="834"/>
                      </a:cubicBezTo>
                      <a:cubicBezTo>
                        <a:pt x="315" y="899"/>
                        <a:pt x="402" y="935"/>
                        <a:pt x="491" y="943"/>
                      </a:cubicBezTo>
                      <a:cubicBezTo>
                        <a:pt x="491" y="943"/>
                        <a:pt x="491" y="943"/>
                        <a:pt x="491" y="943"/>
                      </a:cubicBezTo>
                      <a:cubicBezTo>
                        <a:pt x="615" y="954"/>
                        <a:pt x="742" y="909"/>
                        <a:pt x="833" y="810"/>
                      </a:cubicBezTo>
                      <a:cubicBezTo>
                        <a:pt x="833" y="810"/>
                        <a:pt x="833" y="810"/>
                        <a:pt x="833" y="810"/>
                      </a:cubicBezTo>
                      <a:cubicBezTo>
                        <a:pt x="898" y="740"/>
                        <a:pt x="934" y="652"/>
                        <a:pt x="942" y="563"/>
                      </a:cubicBezTo>
                      <a:cubicBezTo>
                        <a:pt x="942" y="563"/>
                        <a:pt x="942" y="563"/>
                        <a:pt x="942" y="563"/>
                      </a:cubicBezTo>
                      <a:cubicBezTo>
                        <a:pt x="952" y="439"/>
                        <a:pt x="908" y="312"/>
                        <a:pt x="810" y="221"/>
                      </a:cubicBezTo>
                      <a:cubicBezTo>
                        <a:pt x="810" y="221"/>
                        <a:pt x="810" y="221"/>
                        <a:pt x="810" y="221"/>
                      </a:cubicBezTo>
                      <a:cubicBezTo>
                        <a:pt x="739" y="155"/>
                        <a:pt x="652" y="119"/>
                        <a:pt x="563" y="111"/>
                      </a:cubicBezTo>
                      <a:cubicBezTo>
                        <a:pt x="563" y="111"/>
                        <a:pt x="563" y="111"/>
                        <a:pt x="563" y="111"/>
                      </a:cubicBezTo>
                      <a:cubicBezTo>
                        <a:pt x="439" y="101"/>
                        <a:pt x="312" y="145"/>
                        <a:pt x="221" y="244"/>
                      </a:cubicBezTo>
                      <a:cubicBezTo>
                        <a:pt x="221" y="244"/>
                        <a:pt x="221" y="244"/>
                        <a:pt x="221" y="244"/>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sp>
        <p:nvSpPr>
          <p:cNvPr id="21" name="TextBox 17"/>
          <p:cNvSpPr txBox="1"/>
          <p:nvPr/>
        </p:nvSpPr>
        <p:spPr>
          <a:xfrm>
            <a:off x="3438755" y="2648471"/>
            <a:ext cx="4197176" cy="584775"/>
          </a:xfrm>
          <a:prstGeom prst="rect">
            <a:avLst/>
          </a:prstGeom>
          <a:noFill/>
        </p:spPr>
        <p:txBody>
          <a:bodyPr wrap="square" rtlCol="0">
            <a:spAutoFit/>
          </a:bodyPr>
          <a:lstStyle/>
          <a:p>
            <a:r>
              <a:rPr lang="zh-CN" altLang="en-US" sz="3200" b="1" dirty="0">
                <a:solidFill>
                  <a:srgbClr val="072063"/>
                </a:solidFill>
              </a:rPr>
              <a:t>前期工作</a:t>
            </a:r>
          </a:p>
        </p:txBody>
      </p:sp>
      <p:sp>
        <p:nvSpPr>
          <p:cNvPr id="2" name="文本框 1"/>
          <p:cNvSpPr txBox="1"/>
          <p:nvPr/>
        </p:nvSpPr>
        <p:spPr>
          <a:xfrm>
            <a:off x="3024630" y="3568428"/>
            <a:ext cx="7200800" cy="460375"/>
          </a:xfrm>
          <a:prstGeom prst="rect">
            <a:avLst/>
          </a:prstGeom>
          <a:noFill/>
        </p:spPr>
        <p:txBody>
          <a:bodyPr wrap="square" rtlCol="0">
            <a:spAutoFit/>
          </a:bodyPr>
          <a:lstStyle/>
          <a:p>
            <a:r>
              <a:rPr lang="en-US" altLang="zh-CN" sz="2400" dirty="0">
                <a:sym typeface="Arial" panose="020B0604020202020204" pitchFamily="34" charset="0"/>
              </a:rPr>
              <a:t>1</a:t>
            </a:r>
            <a:r>
              <a:rPr lang="zh-CN" altLang="en-US" sz="2400" dirty="0">
                <a:sym typeface="Arial" panose="020B0604020202020204" pitchFamily="34" charset="0"/>
              </a:rPr>
              <a:t>、课程学习阶段</a:t>
            </a:r>
          </a:p>
        </p:txBody>
      </p:sp>
      <p:sp>
        <p:nvSpPr>
          <p:cNvPr id="3" name="文本框 2"/>
          <p:cNvSpPr txBox="1"/>
          <p:nvPr/>
        </p:nvSpPr>
        <p:spPr>
          <a:xfrm>
            <a:off x="3024630" y="4231428"/>
            <a:ext cx="3240360" cy="460375"/>
          </a:xfrm>
          <a:prstGeom prst="rect">
            <a:avLst/>
          </a:prstGeom>
          <a:noFill/>
        </p:spPr>
        <p:txBody>
          <a:bodyPr wrap="square" rtlCol="0">
            <a:spAutoFit/>
          </a:bodyPr>
          <a:lstStyle/>
          <a:p>
            <a:r>
              <a:rPr lang="en-US" altLang="zh-CN" sz="2400" dirty="0"/>
              <a:t>2</a:t>
            </a:r>
            <a:r>
              <a:rPr lang="zh-CN" altLang="en-US" sz="2400" dirty="0"/>
              <a:t>、</a:t>
            </a:r>
            <a:r>
              <a:rPr lang="zh-CN" altLang="en-US" sz="2400" dirty="0">
                <a:sym typeface="Arial" panose="020B0604020202020204" pitchFamily="34" charset="0"/>
              </a:rPr>
              <a:t>选题开题阶段</a:t>
            </a:r>
          </a:p>
        </p:txBody>
      </p:sp>
    </p:spTree>
  </p:cSld>
  <p:clrMapOvr>
    <a:masterClrMapping/>
  </p:clrMapOvr>
  <mc:AlternateContent xmlns:mc="http://schemas.openxmlformats.org/markup-compatibility/2006" xmlns:p14="http://schemas.microsoft.com/office/powerpoint/2010/main">
    <mc:Choice Requires="p14">
      <p:transition spd="med" p14:dur="700" advTm="1808">
        <p:fade/>
      </p:transition>
    </mc:Choice>
    <mc:Fallback xmlns="">
      <p:transition spd="med" advTm="1808">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ym typeface="Arial" panose="020B0604020202020204" pitchFamily="34" charset="0"/>
              </a:rPr>
              <a:t>课程学习阶段</a:t>
            </a:r>
          </a:p>
        </p:txBody>
      </p:sp>
      <p:sp>
        <p:nvSpPr>
          <p:cNvPr id="9" name="TextBox 18"/>
          <p:cNvSpPr txBox="1"/>
          <p:nvPr/>
        </p:nvSpPr>
        <p:spPr>
          <a:xfrm>
            <a:off x="293370" y="1167765"/>
            <a:ext cx="8393430" cy="4631055"/>
          </a:xfrm>
          <a:prstGeom prst="rect">
            <a:avLst/>
          </a:prstGeom>
          <a:noFill/>
        </p:spPr>
        <p:txBody>
          <a:bodyPr wrap="square" rtlCol="0">
            <a:spAutoFit/>
          </a:bodyPr>
          <a:lstStyle/>
          <a:p>
            <a:r>
              <a:rPr lang="zh-CN" altLang="en-US" sz="2000" dirty="0">
                <a:ea typeface="楷体_GB2312"/>
              </a:rPr>
              <a:t> </a:t>
            </a:r>
            <a:endParaRPr lang="en-US" altLang="zh-CN" sz="2000" dirty="0">
              <a:ea typeface="楷体_GB2312"/>
            </a:endParaRPr>
          </a:p>
          <a:p>
            <a:pPr>
              <a:lnSpc>
                <a:spcPct val="150000"/>
              </a:lnSpc>
            </a:pPr>
            <a:r>
              <a:rPr lang="zh-CN" altLang="en-US" sz="2400" dirty="0">
                <a:ea typeface="楷体_GB2312"/>
              </a:rPr>
              <a:t>    </a:t>
            </a:r>
            <a:r>
              <a:rPr lang="zh-CN" altLang="en-US" sz="2000" dirty="0">
                <a:latin typeface="黑体" panose="02010609060101010101" pitchFamily="49" charset="-122"/>
                <a:ea typeface="黑体" panose="02010609060101010101" pitchFamily="49" charset="-122"/>
              </a:rPr>
              <a:t>数学：  </a:t>
            </a:r>
            <a:r>
              <a:rPr lang="en-US" altLang="zh-CN" sz="2000" dirty="0">
                <a:latin typeface="黑体" panose="02010609060101010101" pitchFamily="49" charset="-122"/>
                <a:ea typeface="黑体" panose="02010609060101010101" pitchFamily="49" charset="-122"/>
                <a:sym typeface="+mn-ea"/>
              </a:rPr>
              <a:t>《</a:t>
            </a:r>
            <a:r>
              <a:rPr lang="zh-CN" altLang="en-US" sz="2000" dirty="0">
                <a:latin typeface="黑体" panose="02010609060101010101" pitchFamily="49" charset="-122"/>
                <a:ea typeface="黑体" panose="02010609060101010101" pitchFamily="49" charset="-122"/>
                <a:sym typeface="+mn-ea"/>
              </a:rPr>
              <a:t>应用数理统计</a:t>
            </a:r>
            <a:r>
              <a:rPr lang="en-US" altLang="zh-CN" sz="2000" dirty="0">
                <a:latin typeface="黑体" panose="02010609060101010101" pitchFamily="49" charset="-122"/>
                <a:ea typeface="黑体" panose="02010609060101010101" pitchFamily="49" charset="-122"/>
                <a:sym typeface="+mn-ea"/>
              </a:rPr>
              <a:t>》《</a:t>
            </a:r>
            <a:r>
              <a:rPr lang="zh-CN" altLang="en-US" sz="2000" dirty="0">
                <a:latin typeface="黑体" panose="02010609060101010101" pitchFamily="49" charset="-122"/>
                <a:ea typeface="黑体" panose="02010609060101010101" pitchFamily="49" charset="-122"/>
                <a:sym typeface="+mn-ea"/>
              </a:rPr>
              <a:t>最优化方法与理论</a:t>
            </a:r>
            <a:r>
              <a:rPr lang="en-US" altLang="zh-CN" sz="2000" dirty="0">
                <a:latin typeface="黑体" panose="02010609060101010101" pitchFamily="49" charset="-122"/>
                <a:ea typeface="黑体" panose="02010609060101010101" pitchFamily="49" charset="-122"/>
                <a:sym typeface="+mn-ea"/>
              </a:rPr>
              <a:t>》</a:t>
            </a:r>
            <a:endParaRPr lang="en-US" altLang="zh-CN" sz="2000" dirty="0">
              <a:latin typeface="黑体" panose="02010609060101010101" pitchFamily="49" charset="-122"/>
              <a:ea typeface="黑体" panose="02010609060101010101" pitchFamily="49" charset="-122"/>
            </a:endParaRPr>
          </a:p>
          <a:p>
            <a:pPr>
              <a:lnSpc>
                <a:spcPct val="150000"/>
              </a:lnSpc>
            </a:pPr>
            <a:r>
              <a:rPr lang="zh-CN" altLang="en-US" sz="2000" dirty="0">
                <a:latin typeface="黑体" panose="02010609060101010101" pitchFamily="49" charset="-122"/>
                <a:ea typeface="黑体" panose="02010609060101010101" pitchFamily="49" charset="-122"/>
                <a:sym typeface="+mn-ea"/>
              </a:rPr>
              <a:t>  专业课：</a:t>
            </a:r>
            <a:r>
              <a:rPr lang="en-US" altLang="zh-CN" sz="2000" dirty="0">
                <a:latin typeface="黑体" panose="02010609060101010101" pitchFamily="49" charset="-122"/>
                <a:ea typeface="黑体" panose="02010609060101010101" pitchFamily="49" charset="-122"/>
                <a:sym typeface="+mn-ea"/>
              </a:rPr>
              <a:t>《</a:t>
            </a:r>
            <a:r>
              <a:rPr lang="zh-CN" altLang="en-US" sz="2000" dirty="0">
                <a:latin typeface="黑体" panose="02010609060101010101" pitchFamily="49" charset="-122"/>
                <a:ea typeface="黑体" panose="02010609060101010101" pitchFamily="49" charset="-122"/>
                <a:sym typeface="+mn-ea"/>
              </a:rPr>
              <a:t>系统工程与决策分析</a:t>
            </a:r>
            <a:r>
              <a:rPr lang="en-US" altLang="zh-CN" sz="2000" dirty="0">
                <a:latin typeface="黑体" panose="02010609060101010101" pitchFamily="49" charset="-122"/>
                <a:ea typeface="黑体" panose="02010609060101010101" pitchFamily="49" charset="-122"/>
                <a:sym typeface="+mn-ea"/>
              </a:rPr>
              <a:t>》《</a:t>
            </a:r>
            <a:r>
              <a:rPr lang="zh-CN" altLang="en-US" sz="2000" dirty="0">
                <a:latin typeface="黑体" panose="02010609060101010101" pitchFamily="49" charset="-122"/>
                <a:ea typeface="黑体" panose="02010609060101010101" pitchFamily="49" charset="-122"/>
                <a:sym typeface="+mn-ea"/>
              </a:rPr>
              <a:t>典型优化问题的模型与算法</a:t>
            </a:r>
            <a:r>
              <a:rPr lang="en-US" altLang="zh-CN" sz="2000" dirty="0">
                <a:latin typeface="黑体" panose="02010609060101010101" pitchFamily="49" charset="-122"/>
                <a:ea typeface="黑体" panose="02010609060101010101" pitchFamily="49" charset="-122"/>
                <a:sym typeface="+mn-ea"/>
              </a:rPr>
              <a:t>》《</a:t>
            </a:r>
            <a:r>
              <a:rPr lang="zh-CN" altLang="en-US" sz="2000" dirty="0">
                <a:latin typeface="黑体" panose="02010609060101010101" pitchFamily="49" charset="-122"/>
                <a:ea typeface="黑体" panose="02010609060101010101" pitchFamily="49" charset="-122"/>
                <a:sym typeface="+mn-ea"/>
              </a:rPr>
              <a:t>智能优化方法</a:t>
            </a:r>
            <a:r>
              <a:rPr lang="en-US" altLang="zh-CN" sz="2000" dirty="0">
                <a:latin typeface="黑体" panose="02010609060101010101" pitchFamily="49" charset="-122"/>
                <a:ea typeface="黑体" panose="02010609060101010101" pitchFamily="49" charset="-122"/>
                <a:sym typeface="+mn-ea"/>
              </a:rPr>
              <a:t>》《</a:t>
            </a:r>
            <a:r>
              <a:rPr lang="zh-CN" altLang="en-US" sz="2000" dirty="0">
                <a:latin typeface="黑体" panose="02010609060101010101" pitchFamily="49" charset="-122"/>
                <a:ea typeface="黑体" panose="02010609060101010101" pitchFamily="49" charset="-122"/>
                <a:sym typeface="+mn-ea"/>
              </a:rPr>
              <a:t>图像处理分析与识别</a:t>
            </a:r>
            <a:r>
              <a:rPr lang="en-US" altLang="zh-CN" sz="2000" dirty="0">
                <a:latin typeface="黑体" panose="02010609060101010101" pitchFamily="49" charset="-122"/>
                <a:ea typeface="黑体" panose="02010609060101010101" pitchFamily="49" charset="-122"/>
                <a:sym typeface="+mn-ea"/>
              </a:rPr>
              <a:t>》《</a:t>
            </a:r>
            <a:r>
              <a:rPr lang="zh-CN" altLang="en-US" sz="2000" dirty="0">
                <a:latin typeface="黑体" panose="02010609060101010101" pitchFamily="49" charset="-122"/>
                <a:ea typeface="黑体" panose="02010609060101010101" pitchFamily="49" charset="-122"/>
                <a:sym typeface="+mn-ea"/>
              </a:rPr>
              <a:t>MATLAB语言与科学运算</a:t>
            </a:r>
            <a:r>
              <a:rPr lang="en-US" altLang="zh-CN" sz="2000" dirty="0">
                <a:latin typeface="黑体" panose="02010609060101010101" pitchFamily="49" charset="-122"/>
                <a:ea typeface="黑体" panose="02010609060101010101" pitchFamily="49" charset="-122"/>
                <a:sym typeface="+mn-ea"/>
              </a:rPr>
              <a:t>》  </a:t>
            </a:r>
            <a:endParaRPr lang="en-US" altLang="zh-CN" sz="2000" dirty="0">
              <a:latin typeface="黑体" panose="02010609060101010101" pitchFamily="49" charset="-122"/>
              <a:ea typeface="黑体" panose="02010609060101010101" pitchFamily="49" charset="-122"/>
            </a:endParaRPr>
          </a:p>
          <a:p>
            <a:pPr>
              <a:lnSpc>
                <a:spcPct val="150000"/>
              </a:lnSpc>
            </a:pPr>
            <a:r>
              <a:rPr lang="en-US" altLang="zh-CN" sz="2000" dirty="0">
                <a:latin typeface="黑体" panose="02010609060101010101" pitchFamily="49" charset="-122"/>
                <a:ea typeface="黑体" panose="02010609060101010101" pitchFamily="49" charset="-122"/>
                <a:sym typeface="+mn-ea"/>
              </a:rPr>
              <a:t>              </a:t>
            </a:r>
            <a:endParaRPr lang="en-US" altLang="zh-CN" sz="2000" dirty="0">
              <a:latin typeface="黑体" panose="02010609060101010101" pitchFamily="49" charset="-122"/>
              <a:ea typeface="黑体" panose="02010609060101010101" pitchFamily="49" charset="-122"/>
            </a:endParaRPr>
          </a:p>
          <a:p>
            <a:pPr>
              <a:lnSpc>
                <a:spcPct val="130000"/>
              </a:lnSpc>
            </a:pPr>
            <a:endParaRPr lang="en-US" altLang="zh-CN" sz="2000" dirty="0">
              <a:latin typeface="黑体" panose="02010609060101010101" pitchFamily="49" charset="-122"/>
              <a:ea typeface="黑体" panose="02010609060101010101" pitchFamily="49" charset="-122"/>
            </a:endParaRPr>
          </a:p>
          <a:p>
            <a:pPr marL="342900" indent="-342900">
              <a:lnSpc>
                <a:spcPct val="150000"/>
              </a:lnSpc>
              <a:buFont typeface="Wingdings" panose="05000000000000000000" charset="0"/>
              <a:buChar char="l"/>
            </a:pPr>
            <a:r>
              <a:rPr lang="en-US" altLang="zh-CN" sz="2000" b="1" dirty="0">
                <a:latin typeface="黑体" panose="02010609060101010101" pitchFamily="49" charset="-122"/>
                <a:ea typeface="黑体" panose="02010609060101010101" pitchFamily="49" charset="-122"/>
              </a:rPr>
              <a:t>19.01--19.02</a:t>
            </a:r>
            <a:r>
              <a:rPr lang="zh-CN" altLang="en-US" sz="2000" b="1"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学习了迭代贪婪算法，掌握了运用</a:t>
            </a:r>
            <a:r>
              <a:rPr lang="en-US" altLang="zh-CN" sz="2000" dirty="0">
                <a:latin typeface="黑体" panose="02010609060101010101" pitchFamily="49" charset="-122"/>
                <a:ea typeface="黑体" panose="02010609060101010101" pitchFamily="49" charset="-122"/>
              </a:rPr>
              <a:t>C++</a:t>
            </a:r>
            <a:r>
              <a:rPr lang="zh-CN" altLang="en-US" sz="2000" dirty="0">
                <a:latin typeface="黑体" panose="02010609060101010101" pitchFamily="49" charset="-122"/>
                <a:ea typeface="黑体" panose="02010609060101010101" pitchFamily="49" charset="-122"/>
              </a:rPr>
              <a:t>和</a:t>
            </a:r>
            <a:r>
              <a:rPr lang="en-US" altLang="zh-CN" sz="2000" dirty="0">
                <a:latin typeface="黑体" panose="02010609060101010101" pitchFamily="49" charset="-122"/>
                <a:ea typeface="黑体" panose="02010609060101010101" pitchFamily="49" charset="-122"/>
              </a:rPr>
              <a:t>Qt</a:t>
            </a:r>
            <a:r>
              <a:rPr lang="zh-CN" altLang="en-US" sz="2000" dirty="0">
                <a:latin typeface="黑体" panose="02010609060101010101" pitchFamily="49" charset="-122"/>
                <a:ea typeface="黑体" panose="02010609060101010101" pitchFamily="49" charset="-122"/>
              </a:rPr>
              <a:t>绘制前台界面，</a:t>
            </a:r>
            <a:r>
              <a:rPr lang="zh-CN" altLang="en-US" sz="2000" dirty="0">
                <a:latin typeface="黑体" panose="02010609060101010101" pitchFamily="49" charset="-122"/>
                <a:ea typeface="黑体" panose="02010609060101010101" pitchFamily="49" charset="-122"/>
                <a:sym typeface="+mn-ea"/>
              </a:rPr>
              <a:t>提高了编程能力。</a:t>
            </a:r>
            <a:r>
              <a:rPr lang="zh-CN" altLang="en-US" sz="2000" dirty="0">
                <a:latin typeface="黑体" panose="02010609060101010101" pitchFamily="49" charset="-122"/>
                <a:ea typeface="黑体" panose="02010609060101010101" pitchFamily="49" charset="-122"/>
              </a:rPr>
              <a:t>并对</a:t>
            </a:r>
            <a:r>
              <a:rPr lang="en-US" altLang="zh-CN" sz="2000" dirty="0">
                <a:latin typeface="黑体" panose="02010609060101010101" pitchFamily="49" charset="-122"/>
                <a:ea typeface="黑体" panose="02010609060101010101" pitchFamily="49" charset="-122"/>
              </a:rPr>
              <a:t>DP_TSP</a:t>
            </a:r>
            <a:r>
              <a:rPr lang="zh-CN" altLang="en-US" sz="2000" dirty="0">
                <a:latin typeface="黑体" panose="02010609060101010101" pitchFamily="49" charset="-122"/>
                <a:ea typeface="黑体" panose="02010609060101010101" pitchFamily="49" charset="-122"/>
              </a:rPr>
              <a:t>程序进行封装，</a:t>
            </a:r>
          </a:p>
          <a:p>
            <a:pPr marL="342900" indent="-342900">
              <a:lnSpc>
                <a:spcPct val="150000"/>
              </a:lnSpc>
              <a:buFont typeface="Wingdings" panose="05000000000000000000" charset="0"/>
              <a:buChar char="l"/>
            </a:pPr>
            <a:r>
              <a:rPr lang="en-US" altLang="zh-CN" sz="2000" b="1" dirty="0">
                <a:latin typeface="黑体" panose="02010609060101010101" pitchFamily="49" charset="-122"/>
                <a:ea typeface="黑体" panose="02010609060101010101" pitchFamily="49" charset="-122"/>
              </a:rPr>
              <a:t>18.03--18.06</a:t>
            </a:r>
            <a:r>
              <a:rPr lang="zh-CN" altLang="en-US" sz="2000" b="1"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完成了</a:t>
            </a:r>
            <a:r>
              <a:rPr lang="zh-CN" altLang="en-US" sz="2000" dirty="0">
                <a:latin typeface="黑体" panose="02010609060101010101" pitchFamily="49" charset="-122"/>
                <a:ea typeface="黑体" panose="02010609060101010101" pitchFamily="49" charset="-122"/>
                <a:sym typeface="+mn-ea"/>
              </a:rPr>
              <a:t>对</a:t>
            </a:r>
            <a:r>
              <a:rPr lang="en-US" altLang="zh-CN" sz="2000" dirty="0">
                <a:latin typeface="黑体" panose="02010609060101010101" pitchFamily="49" charset="-122"/>
                <a:ea typeface="黑体" panose="02010609060101010101" pitchFamily="49" charset="-122"/>
                <a:sym typeface="+mn-ea"/>
              </a:rPr>
              <a:t>DP_TSP</a:t>
            </a:r>
            <a:r>
              <a:rPr lang="zh-CN" altLang="en-US" sz="2000" dirty="0">
                <a:latin typeface="黑体" panose="02010609060101010101" pitchFamily="49" charset="-122"/>
                <a:ea typeface="黑体" panose="02010609060101010101" pitchFamily="49" charset="-122"/>
                <a:sym typeface="+mn-ea"/>
              </a:rPr>
              <a:t>程序的封装，了解了</a:t>
            </a:r>
            <a:r>
              <a:rPr lang="zh-CN" altLang="en-US" sz="2000" dirty="0">
                <a:latin typeface="黑体" panose="02010609060101010101" pitchFamily="49" charset="-122"/>
                <a:ea typeface="黑体" panose="02010609060101010101" pitchFamily="49" charset="-122"/>
              </a:rPr>
              <a:t>钢铁行业热轧的工艺流程以及现有程序，明确热轧项目的难点以及解决逻辑。</a:t>
            </a:r>
            <a:r>
              <a:rPr lang="en-US" altLang="zh-CN" sz="2200" dirty="0">
                <a:ea typeface="楷体_GB2312"/>
              </a:rPr>
              <a:t>                                      </a:t>
            </a:r>
            <a:endParaRPr lang="zh-CN" altLang="en-US" sz="2200" dirty="0">
              <a:ea typeface="楷体_GB2312"/>
            </a:endParaRPr>
          </a:p>
        </p:txBody>
      </p:sp>
      <p:sp>
        <p:nvSpPr>
          <p:cNvPr id="6" name="文本框 5"/>
          <p:cNvSpPr txBox="1"/>
          <p:nvPr/>
        </p:nvSpPr>
        <p:spPr>
          <a:xfrm>
            <a:off x="696595" y="3343275"/>
            <a:ext cx="1861820" cy="460375"/>
          </a:xfrm>
          <a:prstGeom prst="rect">
            <a:avLst/>
          </a:prstGeom>
          <a:noFill/>
        </p:spPr>
        <p:txBody>
          <a:bodyPr wrap="square" rtlCol="0">
            <a:spAutoFit/>
          </a:bodyPr>
          <a:lstStyle/>
          <a:p>
            <a:pPr indent="0" algn="ctr">
              <a:buClr>
                <a:srgbClr val="262626"/>
              </a:buClr>
              <a:buFont typeface="Wingdings" panose="05000000000000000000" charset="0"/>
              <a:buChar char=""/>
            </a:pPr>
            <a:r>
              <a:rPr lang="en-US" altLang="zh-CN" sz="2400" b="1" dirty="0">
                <a:latin typeface="幼圆" panose="02010509060101010101" charset="-122"/>
                <a:ea typeface="幼圆" panose="02010509060101010101" charset="-122"/>
              </a:rPr>
              <a:t> </a:t>
            </a:r>
            <a:r>
              <a:rPr lang="zh-CN" altLang="en-US" sz="2400" b="1" dirty="0">
                <a:latin typeface="幼圆" panose="02010509060101010101" charset="-122"/>
                <a:ea typeface="幼圆" panose="02010509060101010101" charset="-122"/>
              </a:rPr>
              <a:t>实践学习</a:t>
            </a:r>
            <a:r>
              <a:rPr lang="zh-CN" altLang="en-US" sz="2400" dirty="0">
                <a:latin typeface="幼圆" panose="02010509060101010101" charset="-122"/>
                <a:ea typeface="幼圆" panose="02010509060101010101" charset="-122"/>
              </a:rPr>
              <a:t>：</a:t>
            </a:r>
          </a:p>
        </p:txBody>
      </p:sp>
      <p:sp>
        <p:nvSpPr>
          <p:cNvPr id="7" name="文本框 6"/>
          <p:cNvSpPr txBox="1"/>
          <p:nvPr/>
        </p:nvSpPr>
        <p:spPr>
          <a:xfrm>
            <a:off x="696595" y="1088390"/>
            <a:ext cx="1861820" cy="460375"/>
          </a:xfrm>
          <a:prstGeom prst="rect">
            <a:avLst/>
          </a:prstGeom>
          <a:noFill/>
        </p:spPr>
        <p:txBody>
          <a:bodyPr wrap="square" rtlCol="0">
            <a:spAutoFit/>
          </a:bodyPr>
          <a:lstStyle/>
          <a:p>
            <a:pPr indent="0" algn="ctr">
              <a:buClr>
                <a:srgbClr val="262626"/>
              </a:buClr>
              <a:buFont typeface="Wingdings" panose="05000000000000000000" charset="0"/>
              <a:buChar char=""/>
            </a:pPr>
            <a:r>
              <a:rPr lang="en-US" altLang="zh-CN" sz="2400" dirty="0">
                <a:latin typeface="幼圆" panose="02010509060101010101" charset="-122"/>
                <a:ea typeface="幼圆" panose="02010509060101010101" charset="-122"/>
              </a:rPr>
              <a:t> </a:t>
            </a:r>
            <a:r>
              <a:rPr lang="zh-CN" altLang="en-US" sz="2400" b="1" dirty="0">
                <a:latin typeface="幼圆" panose="02010509060101010101" charset="-122"/>
                <a:ea typeface="幼圆" panose="02010509060101010101" charset="-122"/>
              </a:rPr>
              <a:t>主修课程</a:t>
            </a:r>
            <a:r>
              <a:rPr lang="zh-CN" altLang="en-US" sz="2400" dirty="0">
                <a:latin typeface="幼圆" panose="02010509060101010101" charset="-122"/>
                <a:ea typeface="幼圆" panose="02010509060101010101" charset="-122"/>
              </a:rPr>
              <a:t>：</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Arial" panose="020B0604020202020204" pitchFamily="34" charset="0"/>
              </a:rPr>
              <a:t>选题开题阶段</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矩形 6"/>
          <p:cNvSpPr/>
          <p:nvPr/>
        </p:nvSpPr>
        <p:spPr>
          <a:xfrm>
            <a:off x="952756" y="1128807"/>
            <a:ext cx="7416824" cy="1568450"/>
          </a:xfrm>
          <a:prstGeom prst="rect">
            <a:avLst/>
          </a:prstGeom>
        </p:spPr>
        <p:txBody>
          <a:bodyPr wrap="square">
            <a:spAutoFit/>
          </a:bodyPr>
          <a:lstStyle/>
          <a:p>
            <a:pPr marL="342900" indent="-342900">
              <a:lnSpc>
                <a:spcPct val="150000"/>
              </a:lnSpc>
              <a:buFont typeface="Wingdings" panose="05000000000000000000" charset="0"/>
              <a:buChar char=""/>
            </a:pPr>
            <a:r>
              <a:rPr lang="zh-CN" altLang="en-US" sz="2400" b="1" dirty="0">
                <a:latin typeface="幼圆" panose="02010509060101010101" charset="-122"/>
                <a:ea typeface="幼圆" panose="02010509060101010101" charset="-122"/>
              </a:rPr>
              <a:t>参与项目：</a:t>
            </a:r>
          </a:p>
          <a:p>
            <a:pPr>
              <a:lnSpc>
                <a:spcPct val="150000"/>
              </a:lnSpc>
            </a:pPr>
            <a:r>
              <a:rPr lang="zh-CN" altLang="en-US" sz="2000" dirty="0">
                <a:latin typeface="+mn-ea"/>
              </a:rPr>
              <a:t>          在上海宝信软件公司参与国家重点研发计划项目“长型材智能化设备”项目</a:t>
            </a:r>
            <a:r>
              <a:rPr lang="zh-CN" altLang="en-US" sz="2000" b="1" dirty="0">
                <a:latin typeface="+mn-ea"/>
              </a:rPr>
              <a:t>。</a:t>
            </a:r>
          </a:p>
        </p:txBody>
      </p:sp>
      <p:sp>
        <p:nvSpPr>
          <p:cNvPr id="8" name="矩形 7"/>
          <p:cNvSpPr/>
          <p:nvPr/>
        </p:nvSpPr>
        <p:spPr>
          <a:xfrm>
            <a:off x="952614" y="2697243"/>
            <a:ext cx="7659947" cy="460375"/>
          </a:xfrm>
          <a:prstGeom prst="rect">
            <a:avLst/>
          </a:prstGeom>
        </p:spPr>
        <p:txBody>
          <a:bodyPr wrap="square">
            <a:spAutoFit/>
          </a:bodyPr>
          <a:lstStyle/>
          <a:p>
            <a:pPr>
              <a:buFont typeface="Wingdings" panose="05000000000000000000" pitchFamily="2" charset="2"/>
              <a:buChar char="Ø"/>
            </a:pPr>
            <a:r>
              <a:rPr lang="zh-CN" altLang="en-US" sz="2400" b="1" dirty="0">
                <a:latin typeface="幼圆" panose="02010509060101010101" charset="-122"/>
                <a:ea typeface="幼圆" panose="02010509060101010101" charset="-122"/>
              </a:rPr>
              <a:t>项目简介：</a:t>
            </a:r>
          </a:p>
        </p:txBody>
      </p:sp>
      <p:sp>
        <p:nvSpPr>
          <p:cNvPr id="9" name="矩形 8"/>
          <p:cNvSpPr/>
          <p:nvPr/>
        </p:nvSpPr>
        <p:spPr>
          <a:xfrm>
            <a:off x="1223896" y="3139822"/>
            <a:ext cx="6696744" cy="1522095"/>
          </a:xfrm>
          <a:prstGeom prst="rect">
            <a:avLst/>
          </a:prstGeom>
        </p:spPr>
        <p:txBody>
          <a:bodyPr wrap="square">
            <a:spAutoFit/>
          </a:bodyPr>
          <a:lstStyle/>
          <a:p>
            <a:pPr>
              <a:lnSpc>
                <a:spcPct val="150000"/>
              </a:lnSpc>
            </a:pPr>
            <a:r>
              <a:rPr lang="en-US" altLang="zh-CN" sz="2200" dirty="0">
                <a:ea typeface="楷体_GB2312"/>
              </a:rPr>
              <a:t>     </a:t>
            </a:r>
            <a:r>
              <a:rPr lang="en-US" altLang="zh-CN" sz="2200" dirty="0">
                <a:latin typeface="+mn-ea"/>
              </a:rPr>
              <a:t> </a:t>
            </a:r>
            <a:r>
              <a:rPr lang="zh-CN" altLang="zh-CN" sz="2000" dirty="0">
                <a:latin typeface="+mn-ea"/>
              </a:rPr>
              <a:t>此项目主要包括：</a:t>
            </a:r>
            <a:r>
              <a:rPr lang="zh-CN" altLang="en-US" sz="2000" dirty="0">
                <a:latin typeface="+mn-ea"/>
              </a:rPr>
              <a:t>炼钢</a:t>
            </a:r>
            <a:r>
              <a:rPr lang="en-US" altLang="zh-CN" sz="2000" dirty="0">
                <a:latin typeface="+mn-ea"/>
              </a:rPr>
              <a:t>-</a:t>
            </a:r>
            <a:r>
              <a:rPr lang="zh-CN" altLang="en-US" sz="2000" dirty="0">
                <a:latin typeface="+mn-ea"/>
              </a:rPr>
              <a:t>连铸预计划</a:t>
            </a:r>
            <a:r>
              <a:rPr lang="zh-CN" altLang="zh-CN" sz="2000" dirty="0">
                <a:latin typeface="+mn-ea"/>
              </a:rPr>
              <a:t>部分、</a:t>
            </a:r>
            <a:r>
              <a:rPr lang="zh-CN" altLang="en-US" sz="2000" dirty="0">
                <a:latin typeface="+mn-ea"/>
              </a:rPr>
              <a:t>热轧预计划</a:t>
            </a:r>
            <a:r>
              <a:rPr lang="zh-CN" altLang="zh-CN" sz="2000" dirty="0">
                <a:latin typeface="+mn-ea"/>
              </a:rPr>
              <a:t>和</a:t>
            </a:r>
            <a:r>
              <a:rPr lang="zh-CN" altLang="en-US" sz="2000" dirty="0">
                <a:latin typeface="+mn-ea"/>
              </a:rPr>
              <a:t>冷轧一体化</a:t>
            </a:r>
            <a:r>
              <a:rPr lang="zh-CN" altLang="zh-CN" sz="2000" dirty="0">
                <a:latin typeface="+mn-ea"/>
              </a:rPr>
              <a:t>部分。</a:t>
            </a:r>
            <a:r>
              <a:rPr lang="zh-CN" altLang="en-US" sz="2000" dirty="0">
                <a:latin typeface="+mn-ea"/>
              </a:rPr>
              <a:t>本人目前参与的是热轧计划编制的优化算法及系统的实现。</a:t>
            </a:r>
          </a:p>
        </p:txBody>
      </p:sp>
      <p:pic>
        <p:nvPicPr>
          <p:cNvPr id="5" name="图片 4" descr="无标题"/>
          <p:cNvPicPr>
            <a:picLocks noChangeAspect="1"/>
          </p:cNvPicPr>
          <p:nvPr/>
        </p:nvPicPr>
        <p:blipFill>
          <a:blip r:embed="rId2"/>
          <a:stretch>
            <a:fillRect/>
          </a:stretch>
        </p:blipFill>
        <p:spPr>
          <a:xfrm>
            <a:off x="680720" y="4662170"/>
            <a:ext cx="7340600" cy="17468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243455" y="1863725"/>
            <a:ext cx="4656455" cy="3300730"/>
            <a:chOff x="3435" y="3225"/>
            <a:chExt cx="7333" cy="5198"/>
          </a:xfrm>
        </p:grpSpPr>
        <p:sp>
          <p:nvSpPr>
            <p:cNvPr id="3" name="矩形 2"/>
            <p:cNvSpPr/>
            <p:nvPr/>
          </p:nvSpPr>
          <p:spPr>
            <a:xfrm>
              <a:off x="5463" y="3225"/>
              <a:ext cx="3370" cy="9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 name="矩形 7"/>
            <p:cNvSpPr>
              <a:spLocks noChangeArrowheads="1"/>
            </p:cNvSpPr>
            <p:nvPr/>
          </p:nvSpPr>
          <p:spPr bwMode="auto">
            <a:xfrm>
              <a:off x="5528" y="3408"/>
              <a:ext cx="3237"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ea typeface="楷体_GB2312" pitchFamily="49" charset="-122"/>
                </a:rPr>
                <a:t>查阅大量相关文献</a:t>
              </a:r>
            </a:p>
          </p:txBody>
        </p:sp>
        <p:cxnSp>
          <p:nvCxnSpPr>
            <p:cNvPr id="5" name="直接箭头连接符 4"/>
            <p:cNvCxnSpPr/>
            <p:nvPr/>
          </p:nvCxnSpPr>
          <p:spPr>
            <a:xfrm flipH="1">
              <a:off x="5730" y="4125"/>
              <a:ext cx="1335" cy="144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flipH="1">
              <a:off x="3655" y="4125"/>
              <a:ext cx="3350" cy="144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a:off x="7025" y="4125"/>
              <a:ext cx="1445" cy="144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7065" y="4183"/>
              <a:ext cx="3340" cy="141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TextBox 27"/>
            <p:cNvSpPr txBox="1">
              <a:spLocks noChangeArrowheads="1"/>
            </p:cNvSpPr>
            <p:nvPr/>
          </p:nvSpPr>
          <p:spPr bwMode="auto">
            <a:xfrm>
              <a:off x="3435" y="5705"/>
              <a:ext cx="728" cy="2718"/>
            </a:xfrm>
            <a:prstGeom prst="rect">
              <a:avLst/>
            </a:prstGeom>
            <a:solidFill>
              <a:schemeClr val="bg1"/>
            </a:solidFill>
            <a:ln w="3175">
              <a:solidFill>
                <a:schemeClr val="tx1"/>
              </a:solidFill>
            </a:ln>
          </p:spPr>
          <p:txBody>
            <a:bodyPr vert="eaVert">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ea typeface="楷体_GB2312" pitchFamily="49" charset="-122"/>
                </a:rPr>
                <a:t>课题背景</a:t>
              </a:r>
            </a:p>
          </p:txBody>
        </p:sp>
        <p:sp>
          <p:nvSpPr>
            <p:cNvPr id="14" name="TextBox 35"/>
            <p:cNvSpPr txBox="1">
              <a:spLocks noChangeArrowheads="1"/>
            </p:cNvSpPr>
            <p:nvPr/>
          </p:nvSpPr>
          <p:spPr bwMode="auto">
            <a:xfrm>
              <a:off x="10042" y="5625"/>
              <a:ext cx="727" cy="2740"/>
            </a:xfrm>
            <a:prstGeom prst="rect">
              <a:avLst/>
            </a:prstGeom>
            <a:solidFill>
              <a:schemeClr val="bg1"/>
            </a:solidFill>
            <a:ln w="9525">
              <a:solidFill>
                <a:srgbClr val="000000"/>
              </a:solidFill>
              <a:miter lim="800000"/>
            </a:ln>
          </p:spPr>
          <p:txBody>
            <a:bodyPr vert="eaVert"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ea typeface="楷体_GB2312" pitchFamily="49" charset="-122"/>
                </a:rPr>
                <a:t>发展状态</a:t>
              </a:r>
            </a:p>
          </p:txBody>
        </p:sp>
        <p:sp>
          <p:nvSpPr>
            <p:cNvPr id="15" name="TextBox 36"/>
            <p:cNvSpPr txBox="1">
              <a:spLocks noChangeArrowheads="1"/>
            </p:cNvSpPr>
            <p:nvPr/>
          </p:nvSpPr>
          <p:spPr bwMode="auto">
            <a:xfrm>
              <a:off x="8035" y="5628"/>
              <a:ext cx="727" cy="2737"/>
            </a:xfrm>
            <a:prstGeom prst="rect">
              <a:avLst/>
            </a:prstGeom>
            <a:solidFill>
              <a:schemeClr val="bg1"/>
            </a:solidFill>
            <a:ln w="9525">
              <a:solidFill>
                <a:srgbClr val="000000"/>
              </a:solidFill>
              <a:miter lim="800000"/>
            </a:ln>
          </p:spPr>
          <p:txBody>
            <a:bodyPr vert="eaVert"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ea typeface="楷体_GB2312" pitchFamily="49" charset="-122"/>
                </a:rPr>
                <a:t>国内外研究现状</a:t>
              </a:r>
            </a:p>
          </p:txBody>
        </p:sp>
        <p:sp>
          <p:nvSpPr>
            <p:cNvPr id="16" name="TextBox 37"/>
            <p:cNvSpPr txBox="1">
              <a:spLocks noChangeArrowheads="1"/>
            </p:cNvSpPr>
            <p:nvPr/>
          </p:nvSpPr>
          <p:spPr bwMode="auto">
            <a:xfrm>
              <a:off x="5463" y="5625"/>
              <a:ext cx="725" cy="2740"/>
            </a:xfrm>
            <a:prstGeom prst="rect">
              <a:avLst/>
            </a:prstGeom>
            <a:solidFill>
              <a:schemeClr val="bg1"/>
            </a:solidFill>
            <a:ln w="3175">
              <a:solidFill>
                <a:srgbClr val="000000"/>
              </a:solidFill>
              <a:miter lim="800000"/>
            </a:ln>
          </p:spPr>
          <p:txBody>
            <a:bodyPr vert="eaVert">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ea typeface="楷体_GB2312" pitchFamily="49" charset="-122"/>
                </a:rPr>
                <a:t>课题研究意义</a:t>
              </a:r>
            </a:p>
          </p:txBody>
        </p:sp>
      </p:grpSp>
      <p:sp>
        <p:nvSpPr>
          <p:cNvPr id="21" name="矩形 20"/>
          <p:cNvSpPr/>
          <p:nvPr/>
        </p:nvSpPr>
        <p:spPr>
          <a:xfrm>
            <a:off x="126206" y="5445224"/>
            <a:ext cx="8838282" cy="737235"/>
          </a:xfrm>
          <a:prstGeom prst="rect">
            <a:avLst/>
          </a:prstGeom>
        </p:spPr>
        <p:txBody>
          <a:bodyPr wrap="square">
            <a:spAutoFit/>
          </a:bodyPr>
          <a:lstStyle/>
          <a:p>
            <a:r>
              <a:rPr lang="en-US" altLang="zh-CN" sz="2200" dirty="0">
                <a:ea typeface="楷体_GB2312"/>
              </a:rPr>
              <a:t>       </a:t>
            </a:r>
            <a:r>
              <a:rPr lang="zh-CN" altLang="zh-CN" sz="2000" dirty="0">
                <a:ea typeface="楷体_GB2312"/>
              </a:rPr>
              <a:t>以上研究工作是近一年来的</a:t>
            </a:r>
            <a:r>
              <a:rPr lang="zh-CN" altLang="en-US" sz="2000" dirty="0">
                <a:ea typeface="楷体_GB2312"/>
              </a:rPr>
              <a:t>学习</a:t>
            </a:r>
            <a:r>
              <a:rPr lang="zh-CN" altLang="zh-CN" sz="2000" dirty="0">
                <a:ea typeface="楷体_GB2312"/>
              </a:rPr>
              <a:t>成果，</a:t>
            </a:r>
            <a:r>
              <a:rPr lang="zh-CN" altLang="zh-CN" sz="2000">
                <a:ea typeface="楷体_GB2312"/>
              </a:rPr>
              <a:t>使自己</a:t>
            </a:r>
            <a:r>
              <a:rPr lang="zh-CN" altLang="en-US" sz="2000">
                <a:ea typeface="楷体_GB2312"/>
              </a:rPr>
              <a:t>在</a:t>
            </a:r>
            <a:r>
              <a:rPr lang="zh-CN" altLang="zh-CN" sz="2000">
                <a:ea typeface="楷体_GB2312"/>
              </a:rPr>
              <a:t>工程实践技能</a:t>
            </a:r>
            <a:r>
              <a:rPr lang="zh-CN" altLang="en-US" sz="2000">
                <a:ea typeface="楷体_GB2312"/>
              </a:rPr>
              <a:t>等方面</a:t>
            </a:r>
            <a:r>
              <a:rPr lang="zh-CN" altLang="zh-CN" sz="2000">
                <a:ea typeface="楷体_GB2312"/>
              </a:rPr>
              <a:t>得到</a:t>
            </a:r>
            <a:r>
              <a:rPr lang="zh-CN" altLang="en-US" sz="2000" dirty="0">
                <a:ea typeface="楷体_GB2312"/>
              </a:rPr>
              <a:t>很</a:t>
            </a:r>
            <a:r>
              <a:rPr lang="zh-CN" altLang="zh-CN" sz="2000">
                <a:ea typeface="楷体_GB2312"/>
              </a:rPr>
              <a:t>大</a:t>
            </a:r>
            <a:r>
              <a:rPr lang="zh-CN" altLang="zh-CN" sz="2000" dirty="0">
                <a:ea typeface="楷体_GB2312"/>
              </a:rPr>
              <a:t>的提升</a:t>
            </a:r>
            <a:r>
              <a:rPr lang="zh-CN" altLang="en-US" sz="2000" dirty="0">
                <a:ea typeface="楷体_GB2312"/>
              </a:rPr>
              <a:t>。</a:t>
            </a:r>
          </a:p>
        </p:txBody>
      </p:sp>
      <p:sp>
        <p:nvSpPr>
          <p:cNvPr id="2" name="TextBox 4"/>
          <p:cNvSpPr txBox="1">
            <a:spLocks noChangeArrowheads="1"/>
          </p:cNvSpPr>
          <p:nvPr/>
        </p:nvSpPr>
        <p:spPr bwMode="auto">
          <a:xfrm>
            <a:off x="686594" y="1093183"/>
            <a:ext cx="59039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eaLnBrk="1" hangingPunct="1">
              <a:buClr>
                <a:srgbClr val="000000"/>
              </a:buClr>
              <a:buFont typeface="Wingdings" panose="05000000000000000000" charset="0"/>
              <a:buChar char="Ø"/>
            </a:pPr>
            <a:r>
              <a:rPr lang="zh-CN" altLang="en-US" sz="2400" b="1" dirty="0">
                <a:latin typeface="幼圆" panose="02010509060101010101" charset="-122"/>
                <a:ea typeface="幼圆" panose="02010509060101010101" charset="-122"/>
              </a:rPr>
              <a:t>查阅文献</a:t>
            </a:r>
          </a:p>
        </p:txBody>
      </p:sp>
      <p:sp>
        <p:nvSpPr>
          <p:cNvPr id="11" name="标题 10"/>
          <p:cNvSpPr>
            <a:spLocks noGrp="1"/>
          </p:cNvSpPr>
          <p:nvPr>
            <p:ph type="title"/>
          </p:nvPr>
        </p:nvSpPr>
        <p:spPr/>
        <p:txBody>
          <a:bodyPr/>
          <a:lstStyle/>
          <a:p>
            <a:r>
              <a:rPr lang="zh-CN" altLang="en-US" dirty="0">
                <a:sym typeface="Arial" panose="020B0604020202020204" pitchFamily="34" charset="0"/>
              </a:rPr>
              <a:t>选题开题阶段</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p:cNvPicPr>
            <a:picLocks noChangeAspect="1" noChangeArrowheads="1"/>
          </p:cNvPicPr>
          <p:nvPr/>
        </p:nvPicPr>
        <p:blipFill rotWithShape="1">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767" r="7205" b="57679"/>
          <a:stretch>
            <a:fillRect/>
          </a:stretch>
        </p:blipFill>
        <p:spPr bwMode="auto">
          <a:xfrm rot="10800000">
            <a:off x="971600" y="4221088"/>
            <a:ext cx="7272808" cy="469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3"/>
          <p:cNvPicPr>
            <a:picLocks noChangeAspect="1" noChangeArrowheads="1"/>
          </p:cNvPicPr>
          <p:nvPr/>
        </p:nvPicPr>
        <p:blipFill rotWithShape="1">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767" r="7205" b="57679"/>
          <a:stretch>
            <a:fillRect/>
          </a:stretch>
        </p:blipFill>
        <p:spPr bwMode="auto">
          <a:xfrm rot="10800000" flipV="1">
            <a:off x="957113" y="2132856"/>
            <a:ext cx="7272808" cy="469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TextBox 17"/>
          <p:cNvSpPr txBox="1"/>
          <p:nvPr/>
        </p:nvSpPr>
        <p:spPr>
          <a:xfrm>
            <a:off x="3759200" y="3166165"/>
            <a:ext cx="4269184" cy="584775"/>
          </a:xfrm>
          <a:prstGeom prst="rect">
            <a:avLst/>
          </a:prstGeom>
          <a:noFill/>
        </p:spPr>
        <p:txBody>
          <a:bodyPr wrap="square" rtlCol="0">
            <a:spAutoFit/>
          </a:bodyPr>
          <a:lstStyle/>
          <a:p>
            <a:r>
              <a:rPr lang="zh-CN" altLang="en-US" sz="3200" b="1" dirty="0">
                <a:solidFill>
                  <a:srgbClr val="072063"/>
                </a:solidFill>
              </a:rPr>
              <a:t>选题背景及研究意义</a:t>
            </a:r>
          </a:p>
        </p:txBody>
      </p:sp>
      <p:grpSp>
        <p:nvGrpSpPr>
          <p:cNvPr id="3" name="组合 2"/>
          <p:cNvGrpSpPr/>
          <p:nvPr/>
        </p:nvGrpSpPr>
        <p:grpSpPr>
          <a:xfrm>
            <a:off x="2195736" y="2853104"/>
            <a:ext cx="1224137" cy="1220324"/>
            <a:chOff x="2195736" y="2853104"/>
            <a:chExt cx="1224137" cy="1220324"/>
          </a:xfrm>
        </p:grpSpPr>
        <p:sp>
          <p:nvSpPr>
            <p:cNvPr id="19" name="椭圆 18"/>
            <p:cNvSpPr/>
            <p:nvPr/>
          </p:nvSpPr>
          <p:spPr>
            <a:xfrm>
              <a:off x="2195736" y="3683124"/>
              <a:ext cx="1224137" cy="390304"/>
            </a:xfrm>
            <a:prstGeom prst="ellipse">
              <a:avLst/>
            </a:prstGeom>
            <a:gradFill flip="none" rotWithShape="1">
              <a:gsLst>
                <a:gs pos="0">
                  <a:schemeClr val="tx1">
                    <a:alpha val="68000"/>
                  </a:schemeClr>
                </a:gs>
                <a:gs pos="100000">
                  <a:schemeClr val="tx1">
                    <a:lumMod val="65000"/>
                    <a:lumOff val="35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nvGrpSpPr>
            <p:cNvPr id="2" name="组合 1"/>
            <p:cNvGrpSpPr/>
            <p:nvPr/>
          </p:nvGrpSpPr>
          <p:grpSpPr>
            <a:xfrm>
              <a:off x="2276608" y="2853104"/>
              <a:ext cx="1089990" cy="1089990"/>
              <a:chOff x="2276608" y="2853104"/>
              <a:chExt cx="1089990" cy="1089990"/>
            </a:xfrm>
          </p:grpSpPr>
          <p:sp>
            <p:nvSpPr>
              <p:cNvPr id="52" name="椭圆 51"/>
              <p:cNvSpPr/>
              <p:nvPr/>
            </p:nvSpPr>
            <p:spPr>
              <a:xfrm>
                <a:off x="2276608" y="2853104"/>
                <a:ext cx="1089990" cy="1089990"/>
              </a:xfrm>
              <a:prstGeom prst="ellipse">
                <a:avLst/>
              </a:prstGeom>
              <a:solidFill>
                <a:srgbClr val="0720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lumMod val="65000"/>
                      <a:lumOff val="35000"/>
                    </a:schemeClr>
                  </a:solidFill>
                </a:endParaRPr>
              </a:p>
            </p:txBody>
          </p:sp>
          <p:grpSp>
            <p:nvGrpSpPr>
              <p:cNvPr id="53" name="Group 61"/>
              <p:cNvGrpSpPr>
                <a:grpSpLocks noChangeAspect="1"/>
              </p:cNvGrpSpPr>
              <p:nvPr/>
            </p:nvGrpSpPr>
            <p:grpSpPr bwMode="auto">
              <a:xfrm>
                <a:off x="2446556" y="3042102"/>
                <a:ext cx="731041" cy="731041"/>
                <a:chOff x="569" y="2009"/>
                <a:chExt cx="687" cy="687"/>
              </a:xfrm>
            </p:grpSpPr>
            <p:sp>
              <p:nvSpPr>
                <p:cNvPr id="54" name="Freeform 62"/>
                <p:cNvSpPr/>
                <p:nvPr/>
              </p:nvSpPr>
              <p:spPr bwMode="auto">
                <a:xfrm>
                  <a:off x="982" y="2026"/>
                  <a:ext cx="260" cy="259"/>
                </a:xfrm>
                <a:custGeom>
                  <a:avLst/>
                  <a:gdLst>
                    <a:gd name="T0" fmla="*/ 44 w 110"/>
                    <a:gd name="T1" fmla="*/ 110 h 110"/>
                    <a:gd name="T2" fmla="*/ 110 w 110"/>
                    <a:gd name="T3" fmla="*/ 110 h 110"/>
                    <a:gd name="T4" fmla="*/ 0 w 110"/>
                    <a:gd name="T5" fmla="*/ 0 h 110"/>
                    <a:gd name="T6" fmla="*/ 0 w 110"/>
                    <a:gd name="T7" fmla="*/ 65 h 110"/>
                    <a:gd name="T8" fmla="*/ 44 w 110"/>
                    <a:gd name="T9" fmla="*/ 110 h 110"/>
                  </a:gdLst>
                  <a:ahLst/>
                  <a:cxnLst>
                    <a:cxn ang="0">
                      <a:pos x="T0" y="T1"/>
                    </a:cxn>
                    <a:cxn ang="0">
                      <a:pos x="T2" y="T3"/>
                    </a:cxn>
                    <a:cxn ang="0">
                      <a:pos x="T4" y="T5"/>
                    </a:cxn>
                    <a:cxn ang="0">
                      <a:pos x="T6" y="T7"/>
                    </a:cxn>
                    <a:cxn ang="0">
                      <a:pos x="T8" y="T9"/>
                    </a:cxn>
                  </a:cxnLst>
                  <a:rect l="0" t="0" r="r" b="b"/>
                  <a:pathLst>
                    <a:path w="110" h="110">
                      <a:moveTo>
                        <a:pt x="44" y="110"/>
                      </a:moveTo>
                      <a:cubicBezTo>
                        <a:pt x="110" y="110"/>
                        <a:pt x="110" y="110"/>
                        <a:pt x="110" y="110"/>
                      </a:cubicBezTo>
                      <a:cubicBezTo>
                        <a:pt x="98" y="54"/>
                        <a:pt x="55" y="11"/>
                        <a:pt x="0" y="0"/>
                      </a:cubicBezTo>
                      <a:cubicBezTo>
                        <a:pt x="0" y="65"/>
                        <a:pt x="0" y="65"/>
                        <a:pt x="0" y="65"/>
                      </a:cubicBezTo>
                      <a:cubicBezTo>
                        <a:pt x="20" y="73"/>
                        <a:pt x="36" y="90"/>
                        <a:pt x="44" y="11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63"/>
                <p:cNvSpPr/>
                <p:nvPr/>
              </p:nvSpPr>
              <p:spPr bwMode="auto">
                <a:xfrm>
                  <a:off x="586" y="2026"/>
                  <a:ext cx="259" cy="259"/>
                </a:xfrm>
                <a:custGeom>
                  <a:avLst/>
                  <a:gdLst>
                    <a:gd name="T0" fmla="*/ 110 w 110"/>
                    <a:gd name="T1" fmla="*/ 65 h 110"/>
                    <a:gd name="T2" fmla="*/ 110 w 110"/>
                    <a:gd name="T3" fmla="*/ 0 h 110"/>
                    <a:gd name="T4" fmla="*/ 0 w 110"/>
                    <a:gd name="T5" fmla="*/ 110 h 110"/>
                    <a:gd name="T6" fmla="*/ 66 w 110"/>
                    <a:gd name="T7" fmla="*/ 110 h 110"/>
                    <a:gd name="T8" fmla="*/ 110 w 110"/>
                    <a:gd name="T9" fmla="*/ 65 h 110"/>
                  </a:gdLst>
                  <a:ahLst/>
                  <a:cxnLst>
                    <a:cxn ang="0">
                      <a:pos x="T0" y="T1"/>
                    </a:cxn>
                    <a:cxn ang="0">
                      <a:pos x="T2" y="T3"/>
                    </a:cxn>
                    <a:cxn ang="0">
                      <a:pos x="T4" y="T5"/>
                    </a:cxn>
                    <a:cxn ang="0">
                      <a:pos x="T6" y="T7"/>
                    </a:cxn>
                    <a:cxn ang="0">
                      <a:pos x="T8" y="T9"/>
                    </a:cxn>
                  </a:cxnLst>
                  <a:rect l="0" t="0" r="r" b="b"/>
                  <a:pathLst>
                    <a:path w="110" h="110">
                      <a:moveTo>
                        <a:pt x="110" y="65"/>
                      </a:moveTo>
                      <a:cubicBezTo>
                        <a:pt x="110" y="0"/>
                        <a:pt x="110" y="0"/>
                        <a:pt x="110" y="0"/>
                      </a:cubicBezTo>
                      <a:cubicBezTo>
                        <a:pt x="55" y="11"/>
                        <a:pt x="11" y="54"/>
                        <a:pt x="0" y="110"/>
                      </a:cubicBezTo>
                      <a:cubicBezTo>
                        <a:pt x="66" y="110"/>
                        <a:pt x="66" y="110"/>
                        <a:pt x="66" y="110"/>
                      </a:cubicBezTo>
                      <a:cubicBezTo>
                        <a:pt x="74" y="90"/>
                        <a:pt x="90" y="73"/>
                        <a:pt x="110" y="6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64"/>
                <p:cNvSpPr/>
                <p:nvPr/>
              </p:nvSpPr>
              <p:spPr bwMode="auto">
                <a:xfrm>
                  <a:off x="982" y="2420"/>
                  <a:ext cx="260" cy="262"/>
                </a:xfrm>
                <a:custGeom>
                  <a:avLst/>
                  <a:gdLst>
                    <a:gd name="T0" fmla="*/ 0 w 110"/>
                    <a:gd name="T1" fmla="*/ 45 h 111"/>
                    <a:gd name="T2" fmla="*/ 0 w 110"/>
                    <a:gd name="T3" fmla="*/ 111 h 111"/>
                    <a:gd name="T4" fmla="*/ 110 w 110"/>
                    <a:gd name="T5" fmla="*/ 0 h 111"/>
                    <a:gd name="T6" fmla="*/ 44 w 110"/>
                    <a:gd name="T7" fmla="*/ 0 h 111"/>
                    <a:gd name="T8" fmla="*/ 0 w 110"/>
                    <a:gd name="T9" fmla="*/ 45 h 111"/>
                  </a:gdLst>
                  <a:ahLst/>
                  <a:cxnLst>
                    <a:cxn ang="0">
                      <a:pos x="T0" y="T1"/>
                    </a:cxn>
                    <a:cxn ang="0">
                      <a:pos x="T2" y="T3"/>
                    </a:cxn>
                    <a:cxn ang="0">
                      <a:pos x="T4" y="T5"/>
                    </a:cxn>
                    <a:cxn ang="0">
                      <a:pos x="T6" y="T7"/>
                    </a:cxn>
                    <a:cxn ang="0">
                      <a:pos x="T8" y="T9"/>
                    </a:cxn>
                  </a:cxnLst>
                  <a:rect l="0" t="0" r="r" b="b"/>
                  <a:pathLst>
                    <a:path w="110" h="111">
                      <a:moveTo>
                        <a:pt x="0" y="45"/>
                      </a:moveTo>
                      <a:cubicBezTo>
                        <a:pt x="0" y="111"/>
                        <a:pt x="0" y="111"/>
                        <a:pt x="0" y="111"/>
                      </a:cubicBezTo>
                      <a:cubicBezTo>
                        <a:pt x="55" y="99"/>
                        <a:pt x="98" y="56"/>
                        <a:pt x="110" y="0"/>
                      </a:cubicBezTo>
                      <a:cubicBezTo>
                        <a:pt x="44" y="0"/>
                        <a:pt x="44" y="0"/>
                        <a:pt x="44" y="0"/>
                      </a:cubicBezTo>
                      <a:cubicBezTo>
                        <a:pt x="36" y="21"/>
                        <a:pt x="20" y="37"/>
                        <a:pt x="0" y="4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65"/>
                <p:cNvSpPr/>
                <p:nvPr/>
              </p:nvSpPr>
              <p:spPr bwMode="auto">
                <a:xfrm>
                  <a:off x="586" y="2420"/>
                  <a:ext cx="259" cy="262"/>
                </a:xfrm>
                <a:custGeom>
                  <a:avLst/>
                  <a:gdLst>
                    <a:gd name="T0" fmla="*/ 66 w 110"/>
                    <a:gd name="T1" fmla="*/ 0 h 111"/>
                    <a:gd name="T2" fmla="*/ 0 w 110"/>
                    <a:gd name="T3" fmla="*/ 0 h 111"/>
                    <a:gd name="T4" fmla="*/ 110 w 110"/>
                    <a:gd name="T5" fmla="*/ 111 h 111"/>
                    <a:gd name="T6" fmla="*/ 110 w 110"/>
                    <a:gd name="T7" fmla="*/ 45 h 111"/>
                    <a:gd name="T8" fmla="*/ 66 w 110"/>
                    <a:gd name="T9" fmla="*/ 0 h 111"/>
                  </a:gdLst>
                  <a:ahLst/>
                  <a:cxnLst>
                    <a:cxn ang="0">
                      <a:pos x="T0" y="T1"/>
                    </a:cxn>
                    <a:cxn ang="0">
                      <a:pos x="T2" y="T3"/>
                    </a:cxn>
                    <a:cxn ang="0">
                      <a:pos x="T4" y="T5"/>
                    </a:cxn>
                    <a:cxn ang="0">
                      <a:pos x="T6" y="T7"/>
                    </a:cxn>
                    <a:cxn ang="0">
                      <a:pos x="T8" y="T9"/>
                    </a:cxn>
                  </a:cxnLst>
                  <a:rect l="0" t="0" r="r" b="b"/>
                  <a:pathLst>
                    <a:path w="110" h="111">
                      <a:moveTo>
                        <a:pt x="66" y="0"/>
                      </a:moveTo>
                      <a:cubicBezTo>
                        <a:pt x="0" y="0"/>
                        <a:pt x="0" y="0"/>
                        <a:pt x="0" y="0"/>
                      </a:cubicBezTo>
                      <a:cubicBezTo>
                        <a:pt x="11" y="56"/>
                        <a:pt x="55" y="99"/>
                        <a:pt x="110" y="111"/>
                      </a:cubicBezTo>
                      <a:cubicBezTo>
                        <a:pt x="110" y="45"/>
                        <a:pt x="110" y="45"/>
                        <a:pt x="110" y="45"/>
                      </a:cubicBezTo>
                      <a:cubicBezTo>
                        <a:pt x="90" y="37"/>
                        <a:pt x="74" y="21"/>
                        <a:pt x="66"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66"/>
                <p:cNvSpPr>
                  <a:spLocks noEditPoints="1"/>
                </p:cNvSpPr>
                <p:nvPr/>
              </p:nvSpPr>
              <p:spPr bwMode="auto">
                <a:xfrm>
                  <a:off x="569" y="2009"/>
                  <a:ext cx="687" cy="687"/>
                </a:xfrm>
                <a:custGeom>
                  <a:avLst/>
                  <a:gdLst>
                    <a:gd name="T0" fmla="*/ 146 w 291"/>
                    <a:gd name="T1" fmla="*/ 66 h 291"/>
                    <a:gd name="T2" fmla="*/ 168 w 291"/>
                    <a:gd name="T3" fmla="*/ 70 h 291"/>
                    <a:gd name="T4" fmla="*/ 169 w 291"/>
                    <a:gd name="T5" fmla="*/ 64 h 291"/>
                    <a:gd name="T6" fmla="*/ 169 w 291"/>
                    <a:gd name="T7" fmla="*/ 11 h 291"/>
                    <a:gd name="T8" fmla="*/ 158 w 291"/>
                    <a:gd name="T9" fmla="*/ 0 h 291"/>
                    <a:gd name="T10" fmla="*/ 134 w 291"/>
                    <a:gd name="T11" fmla="*/ 0 h 291"/>
                    <a:gd name="T12" fmla="*/ 122 w 291"/>
                    <a:gd name="T13" fmla="*/ 11 h 291"/>
                    <a:gd name="T14" fmla="*/ 122 w 291"/>
                    <a:gd name="T15" fmla="*/ 64 h 291"/>
                    <a:gd name="T16" fmla="*/ 124 w 291"/>
                    <a:gd name="T17" fmla="*/ 70 h 291"/>
                    <a:gd name="T18" fmla="*/ 146 w 291"/>
                    <a:gd name="T19" fmla="*/ 66 h 291"/>
                    <a:gd name="T20" fmla="*/ 64 w 291"/>
                    <a:gd name="T21" fmla="*/ 122 h 291"/>
                    <a:gd name="T22" fmla="*/ 12 w 291"/>
                    <a:gd name="T23" fmla="*/ 122 h 291"/>
                    <a:gd name="T24" fmla="*/ 0 w 291"/>
                    <a:gd name="T25" fmla="*/ 133 h 291"/>
                    <a:gd name="T26" fmla="*/ 0 w 291"/>
                    <a:gd name="T27" fmla="*/ 158 h 291"/>
                    <a:gd name="T28" fmla="*/ 12 w 291"/>
                    <a:gd name="T29" fmla="*/ 169 h 291"/>
                    <a:gd name="T30" fmla="*/ 64 w 291"/>
                    <a:gd name="T31" fmla="*/ 169 h 291"/>
                    <a:gd name="T32" fmla="*/ 70 w 291"/>
                    <a:gd name="T33" fmla="*/ 167 h 291"/>
                    <a:gd name="T34" fmla="*/ 67 w 291"/>
                    <a:gd name="T35" fmla="*/ 145 h 291"/>
                    <a:gd name="T36" fmla="*/ 70 w 291"/>
                    <a:gd name="T37" fmla="*/ 123 h 291"/>
                    <a:gd name="T38" fmla="*/ 64 w 291"/>
                    <a:gd name="T39" fmla="*/ 122 h 291"/>
                    <a:gd name="T40" fmla="*/ 146 w 291"/>
                    <a:gd name="T41" fmla="*/ 224 h 291"/>
                    <a:gd name="T42" fmla="*/ 124 w 291"/>
                    <a:gd name="T43" fmla="*/ 221 h 291"/>
                    <a:gd name="T44" fmla="*/ 122 w 291"/>
                    <a:gd name="T45" fmla="*/ 227 h 291"/>
                    <a:gd name="T46" fmla="*/ 122 w 291"/>
                    <a:gd name="T47" fmla="*/ 279 h 291"/>
                    <a:gd name="T48" fmla="*/ 134 w 291"/>
                    <a:gd name="T49" fmla="*/ 291 h 291"/>
                    <a:gd name="T50" fmla="*/ 158 w 291"/>
                    <a:gd name="T51" fmla="*/ 291 h 291"/>
                    <a:gd name="T52" fmla="*/ 169 w 291"/>
                    <a:gd name="T53" fmla="*/ 279 h 291"/>
                    <a:gd name="T54" fmla="*/ 169 w 291"/>
                    <a:gd name="T55" fmla="*/ 227 h 291"/>
                    <a:gd name="T56" fmla="*/ 168 w 291"/>
                    <a:gd name="T57" fmla="*/ 221 h 291"/>
                    <a:gd name="T58" fmla="*/ 146 w 291"/>
                    <a:gd name="T59" fmla="*/ 224 h 291"/>
                    <a:gd name="T60" fmla="*/ 280 w 291"/>
                    <a:gd name="T61" fmla="*/ 122 h 291"/>
                    <a:gd name="T62" fmla="*/ 227 w 291"/>
                    <a:gd name="T63" fmla="*/ 122 h 291"/>
                    <a:gd name="T64" fmla="*/ 222 w 291"/>
                    <a:gd name="T65" fmla="*/ 123 h 291"/>
                    <a:gd name="T66" fmla="*/ 225 w 291"/>
                    <a:gd name="T67" fmla="*/ 145 h 291"/>
                    <a:gd name="T68" fmla="*/ 222 w 291"/>
                    <a:gd name="T69" fmla="*/ 167 h 291"/>
                    <a:gd name="T70" fmla="*/ 227 w 291"/>
                    <a:gd name="T71" fmla="*/ 169 h 291"/>
                    <a:gd name="T72" fmla="*/ 280 w 291"/>
                    <a:gd name="T73" fmla="*/ 169 h 291"/>
                    <a:gd name="T74" fmla="*/ 291 w 291"/>
                    <a:gd name="T75" fmla="*/ 158 h 291"/>
                    <a:gd name="T76" fmla="*/ 291 w 291"/>
                    <a:gd name="T77" fmla="*/ 133 h 291"/>
                    <a:gd name="T78" fmla="*/ 280 w 291"/>
                    <a:gd name="T79" fmla="*/ 122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91" h="291">
                      <a:moveTo>
                        <a:pt x="146" y="66"/>
                      </a:moveTo>
                      <a:cubicBezTo>
                        <a:pt x="153" y="66"/>
                        <a:pt x="161" y="68"/>
                        <a:pt x="168" y="70"/>
                      </a:cubicBezTo>
                      <a:cubicBezTo>
                        <a:pt x="169" y="68"/>
                        <a:pt x="169" y="66"/>
                        <a:pt x="169" y="64"/>
                      </a:cubicBezTo>
                      <a:cubicBezTo>
                        <a:pt x="169" y="11"/>
                        <a:pt x="169" y="11"/>
                        <a:pt x="169" y="11"/>
                      </a:cubicBezTo>
                      <a:cubicBezTo>
                        <a:pt x="169" y="5"/>
                        <a:pt x="164" y="0"/>
                        <a:pt x="158" y="0"/>
                      </a:cubicBezTo>
                      <a:cubicBezTo>
                        <a:pt x="134" y="0"/>
                        <a:pt x="134" y="0"/>
                        <a:pt x="134" y="0"/>
                      </a:cubicBezTo>
                      <a:cubicBezTo>
                        <a:pt x="127" y="0"/>
                        <a:pt x="122" y="5"/>
                        <a:pt x="122" y="11"/>
                      </a:cubicBezTo>
                      <a:cubicBezTo>
                        <a:pt x="122" y="64"/>
                        <a:pt x="122" y="64"/>
                        <a:pt x="122" y="64"/>
                      </a:cubicBezTo>
                      <a:cubicBezTo>
                        <a:pt x="122" y="66"/>
                        <a:pt x="123" y="68"/>
                        <a:pt x="124" y="70"/>
                      </a:cubicBezTo>
                      <a:cubicBezTo>
                        <a:pt x="131" y="68"/>
                        <a:pt x="138" y="66"/>
                        <a:pt x="146" y="66"/>
                      </a:cubicBezTo>
                      <a:close/>
                      <a:moveTo>
                        <a:pt x="64" y="122"/>
                      </a:moveTo>
                      <a:cubicBezTo>
                        <a:pt x="12" y="122"/>
                        <a:pt x="12" y="122"/>
                        <a:pt x="12" y="122"/>
                      </a:cubicBezTo>
                      <a:cubicBezTo>
                        <a:pt x="5" y="122"/>
                        <a:pt x="0" y="127"/>
                        <a:pt x="0" y="133"/>
                      </a:cubicBezTo>
                      <a:cubicBezTo>
                        <a:pt x="0" y="158"/>
                        <a:pt x="0" y="158"/>
                        <a:pt x="0" y="158"/>
                      </a:cubicBezTo>
                      <a:cubicBezTo>
                        <a:pt x="0" y="164"/>
                        <a:pt x="5" y="169"/>
                        <a:pt x="12" y="169"/>
                      </a:cubicBezTo>
                      <a:cubicBezTo>
                        <a:pt x="64" y="169"/>
                        <a:pt x="64" y="169"/>
                        <a:pt x="64" y="169"/>
                      </a:cubicBezTo>
                      <a:cubicBezTo>
                        <a:pt x="66" y="169"/>
                        <a:pt x="68" y="168"/>
                        <a:pt x="70" y="167"/>
                      </a:cubicBezTo>
                      <a:cubicBezTo>
                        <a:pt x="68" y="160"/>
                        <a:pt x="67" y="153"/>
                        <a:pt x="67" y="145"/>
                      </a:cubicBezTo>
                      <a:cubicBezTo>
                        <a:pt x="67" y="138"/>
                        <a:pt x="68" y="130"/>
                        <a:pt x="70" y="123"/>
                      </a:cubicBezTo>
                      <a:cubicBezTo>
                        <a:pt x="68" y="122"/>
                        <a:pt x="66" y="122"/>
                        <a:pt x="64" y="122"/>
                      </a:cubicBezTo>
                      <a:close/>
                      <a:moveTo>
                        <a:pt x="146" y="224"/>
                      </a:moveTo>
                      <a:cubicBezTo>
                        <a:pt x="138" y="224"/>
                        <a:pt x="131" y="223"/>
                        <a:pt x="124" y="221"/>
                      </a:cubicBezTo>
                      <a:cubicBezTo>
                        <a:pt x="123" y="223"/>
                        <a:pt x="122" y="225"/>
                        <a:pt x="122" y="227"/>
                      </a:cubicBezTo>
                      <a:cubicBezTo>
                        <a:pt x="122" y="279"/>
                        <a:pt x="122" y="279"/>
                        <a:pt x="122" y="279"/>
                      </a:cubicBezTo>
                      <a:cubicBezTo>
                        <a:pt x="122" y="286"/>
                        <a:pt x="127" y="291"/>
                        <a:pt x="134" y="291"/>
                      </a:cubicBezTo>
                      <a:cubicBezTo>
                        <a:pt x="158" y="291"/>
                        <a:pt x="158" y="291"/>
                        <a:pt x="158" y="291"/>
                      </a:cubicBezTo>
                      <a:cubicBezTo>
                        <a:pt x="164" y="291"/>
                        <a:pt x="169" y="286"/>
                        <a:pt x="169" y="279"/>
                      </a:cubicBezTo>
                      <a:cubicBezTo>
                        <a:pt x="169" y="227"/>
                        <a:pt x="169" y="227"/>
                        <a:pt x="169" y="227"/>
                      </a:cubicBezTo>
                      <a:cubicBezTo>
                        <a:pt x="169" y="225"/>
                        <a:pt x="169" y="223"/>
                        <a:pt x="168" y="221"/>
                      </a:cubicBezTo>
                      <a:cubicBezTo>
                        <a:pt x="161" y="223"/>
                        <a:pt x="153" y="224"/>
                        <a:pt x="146" y="224"/>
                      </a:cubicBezTo>
                      <a:close/>
                      <a:moveTo>
                        <a:pt x="280" y="122"/>
                      </a:moveTo>
                      <a:cubicBezTo>
                        <a:pt x="227" y="122"/>
                        <a:pt x="227" y="122"/>
                        <a:pt x="227" y="122"/>
                      </a:cubicBezTo>
                      <a:cubicBezTo>
                        <a:pt x="225" y="122"/>
                        <a:pt x="223" y="122"/>
                        <a:pt x="222" y="123"/>
                      </a:cubicBezTo>
                      <a:cubicBezTo>
                        <a:pt x="224" y="130"/>
                        <a:pt x="225" y="138"/>
                        <a:pt x="225" y="145"/>
                      </a:cubicBezTo>
                      <a:cubicBezTo>
                        <a:pt x="225" y="153"/>
                        <a:pt x="224" y="160"/>
                        <a:pt x="222" y="167"/>
                      </a:cubicBezTo>
                      <a:cubicBezTo>
                        <a:pt x="223" y="168"/>
                        <a:pt x="225" y="169"/>
                        <a:pt x="227" y="169"/>
                      </a:cubicBezTo>
                      <a:cubicBezTo>
                        <a:pt x="280" y="169"/>
                        <a:pt x="280" y="169"/>
                        <a:pt x="280" y="169"/>
                      </a:cubicBezTo>
                      <a:cubicBezTo>
                        <a:pt x="286" y="169"/>
                        <a:pt x="291" y="164"/>
                        <a:pt x="291" y="158"/>
                      </a:cubicBezTo>
                      <a:cubicBezTo>
                        <a:pt x="291" y="133"/>
                        <a:pt x="291" y="133"/>
                        <a:pt x="291" y="133"/>
                      </a:cubicBezTo>
                      <a:cubicBezTo>
                        <a:pt x="291" y="127"/>
                        <a:pt x="286" y="122"/>
                        <a:pt x="280" y="1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选题背景及研究意义</a:t>
            </a:r>
            <a:br>
              <a:rPr lang="zh-CN" altLang="en-US" dirty="0"/>
            </a:br>
            <a:endParaRPr lang="zh-CN" altLang="en-US" dirty="0"/>
          </a:p>
        </p:txBody>
      </p:sp>
      <p:sp>
        <p:nvSpPr>
          <p:cNvPr id="6" name="矩形 5"/>
          <p:cNvSpPr/>
          <p:nvPr/>
        </p:nvSpPr>
        <p:spPr>
          <a:xfrm>
            <a:off x="827584" y="1240168"/>
            <a:ext cx="7200800" cy="2399665"/>
          </a:xfrm>
          <a:prstGeom prst="rect">
            <a:avLst/>
          </a:prstGeom>
        </p:spPr>
        <p:txBody>
          <a:bodyPr wrap="square">
            <a:spAutoFit/>
          </a:bodyPr>
          <a:lstStyle/>
          <a:p>
            <a:pPr marL="342900" indent="-342900">
              <a:lnSpc>
                <a:spcPct val="150000"/>
              </a:lnSpc>
              <a:buFont typeface="Wingdings" panose="05000000000000000000" charset="0"/>
              <a:buChar char=""/>
            </a:pPr>
            <a:r>
              <a:rPr lang="zh-CN" sz="2000" dirty="0"/>
              <a:t>随着信息化时代的到来，钢铁企业为提高企业的市场竞争力和服务水平，都采用了信息化系统来对生产经营过程进行管理，提高热轧批量计划编制水平是企业提高生产效率和服务水平的关键手段。但在整个系统实现中热轧批量计划优化一直是个比较困难的问题。</a:t>
            </a:r>
          </a:p>
        </p:txBody>
      </p:sp>
      <p:sp>
        <p:nvSpPr>
          <p:cNvPr id="7" name="矩形 6"/>
          <p:cNvSpPr/>
          <p:nvPr/>
        </p:nvSpPr>
        <p:spPr>
          <a:xfrm>
            <a:off x="827584" y="5605433"/>
            <a:ext cx="7200800" cy="598805"/>
          </a:xfrm>
          <a:prstGeom prst="rect">
            <a:avLst/>
          </a:prstGeom>
        </p:spPr>
        <p:txBody>
          <a:bodyPr wrap="square">
            <a:spAutoFit/>
          </a:bodyPr>
          <a:lstStyle/>
          <a:p>
            <a:pPr marL="342900" indent="-342900">
              <a:lnSpc>
                <a:spcPct val="150000"/>
              </a:lnSpc>
              <a:buFont typeface="Wingdings" panose="05000000000000000000" pitchFamily="2" charset="2"/>
              <a:buChar char="u"/>
            </a:pPr>
            <a:r>
              <a:rPr lang="zh-CN" altLang="en-US" sz="2200" dirty="0">
                <a:latin typeface="+mn-ea"/>
              </a:rPr>
              <a:t>新老调度员的更替，花费大量人力物力。</a:t>
            </a:r>
            <a:endParaRPr lang="en-US" altLang="zh-CN" sz="2200" dirty="0">
              <a:latin typeface="+mn-ea"/>
            </a:endParaRPr>
          </a:p>
        </p:txBody>
      </p:sp>
      <p:sp>
        <p:nvSpPr>
          <p:cNvPr id="8" name="矩形 7"/>
          <p:cNvSpPr/>
          <p:nvPr/>
        </p:nvSpPr>
        <p:spPr>
          <a:xfrm>
            <a:off x="827689" y="3639748"/>
            <a:ext cx="7200800" cy="2214880"/>
          </a:xfrm>
          <a:prstGeom prst="rect">
            <a:avLst/>
          </a:prstGeom>
        </p:spPr>
        <p:txBody>
          <a:bodyPr wrap="square">
            <a:spAutoFit/>
          </a:bodyPr>
          <a:lstStyle/>
          <a:p>
            <a:pPr marL="342900" indent="-342900">
              <a:lnSpc>
                <a:spcPct val="150000"/>
              </a:lnSpc>
              <a:buFont typeface="Wingdings" panose="05000000000000000000" pitchFamily="2" charset="2"/>
              <a:buChar char="u"/>
            </a:pPr>
            <a:r>
              <a:rPr lang="zh-CN" altLang="en-US" sz="2000" dirty="0">
                <a:solidFill>
                  <a:prstClr val="black"/>
                </a:solidFill>
                <a:latin typeface="+mn-ea"/>
              </a:rPr>
              <a:t>现代钢铁企业都是规模化生产，热轧批量计划编制系统就是在尽量满足各条约束的情况下自动对板坯的轧制顺序进行编排，尽最大可能提高轧辊利用率，降低生产成本，提高企业的经济效益。</a:t>
            </a:r>
            <a:endParaRPr lang="zh-CN" altLang="en-US" dirty="0">
              <a:solidFill>
                <a:prstClr val="black"/>
              </a:solidFill>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p:cNvPicPr>
            <a:picLocks noChangeAspect="1" noChangeArrowheads="1"/>
          </p:cNvPicPr>
          <p:nvPr/>
        </p:nvPicPr>
        <p:blipFill rotWithShape="1">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767" r="7205" b="57679"/>
          <a:stretch>
            <a:fillRect/>
          </a:stretch>
        </p:blipFill>
        <p:spPr bwMode="auto">
          <a:xfrm rot="10800000">
            <a:off x="971600" y="4221088"/>
            <a:ext cx="7272808" cy="469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3"/>
          <p:cNvPicPr>
            <a:picLocks noChangeAspect="1" noChangeArrowheads="1"/>
          </p:cNvPicPr>
          <p:nvPr/>
        </p:nvPicPr>
        <p:blipFill rotWithShape="1">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767" r="7205" b="57679"/>
          <a:stretch>
            <a:fillRect/>
          </a:stretch>
        </p:blipFill>
        <p:spPr bwMode="auto">
          <a:xfrm rot="10800000" flipV="1">
            <a:off x="957113" y="2132856"/>
            <a:ext cx="7272808" cy="469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TextBox 17"/>
          <p:cNvSpPr txBox="1"/>
          <p:nvPr/>
        </p:nvSpPr>
        <p:spPr>
          <a:xfrm>
            <a:off x="3759200" y="3166165"/>
            <a:ext cx="4269184" cy="583565"/>
          </a:xfrm>
          <a:prstGeom prst="rect">
            <a:avLst/>
          </a:prstGeom>
          <a:noFill/>
        </p:spPr>
        <p:txBody>
          <a:bodyPr wrap="square" rtlCol="0">
            <a:spAutoFit/>
          </a:bodyPr>
          <a:lstStyle/>
          <a:p>
            <a:r>
              <a:rPr lang="zh-CN" altLang="en-US" sz="3200" b="1" dirty="0">
                <a:solidFill>
                  <a:srgbClr val="072063"/>
                </a:solidFill>
              </a:rPr>
              <a:t>问题描述</a:t>
            </a:r>
          </a:p>
        </p:txBody>
      </p:sp>
      <p:grpSp>
        <p:nvGrpSpPr>
          <p:cNvPr id="3" name="组合 2"/>
          <p:cNvGrpSpPr/>
          <p:nvPr/>
        </p:nvGrpSpPr>
        <p:grpSpPr>
          <a:xfrm>
            <a:off x="2195736" y="2853104"/>
            <a:ext cx="1224137" cy="1220324"/>
            <a:chOff x="2195736" y="2853104"/>
            <a:chExt cx="1224137" cy="1220324"/>
          </a:xfrm>
        </p:grpSpPr>
        <p:sp>
          <p:nvSpPr>
            <p:cNvPr id="19" name="椭圆 18"/>
            <p:cNvSpPr/>
            <p:nvPr/>
          </p:nvSpPr>
          <p:spPr>
            <a:xfrm>
              <a:off x="2195736" y="3683124"/>
              <a:ext cx="1224137" cy="390304"/>
            </a:xfrm>
            <a:prstGeom prst="ellipse">
              <a:avLst/>
            </a:prstGeom>
            <a:gradFill flip="none" rotWithShape="1">
              <a:gsLst>
                <a:gs pos="0">
                  <a:schemeClr val="tx1">
                    <a:alpha val="68000"/>
                  </a:schemeClr>
                </a:gs>
                <a:gs pos="100000">
                  <a:schemeClr val="tx1">
                    <a:lumMod val="65000"/>
                    <a:lumOff val="35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nvGrpSpPr>
            <p:cNvPr id="2" name="组合 1"/>
            <p:cNvGrpSpPr/>
            <p:nvPr/>
          </p:nvGrpSpPr>
          <p:grpSpPr>
            <a:xfrm>
              <a:off x="2276608" y="2853104"/>
              <a:ext cx="1089990" cy="1089990"/>
              <a:chOff x="2276608" y="2853104"/>
              <a:chExt cx="1089990" cy="1089990"/>
            </a:xfrm>
          </p:grpSpPr>
          <p:sp>
            <p:nvSpPr>
              <p:cNvPr id="52" name="椭圆 51"/>
              <p:cNvSpPr/>
              <p:nvPr/>
            </p:nvSpPr>
            <p:spPr>
              <a:xfrm>
                <a:off x="2276608" y="2853104"/>
                <a:ext cx="1089990" cy="1089990"/>
              </a:xfrm>
              <a:prstGeom prst="ellipse">
                <a:avLst/>
              </a:prstGeom>
              <a:solidFill>
                <a:srgbClr val="0720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lumMod val="65000"/>
                      <a:lumOff val="35000"/>
                    </a:schemeClr>
                  </a:solidFill>
                </a:endParaRPr>
              </a:p>
            </p:txBody>
          </p:sp>
          <p:grpSp>
            <p:nvGrpSpPr>
              <p:cNvPr id="53" name="Group 61"/>
              <p:cNvGrpSpPr>
                <a:grpSpLocks noChangeAspect="1"/>
              </p:cNvGrpSpPr>
              <p:nvPr/>
            </p:nvGrpSpPr>
            <p:grpSpPr bwMode="auto">
              <a:xfrm>
                <a:off x="2446556" y="3042102"/>
                <a:ext cx="731041" cy="731041"/>
                <a:chOff x="569" y="2009"/>
                <a:chExt cx="687" cy="687"/>
              </a:xfrm>
            </p:grpSpPr>
            <p:sp>
              <p:nvSpPr>
                <p:cNvPr id="54" name="Freeform 62"/>
                <p:cNvSpPr/>
                <p:nvPr/>
              </p:nvSpPr>
              <p:spPr bwMode="auto">
                <a:xfrm>
                  <a:off x="982" y="2026"/>
                  <a:ext cx="260" cy="259"/>
                </a:xfrm>
                <a:custGeom>
                  <a:avLst/>
                  <a:gdLst>
                    <a:gd name="T0" fmla="*/ 44 w 110"/>
                    <a:gd name="T1" fmla="*/ 110 h 110"/>
                    <a:gd name="T2" fmla="*/ 110 w 110"/>
                    <a:gd name="T3" fmla="*/ 110 h 110"/>
                    <a:gd name="T4" fmla="*/ 0 w 110"/>
                    <a:gd name="T5" fmla="*/ 0 h 110"/>
                    <a:gd name="T6" fmla="*/ 0 w 110"/>
                    <a:gd name="T7" fmla="*/ 65 h 110"/>
                    <a:gd name="T8" fmla="*/ 44 w 110"/>
                    <a:gd name="T9" fmla="*/ 110 h 110"/>
                  </a:gdLst>
                  <a:ahLst/>
                  <a:cxnLst>
                    <a:cxn ang="0">
                      <a:pos x="T0" y="T1"/>
                    </a:cxn>
                    <a:cxn ang="0">
                      <a:pos x="T2" y="T3"/>
                    </a:cxn>
                    <a:cxn ang="0">
                      <a:pos x="T4" y="T5"/>
                    </a:cxn>
                    <a:cxn ang="0">
                      <a:pos x="T6" y="T7"/>
                    </a:cxn>
                    <a:cxn ang="0">
                      <a:pos x="T8" y="T9"/>
                    </a:cxn>
                  </a:cxnLst>
                  <a:rect l="0" t="0" r="r" b="b"/>
                  <a:pathLst>
                    <a:path w="110" h="110">
                      <a:moveTo>
                        <a:pt x="44" y="110"/>
                      </a:moveTo>
                      <a:cubicBezTo>
                        <a:pt x="110" y="110"/>
                        <a:pt x="110" y="110"/>
                        <a:pt x="110" y="110"/>
                      </a:cubicBezTo>
                      <a:cubicBezTo>
                        <a:pt x="98" y="54"/>
                        <a:pt x="55" y="11"/>
                        <a:pt x="0" y="0"/>
                      </a:cubicBezTo>
                      <a:cubicBezTo>
                        <a:pt x="0" y="65"/>
                        <a:pt x="0" y="65"/>
                        <a:pt x="0" y="65"/>
                      </a:cubicBezTo>
                      <a:cubicBezTo>
                        <a:pt x="20" y="73"/>
                        <a:pt x="36" y="90"/>
                        <a:pt x="44" y="11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63"/>
                <p:cNvSpPr/>
                <p:nvPr/>
              </p:nvSpPr>
              <p:spPr bwMode="auto">
                <a:xfrm>
                  <a:off x="586" y="2026"/>
                  <a:ext cx="259" cy="259"/>
                </a:xfrm>
                <a:custGeom>
                  <a:avLst/>
                  <a:gdLst>
                    <a:gd name="T0" fmla="*/ 110 w 110"/>
                    <a:gd name="T1" fmla="*/ 65 h 110"/>
                    <a:gd name="T2" fmla="*/ 110 w 110"/>
                    <a:gd name="T3" fmla="*/ 0 h 110"/>
                    <a:gd name="T4" fmla="*/ 0 w 110"/>
                    <a:gd name="T5" fmla="*/ 110 h 110"/>
                    <a:gd name="T6" fmla="*/ 66 w 110"/>
                    <a:gd name="T7" fmla="*/ 110 h 110"/>
                    <a:gd name="T8" fmla="*/ 110 w 110"/>
                    <a:gd name="T9" fmla="*/ 65 h 110"/>
                  </a:gdLst>
                  <a:ahLst/>
                  <a:cxnLst>
                    <a:cxn ang="0">
                      <a:pos x="T0" y="T1"/>
                    </a:cxn>
                    <a:cxn ang="0">
                      <a:pos x="T2" y="T3"/>
                    </a:cxn>
                    <a:cxn ang="0">
                      <a:pos x="T4" y="T5"/>
                    </a:cxn>
                    <a:cxn ang="0">
                      <a:pos x="T6" y="T7"/>
                    </a:cxn>
                    <a:cxn ang="0">
                      <a:pos x="T8" y="T9"/>
                    </a:cxn>
                  </a:cxnLst>
                  <a:rect l="0" t="0" r="r" b="b"/>
                  <a:pathLst>
                    <a:path w="110" h="110">
                      <a:moveTo>
                        <a:pt x="110" y="65"/>
                      </a:moveTo>
                      <a:cubicBezTo>
                        <a:pt x="110" y="0"/>
                        <a:pt x="110" y="0"/>
                        <a:pt x="110" y="0"/>
                      </a:cubicBezTo>
                      <a:cubicBezTo>
                        <a:pt x="55" y="11"/>
                        <a:pt x="11" y="54"/>
                        <a:pt x="0" y="110"/>
                      </a:cubicBezTo>
                      <a:cubicBezTo>
                        <a:pt x="66" y="110"/>
                        <a:pt x="66" y="110"/>
                        <a:pt x="66" y="110"/>
                      </a:cubicBezTo>
                      <a:cubicBezTo>
                        <a:pt x="74" y="90"/>
                        <a:pt x="90" y="73"/>
                        <a:pt x="110" y="6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64"/>
                <p:cNvSpPr/>
                <p:nvPr/>
              </p:nvSpPr>
              <p:spPr bwMode="auto">
                <a:xfrm>
                  <a:off x="982" y="2420"/>
                  <a:ext cx="260" cy="262"/>
                </a:xfrm>
                <a:custGeom>
                  <a:avLst/>
                  <a:gdLst>
                    <a:gd name="T0" fmla="*/ 0 w 110"/>
                    <a:gd name="T1" fmla="*/ 45 h 111"/>
                    <a:gd name="T2" fmla="*/ 0 w 110"/>
                    <a:gd name="T3" fmla="*/ 111 h 111"/>
                    <a:gd name="T4" fmla="*/ 110 w 110"/>
                    <a:gd name="T5" fmla="*/ 0 h 111"/>
                    <a:gd name="T6" fmla="*/ 44 w 110"/>
                    <a:gd name="T7" fmla="*/ 0 h 111"/>
                    <a:gd name="T8" fmla="*/ 0 w 110"/>
                    <a:gd name="T9" fmla="*/ 45 h 111"/>
                  </a:gdLst>
                  <a:ahLst/>
                  <a:cxnLst>
                    <a:cxn ang="0">
                      <a:pos x="T0" y="T1"/>
                    </a:cxn>
                    <a:cxn ang="0">
                      <a:pos x="T2" y="T3"/>
                    </a:cxn>
                    <a:cxn ang="0">
                      <a:pos x="T4" y="T5"/>
                    </a:cxn>
                    <a:cxn ang="0">
                      <a:pos x="T6" y="T7"/>
                    </a:cxn>
                    <a:cxn ang="0">
                      <a:pos x="T8" y="T9"/>
                    </a:cxn>
                  </a:cxnLst>
                  <a:rect l="0" t="0" r="r" b="b"/>
                  <a:pathLst>
                    <a:path w="110" h="111">
                      <a:moveTo>
                        <a:pt x="0" y="45"/>
                      </a:moveTo>
                      <a:cubicBezTo>
                        <a:pt x="0" y="111"/>
                        <a:pt x="0" y="111"/>
                        <a:pt x="0" y="111"/>
                      </a:cubicBezTo>
                      <a:cubicBezTo>
                        <a:pt x="55" y="99"/>
                        <a:pt x="98" y="56"/>
                        <a:pt x="110" y="0"/>
                      </a:cubicBezTo>
                      <a:cubicBezTo>
                        <a:pt x="44" y="0"/>
                        <a:pt x="44" y="0"/>
                        <a:pt x="44" y="0"/>
                      </a:cubicBezTo>
                      <a:cubicBezTo>
                        <a:pt x="36" y="21"/>
                        <a:pt x="20" y="37"/>
                        <a:pt x="0" y="4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65"/>
                <p:cNvSpPr/>
                <p:nvPr/>
              </p:nvSpPr>
              <p:spPr bwMode="auto">
                <a:xfrm>
                  <a:off x="586" y="2420"/>
                  <a:ext cx="259" cy="262"/>
                </a:xfrm>
                <a:custGeom>
                  <a:avLst/>
                  <a:gdLst>
                    <a:gd name="T0" fmla="*/ 66 w 110"/>
                    <a:gd name="T1" fmla="*/ 0 h 111"/>
                    <a:gd name="T2" fmla="*/ 0 w 110"/>
                    <a:gd name="T3" fmla="*/ 0 h 111"/>
                    <a:gd name="T4" fmla="*/ 110 w 110"/>
                    <a:gd name="T5" fmla="*/ 111 h 111"/>
                    <a:gd name="T6" fmla="*/ 110 w 110"/>
                    <a:gd name="T7" fmla="*/ 45 h 111"/>
                    <a:gd name="T8" fmla="*/ 66 w 110"/>
                    <a:gd name="T9" fmla="*/ 0 h 111"/>
                  </a:gdLst>
                  <a:ahLst/>
                  <a:cxnLst>
                    <a:cxn ang="0">
                      <a:pos x="T0" y="T1"/>
                    </a:cxn>
                    <a:cxn ang="0">
                      <a:pos x="T2" y="T3"/>
                    </a:cxn>
                    <a:cxn ang="0">
                      <a:pos x="T4" y="T5"/>
                    </a:cxn>
                    <a:cxn ang="0">
                      <a:pos x="T6" y="T7"/>
                    </a:cxn>
                    <a:cxn ang="0">
                      <a:pos x="T8" y="T9"/>
                    </a:cxn>
                  </a:cxnLst>
                  <a:rect l="0" t="0" r="r" b="b"/>
                  <a:pathLst>
                    <a:path w="110" h="111">
                      <a:moveTo>
                        <a:pt x="66" y="0"/>
                      </a:moveTo>
                      <a:cubicBezTo>
                        <a:pt x="0" y="0"/>
                        <a:pt x="0" y="0"/>
                        <a:pt x="0" y="0"/>
                      </a:cubicBezTo>
                      <a:cubicBezTo>
                        <a:pt x="11" y="56"/>
                        <a:pt x="55" y="99"/>
                        <a:pt x="110" y="111"/>
                      </a:cubicBezTo>
                      <a:cubicBezTo>
                        <a:pt x="110" y="45"/>
                        <a:pt x="110" y="45"/>
                        <a:pt x="110" y="45"/>
                      </a:cubicBezTo>
                      <a:cubicBezTo>
                        <a:pt x="90" y="37"/>
                        <a:pt x="74" y="21"/>
                        <a:pt x="66"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66"/>
                <p:cNvSpPr>
                  <a:spLocks noEditPoints="1"/>
                </p:cNvSpPr>
                <p:nvPr/>
              </p:nvSpPr>
              <p:spPr bwMode="auto">
                <a:xfrm>
                  <a:off x="569" y="2009"/>
                  <a:ext cx="687" cy="687"/>
                </a:xfrm>
                <a:custGeom>
                  <a:avLst/>
                  <a:gdLst>
                    <a:gd name="T0" fmla="*/ 146 w 291"/>
                    <a:gd name="T1" fmla="*/ 66 h 291"/>
                    <a:gd name="T2" fmla="*/ 168 w 291"/>
                    <a:gd name="T3" fmla="*/ 70 h 291"/>
                    <a:gd name="T4" fmla="*/ 169 w 291"/>
                    <a:gd name="T5" fmla="*/ 64 h 291"/>
                    <a:gd name="T6" fmla="*/ 169 w 291"/>
                    <a:gd name="T7" fmla="*/ 11 h 291"/>
                    <a:gd name="T8" fmla="*/ 158 w 291"/>
                    <a:gd name="T9" fmla="*/ 0 h 291"/>
                    <a:gd name="T10" fmla="*/ 134 w 291"/>
                    <a:gd name="T11" fmla="*/ 0 h 291"/>
                    <a:gd name="T12" fmla="*/ 122 w 291"/>
                    <a:gd name="T13" fmla="*/ 11 h 291"/>
                    <a:gd name="T14" fmla="*/ 122 w 291"/>
                    <a:gd name="T15" fmla="*/ 64 h 291"/>
                    <a:gd name="T16" fmla="*/ 124 w 291"/>
                    <a:gd name="T17" fmla="*/ 70 h 291"/>
                    <a:gd name="T18" fmla="*/ 146 w 291"/>
                    <a:gd name="T19" fmla="*/ 66 h 291"/>
                    <a:gd name="T20" fmla="*/ 64 w 291"/>
                    <a:gd name="T21" fmla="*/ 122 h 291"/>
                    <a:gd name="T22" fmla="*/ 12 w 291"/>
                    <a:gd name="T23" fmla="*/ 122 h 291"/>
                    <a:gd name="T24" fmla="*/ 0 w 291"/>
                    <a:gd name="T25" fmla="*/ 133 h 291"/>
                    <a:gd name="T26" fmla="*/ 0 w 291"/>
                    <a:gd name="T27" fmla="*/ 158 h 291"/>
                    <a:gd name="T28" fmla="*/ 12 w 291"/>
                    <a:gd name="T29" fmla="*/ 169 h 291"/>
                    <a:gd name="T30" fmla="*/ 64 w 291"/>
                    <a:gd name="T31" fmla="*/ 169 h 291"/>
                    <a:gd name="T32" fmla="*/ 70 w 291"/>
                    <a:gd name="T33" fmla="*/ 167 h 291"/>
                    <a:gd name="T34" fmla="*/ 67 w 291"/>
                    <a:gd name="T35" fmla="*/ 145 h 291"/>
                    <a:gd name="T36" fmla="*/ 70 w 291"/>
                    <a:gd name="T37" fmla="*/ 123 h 291"/>
                    <a:gd name="T38" fmla="*/ 64 w 291"/>
                    <a:gd name="T39" fmla="*/ 122 h 291"/>
                    <a:gd name="T40" fmla="*/ 146 w 291"/>
                    <a:gd name="T41" fmla="*/ 224 h 291"/>
                    <a:gd name="T42" fmla="*/ 124 w 291"/>
                    <a:gd name="T43" fmla="*/ 221 h 291"/>
                    <a:gd name="T44" fmla="*/ 122 w 291"/>
                    <a:gd name="T45" fmla="*/ 227 h 291"/>
                    <a:gd name="T46" fmla="*/ 122 w 291"/>
                    <a:gd name="T47" fmla="*/ 279 h 291"/>
                    <a:gd name="T48" fmla="*/ 134 w 291"/>
                    <a:gd name="T49" fmla="*/ 291 h 291"/>
                    <a:gd name="T50" fmla="*/ 158 w 291"/>
                    <a:gd name="T51" fmla="*/ 291 h 291"/>
                    <a:gd name="T52" fmla="*/ 169 w 291"/>
                    <a:gd name="T53" fmla="*/ 279 h 291"/>
                    <a:gd name="T54" fmla="*/ 169 w 291"/>
                    <a:gd name="T55" fmla="*/ 227 h 291"/>
                    <a:gd name="T56" fmla="*/ 168 w 291"/>
                    <a:gd name="T57" fmla="*/ 221 h 291"/>
                    <a:gd name="T58" fmla="*/ 146 w 291"/>
                    <a:gd name="T59" fmla="*/ 224 h 291"/>
                    <a:gd name="T60" fmla="*/ 280 w 291"/>
                    <a:gd name="T61" fmla="*/ 122 h 291"/>
                    <a:gd name="T62" fmla="*/ 227 w 291"/>
                    <a:gd name="T63" fmla="*/ 122 h 291"/>
                    <a:gd name="T64" fmla="*/ 222 w 291"/>
                    <a:gd name="T65" fmla="*/ 123 h 291"/>
                    <a:gd name="T66" fmla="*/ 225 w 291"/>
                    <a:gd name="T67" fmla="*/ 145 h 291"/>
                    <a:gd name="T68" fmla="*/ 222 w 291"/>
                    <a:gd name="T69" fmla="*/ 167 h 291"/>
                    <a:gd name="T70" fmla="*/ 227 w 291"/>
                    <a:gd name="T71" fmla="*/ 169 h 291"/>
                    <a:gd name="T72" fmla="*/ 280 w 291"/>
                    <a:gd name="T73" fmla="*/ 169 h 291"/>
                    <a:gd name="T74" fmla="*/ 291 w 291"/>
                    <a:gd name="T75" fmla="*/ 158 h 291"/>
                    <a:gd name="T76" fmla="*/ 291 w 291"/>
                    <a:gd name="T77" fmla="*/ 133 h 291"/>
                    <a:gd name="T78" fmla="*/ 280 w 291"/>
                    <a:gd name="T79" fmla="*/ 122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91" h="291">
                      <a:moveTo>
                        <a:pt x="146" y="66"/>
                      </a:moveTo>
                      <a:cubicBezTo>
                        <a:pt x="153" y="66"/>
                        <a:pt x="161" y="68"/>
                        <a:pt x="168" y="70"/>
                      </a:cubicBezTo>
                      <a:cubicBezTo>
                        <a:pt x="169" y="68"/>
                        <a:pt x="169" y="66"/>
                        <a:pt x="169" y="64"/>
                      </a:cubicBezTo>
                      <a:cubicBezTo>
                        <a:pt x="169" y="11"/>
                        <a:pt x="169" y="11"/>
                        <a:pt x="169" y="11"/>
                      </a:cubicBezTo>
                      <a:cubicBezTo>
                        <a:pt x="169" y="5"/>
                        <a:pt x="164" y="0"/>
                        <a:pt x="158" y="0"/>
                      </a:cubicBezTo>
                      <a:cubicBezTo>
                        <a:pt x="134" y="0"/>
                        <a:pt x="134" y="0"/>
                        <a:pt x="134" y="0"/>
                      </a:cubicBezTo>
                      <a:cubicBezTo>
                        <a:pt x="127" y="0"/>
                        <a:pt x="122" y="5"/>
                        <a:pt x="122" y="11"/>
                      </a:cubicBezTo>
                      <a:cubicBezTo>
                        <a:pt x="122" y="64"/>
                        <a:pt x="122" y="64"/>
                        <a:pt x="122" y="64"/>
                      </a:cubicBezTo>
                      <a:cubicBezTo>
                        <a:pt x="122" y="66"/>
                        <a:pt x="123" y="68"/>
                        <a:pt x="124" y="70"/>
                      </a:cubicBezTo>
                      <a:cubicBezTo>
                        <a:pt x="131" y="68"/>
                        <a:pt x="138" y="66"/>
                        <a:pt x="146" y="66"/>
                      </a:cubicBezTo>
                      <a:close/>
                      <a:moveTo>
                        <a:pt x="64" y="122"/>
                      </a:moveTo>
                      <a:cubicBezTo>
                        <a:pt x="12" y="122"/>
                        <a:pt x="12" y="122"/>
                        <a:pt x="12" y="122"/>
                      </a:cubicBezTo>
                      <a:cubicBezTo>
                        <a:pt x="5" y="122"/>
                        <a:pt x="0" y="127"/>
                        <a:pt x="0" y="133"/>
                      </a:cubicBezTo>
                      <a:cubicBezTo>
                        <a:pt x="0" y="158"/>
                        <a:pt x="0" y="158"/>
                        <a:pt x="0" y="158"/>
                      </a:cubicBezTo>
                      <a:cubicBezTo>
                        <a:pt x="0" y="164"/>
                        <a:pt x="5" y="169"/>
                        <a:pt x="12" y="169"/>
                      </a:cubicBezTo>
                      <a:cubicBezTo>
                        <a:pt x="64" y="169"/>
                        <a:pt x="64" y="169"/>
                        <a:pt x="64" y="169"/>
                      </a:cubicBezTo>
                      <a:cubicBezTo>
                        <a:pt x="66" y="169"/>
                        <a:pt x="68" y="168"/>
                        <a:pt x="70" y="167"/>
                      </a:cubicBezTo>
                      <a:cubicBezTo>
                        <a:pt x="68" y="160"/>
                        <a:pt x="67" y="153"/>
                        <a:pt x="67" y="145"/>
                      </a:cubicBezTo>
                      <a:cubicBezTo>
                        <a:pt x="67" y="138"/>
                        <a:pt x="68" y="130"/>
                        <a:pt x="70" y="123"/>
                      </a:cubicBezTo>
                      <a:cubicBezTo>
                        <a:pt x="68" y="122"/>
                        <a:pt x="66" y="122"/>
                        <a:pt x="64" y="122"/>
                      </a:cubicBezTo>
                      <a:close/>
                      <a:moveTo>
                        <a:pt x="146" y="224"/>
                      </a:moveTo>
                      <a:cubicBezTo>
                        <a:pt x="138" y="224"/>
                        <a:pt x="131" y="223"/>
                        <a:pt x="124" y="221"/>
                      </a:cubicBezTo>
                      <a:cubicBezTo>
                        <a:pt x="123" y="223"/>
                        <a:pt x="122" y="225"/>
                        <a:pt x="122" y="227"/>
                      </a:cubicBezTo>
                      <a:cubicBezTo>
                        <a:pt x="122" y="279"/>
                        <a:pt x="122" y="279"/>
                        <a:pt x="122" y="279"/>
                      </a:cubicBezTo>
                      <a:cubicBezTo>
                        <a:pt x="122" y="286"/>
                        <a:pt x="127" y="291"/>
                        <a:pt x="134" y="291"/>
                      </a:cubicBezTo>
                      <a:cubicBezTo>
                        <a:pt x="158" y="291"/>
                        <a:pt x="158" y="291"/>
                        <a:pt x="158" y="291"/>
                      </a:cubicBezTo>
                      <a:cubicBezTo>
                        <a:pt x="164" y="291"/>
                        <a:pt x="169" y="286"/>
                        <a:pt x="169" y="279"/>
                      </a:cubicBezTo>
                      <a:cubicBezTo>
                        <a:pt x="169" y="227"/>
                        <a:pt x="169" y="227"/>
                        <a:pt x="169" y="227"/>
                      </a:cubicBezTo>
                      <a:cubicBezTo>
                        <a:pt x="169" y="225"/>
                        <a:pt x="169" y="223"/>
                        <a:pt x="168" y="221"/>
                      </a:cubicBezTo>
                      <a:cubicBezTo>
                        <a:pt x="161" y="223"/>
                        <a:pt x="153" y="224"/>
                        <a:pt x="146" y="224"/>
                      </a:cubicBezTo>
                      <a:close/>
                      <a:moveTo>
                        <a:pt x="280" y="122"/>
                      </a:moveTo>
                      <a:cubicBezTo>
                        <a:pt x="227" y="122"/>
                        <a:pt x="227" y="122"/>
                        <a:pt x="227" y="122"/>
                      </a:cubicBezTo>
                      <a:cubicBezTo>
                        <a:pt x="225" y="122"/>
                        <a:pt x="223" y="122"/>
                        <a:pt x="222" y="123"/>
                      </a:cubicBezTo>
                      <a:cubicBezTo>
                        <a:pt x="224" y="130"/>
                        <a:pt x="225" y="138"/>
                        <a:pt x="225" y="145"/>
                      </a:cubicBezTo>
                      <a:cubicBezTo>
                        <a:pt x="225" y="153"/>
                        <a:pt x="224" y="160"/>
                        <a:pt x="222" y="167"/>
                      </a:cubicBezTo>
                      <a:cubicBezTo>
                        <a:pt x="223" y="168"/>
                        <a:pt x="225" y="169"/>
                        <a:pt x="227" y="169"/>
                      </a:cubicBezTo>
                      <a:cubicBezTo>
                        <a:pt x="280" y="169"/>
                        <a:pt x="280" y="169"/>
                        <a:pt x="280" y="169"/>
                      </a:cubicBezTo>
                      <a:cubicBezTo>
                        <a:pt x="286" y="169"/>
                        <a:pt x="291" y="164"/>
                        <a:pt x="291" y="158"/>
                      </a:cubicBezTo>
                      <a:cubicBezTo>
                        <a:pt x="291" y="133"/>
                        <a:pt x="291" y="133"/>
                        <a:pt x="291" y="133"/>
                      </a:cubicBezTo>
                      <a:cubicBezTo>
                        <a:pt x="291" y="127"/>
                        <a:pt x="286" y="122"/>
                        <a:pt x="280" y="1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1520" y="371085"/>
            <a:ext cx="1713230" cy="460375"/>
          </a:xfrm>
          <a:prstGeom prst="rect">
            <a:avLst/>
          </a:prstGeom>
        </p:spPr>
        <p:txBody>
          <a:bodyPr wrap="none">
            <a:spAutoFit/>
          </a:bodyPr>
          <a:lstStyle/>
          <a:p>
            <a:pPr>
              <a:defRPr/>
            </a:pPr>
            <a:r>
              <a:rPr lang="zh-CN" altLang="en-US" sz="2400" b="1" dirty="0">
                <a:latin typeface="幼圆" panose="02010509060101010101" charset="-122"/>
                <a:ea typeface="幼圆" panose="02010509060101010101" charset="-122"/>
              </a:rPr>
              <a:t>问题抽象：</a:t>
            </a:r>
          </a:p>
        </p:txBody>
      </p:sp>
      <p:sp>
        <p:nvSpPr>
          <p:cNvPr id="5" name="矩形 4"/>
          <p:cNvSpPr/>
          <p:nvPr/>
        </p:nvSpPr>
        <p:spPr>
          <a:xfrm>
            <a:off x="467544" y="726581"/>
            <a:ext cx="8487035" cy="2214880"/>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t>假设有</a:t>
            </a:r>
            <a:r>
              <a:rPr lang="en-US" altLang="zh-CN" dirty="0"/>
              <a:t>n</a:t>
            </a:r>
            <a:r>
              <a:rPr lang="zh-CN" altLang="en-US" dirty="0"/>
              <a:t>块钢卷，每块钢卷的长度、宽度、硬度等</a:t>
            </a:r>
            <a:r>
              <a:rPr lang="zh-CN" altLang="en-US" b="1" dirty="0"/>
              <a:t>各种属性均已知</a:t>
            </a:r>
            <a:r>
              <a:rPr lang="zh-CN" altLang="en-US" dirty="0"/>
              <a:t>。</a:t>
            </a:r>
          </a:p>
          <a:p>
            <a:pPr marL="285750" indent="-285750">
              <a:lnSpc>
                <a:spcPct val="150000"/>
              </a:lnSpc>
              <a:buFont typeface="Arial" panose="020B0604020202020204" pitchFamily="34" charset="0"/>
              <a:buChar char="•"/>
            </a:pPr>
            <a:r>
              <a:rPr lang="zh-CN" altLang="en-US" dirty="0"/>
              <a:t>将相同属性的钢卷组成钢卷组之后，依据工艺约束将所有钢卷组排入轧制计划。</a:t>
            </a:r>
          </a:p>
          <a:p>
            <a:pPr marL="285750" indent="-285750">
              <a:lnSpc>
                <a:spcPct val="150000"/>
              </a:lnSpc>
              <a:buFont typeface="Arial" panose="020B0604020202020204" pitchFamily="34" charset="0"/>
              <a:buChar char="•"/>
            </a:pPr>
            <a:r>
              <a:rPr lang="zh-CN" altLang="en-US" dirty="0"/>
              <a:t>每个轧制计划的</a:t>
            </a:r>
            <a:r>
              <a:rPr lang="zh-CN" altLang="en-US" b="1" dirty="0"/>
              <a:t>轧制能力一定</a:t>
            </a:r>
            <a:r>
              <a:rPr lang="zh-CN" altLang="en-US" dirty="0"/>
              <a:t>，轧制计划数不确定且</a:t>
            </a:r>
            <a:r>
              <a:rPr lang="zh-CN" altLang="en-US" b="1" dirty="0"/>
              <a:t>越少越好。</a:t>
            </a:r>
          </a:p>
          <a:p>
            <a:pPr marL="285750" indent="-285750">
              <a:lnSpc>
                <a:spcPct val="150000"/>
              </a:lnSpc>
              <a:buFont typeface="Arial" panose="020B0604020202020204" pitchFamily="34" charset="0"/>
              <a:buChar char="•"/>
            </a:pPr>
            <a:r>
              <a:rPr lang="zh-CN" altLang="en-US" dirty="0">
                <a:solidFill>
                  <a:sysClr val="windowText" lastClr="000000"/>
                </a:solidFill>
                <a:latin typeface="楷体_GB2312"/>
                <a:ea typeface="微软雅黑" panose="020B0503020204020204" charset="-122"/>
              </a:rPr>
              <a:t>问题求解过程类似于</a:t>
            </a:r>
            <a:r>
              <a:rPr lang="en-US" altLang="zh-CN" dirty="0">
                <a:solidFill>
                  <a:sysClr val="windowText" lastClr="000000"/>
                </a:solidFill>
                <a:latin typeface="楷体_GB2312"/>
                <a:ea typeface="微软雅黑" panose="020B0503020204020204" charset="-122"/>
              </a:rPr>
              <a:t>VRP</a:t>
            </a:r>
            <a:r>
              <a:rPr lang="zh-CN" altLang="en-US" dirty="0">
                <a:solidFill>
                  <a:sysClr val="windowText" lastClr="000000"/>
                </a:solidFill>
                <a:latin typeface="楷体_GB2312"/>
                <a:ea typeface="微软雅黑" panose="020B0503020204020204" charset="-122"/>
              </a:rPr>
              <a:t>问题的求解过程，是一个</a:t>
            </a:r>
            <a:r>
              <a:rPr lang="en-US" altLang="zh-CN" dirty="0">
                <a:solidFill>
                  <a:sysClr val="windowText" lastClr="000000"/>
                </a:solidFill>
                <a:latin typeface="楷体_GB2312"/>
                <a:ea typeface="微软雅黑" panose="020B0503020204020204" charset="-122"/>
              </a:rPr>
              <a:t>NP-hard</a:t>
            </a:r>
            <a:r>
              <a:rPr lang="zh-CN" altLang="en-US" dirty="0">
                <a:solidFill>
                  <a:sysClr val="windowText" lastClr="000000"/>
                </a:solidFill>
                <a:latin typeface="楷体_GB2312"/>
                <a:ea typeface="微软雅黑" panose="020B0503020204020204" charset="-122"/>
              </a:rPr>
              <a:t>问题。</a:t>
            </a:r>
            <a:endParaRPr lang="zh-CN" altLang="en-US" sz="2000" b="1" dirty="0">
              <a:solidFill>
                <a:sysClr val="windowText" lastClr="000000"/>
              </a:solidFill>
              <a:latin typeface="楷体_GB2312"/>
              <a:ea typeface="微软雅黑" panose="020B0503020204020204" charset="-122"/>
            </a:endParaRPr>
          </a:p>
          <a:p>
            <a:pPr marL="285750" indent="-285750">
              <a:lnSpc>
                <a:spcPct val="150000"/>
              </a:lnSpc>
              <a:buFont typeface="Arial" panose="020B0604020202020204" pitchFamily="34" charset="0"/>
              <a:buChar char="•"/>
            </a:pPr>
            <a:endParaRPr lang="zh-CN" altLang="en-US" sz="2000" b="1" dirty="0">
              <a:solidFill>
                <a:sysClr val="windowText" lastClr="000000"/>
              </a:solidFill>
              <a:latin typeface="楷体_GB2312"/>
              <a:ea typeface="微软雅黑" panose="020B0503020204020204" charset="-122"/>
            </a:endParaRPr>
          </a:p>
        </p:txBody>
      </p:sp>
      <p:pic>
        <p:nvPicPr>
          <p:cNvPr id="6" name="图片 5"/>
          <p:cNvPicPr>
            <a:picLocks noChangeAspect="1"/>
          </p:cNvPicPr>
          <p:nvPr/>
        </p:nvPicPr>
        <p:blipFill>
          <a:blip r:embed="rId2"/>
          <a:srcRect b="6978"/>
          <a:stretch>
            <a:fillRect/>
          </a:stretch>
        </p:blipFill>
        <p:spPr>
          <a:xfrm>
            <a:off x="694690" y="2619375"/>
            <a:ext cx="7279005" cy="238696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1520" y="371085"/>
            <a:ext cx="5847080" cy="460375"/>
          </a:xfrm>
          <a:prstGeom prst="rect">
            <a:avLst/>
          </a:prstGeom>
        </p:spPr>
        <p:txBody>
          <a:bodyPr wrap="none">
            <a:spAutoFit/>
          </a:bodyPr>
          <a:lstStyle/>
          <a:p>
            <a:pPr algn="l">
              <a:defRPr/>
            </a:pPr>
            <a:r>
              <a:rPr lang="zh-CN" altLang="en-US" sz="2400" b="1" dirty="0">
                <a:latin typeface="幼圆" panose="02010509060101010101" charset="-122"/>
                <a:ea typeface="幼圆" panose="02010509060101010101" charset="-122"/>
              </a:rPr>
              <a:t>基于VRP的热轧批量计划的数学模型抽象：</a:t>
            </a:r>
          </a:p>
        </p:txBody>
      </p:sp>
      <p:sp>
        <p:nvSpPr>
          <p:cNvPr id="5" name="矩形 4"/>
          <p:cNvSpPr/>
          <p:nvPr/>
        </p:nvSpPr>
        <p:spPr>
          <a:xfrm>
            <a:off x="467544" y="726581"/>
            <a:ext cx="8487035" cy="1383665"/>
          </a:xfrm>
          <a:prstGeom prst="rect">
            <a:avLst/>
          </a:prstGeom>
        </p:spPr>
        <p:txBody>
          <a:bodyPr wrap="square">
            <a:spAutoFit/>
          </a:bodyPr>
          <a:lstStyle/>
          <a:p>
            <a:pPr marL="285750" indent="-285750">
              <a:lnSpc>
                <a:spcPct val="150000"/>
              </a:lnSpc>
              <a:buFont typeface="Arial" panose="020B0604020202020204" pitchFamily="34" charset="0"/>
              <a:buChar char="•"/>
            </a:pPr>
            <a:r>
              <a:rPr dirty="0"/>
              <a:t>在热轧批量计划编制问题中，我们将虚拟钢卷比作场站；将轧制计划比作车辆；将待轧制的钢卷（板坯）比作顾客；将板坯间的总惩罚值比作运输费用</a:t>
            </a:r>
            <a:r>
              <a:rPr lang="zh-CN" dirty="0"/>
              <a:t>。</a:t>
            </a:r>
            <a:endParaRPr dirty="0"/>
          </a:p>
          <a:p>
            <a:pPr marL="285750" indent="-285750">
              <a:lnSpc>
                <a:spcPct val="150000"/>
              </a:lnSpc>
              <a:buFont typeface="Arial" panose="020B0604020202020204" pitchFamily="34" charset="0"/>
              <a:buChar char="•"/>
            </a:pPr>
            <a:endParaRPr lang="zh-CN" altLang="en-US" sz="2000" b="1" dirty="0">
              <a:solidFill>
                <a:sysClr val="windowText" lastClr="000000"/>
              </a:solidFill>
              <a:latin typeface="楷体_GB2312"/>
              <a:ea typeface="微软雅黑" panose="020B0503020204020204" charset="-122"/>
            </a:endParaRPr>
          </a:p>
        </p:txBody>
      </p:sp>
      <p:pic>
        <p:nvPicPr>
          <p:cNvPr id="2" name="图片 1"/>
          <p:cNvPicPr>
            <a:picLocks noChangeAspect="1"/>
          </p:cNvPicPr>
          <p:nvPr/>
        </p:nvPicPr>
        <p:blipFill>
          <a:blip r:embed="rId2"/>
          <a:stretch>
            <a:fillRect/>
          </a:stretch>
        </p:blipFill>
        <p:spPr>
          <a:xfrm>
            <a:off x="2473960" y="1809750"/>
            <a:ext cx="4844415" cy="35077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1520" y="371085"/>
            <a:ext cx="1713230" cy="460375"/>
          </a:xfrm>
          <a:prstGeom prst="rect">
            <a:avLst/>
          </a:prstGeom>
        </p:spPr>
        <p:txBody>
          <a:bodyPr wrap="none">
            <a:spAutoFit/>
          </a:bodyPr>
          <a:lstStyle/>
          <a:p>
            <a:pPr>
              <a:defRPr/>
            </a:pPr>
            <a:r>
              <a:rPr lang="zh-CN" altLang="en-US" sz="2400" b="1" dirty="0">
                <a:latin typeface="幼圆" panose="02010509060101010101" charset="-122"/>
                <a:ea typeface="幼圆" panose="02010509060101010101" charset="-122"/>
              </a:rPr>
              <a:t>约束条件：</a:t>
            </a:r>
          </a:p>
        </p:txBody>
      </p:sp>
      <p:sp>
        <p:nvSpPr>
          <p:cNvPr id="5" name="矩形 4"/>
          <p:cNvSpPr/>
          <p:nvPr/>
        </p:nvSpPr>
        <p:spPr>
          <a:xfrm>
            <a:off x="467544" y="831356"/>
            <a:ext cx="8487035" cy="3876675"/>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t>约束条件较为复杂，且随着需求的变化，约束条件也跟着变化，但是主要约束为以下几方面：</a:t>
            </a:r>
          </a:p>
          <a:p>
            <a:pPr marL="285750" indent="-285750">
              <a:lnSpc>
                <a:spcPct val="150000"/>
              </a:lnSpc>
              <a:buFont typeface="Arial" panose="020B0604020202020204" pitchFamily="34" charset="0"/>
              <a:buChar char="•"/>
            </a:pPr>
            <a:r>
              <a:rPr lang="zh-CN" altLang="en-US" dirty="0"/>
              <a:t>（1）相邻板坯间额定轧制宽度约束、额定轧制厚度、额定出炉温度约束、额定终轧温度约束、额定卷曲温度约束、额定硬度组代码约束。</a:t>
            </a:r>
          </a:p>
          <a:p>
            <a:pPr marL="285750" indent="-285750">
              <a:lnSpc>
                <a:spcPct val="150000"/>
              </a:lnSpc>
              <a:buFont typeface="Arial" panose="020B0604020202020204" pitchFamily="34" charset="0"/>
              <a:buChar char="•"/>
            </a:pPr>
            <a:r>
              <a:rPr lang="zh-CN" altLang="en-US" dirty="0"/>
              <a:t>（2）同宽块数和同宽公里数约束。</a:t>
            </a:r>
          </a:p>
          <a:p>
            <a:pPr marL="285750" indent="-285750">
              <a:lnSpc>
                <a:spcPct val="150000"/>
              </a:lnSpc>
              <a:buFont typeface="Arial" panose="020B0604020202020204" pitchFamily="34" charset="0"/>
              <a:buChar char="•"/>
            </a:pPr>
            <a:r>
              <a:rPr lang="zh-CN" altLang="en-US" dirty="0"/>
              <a:t>（3）轧制位区间约束。</a:t>
            </a:r>
          </a:p>
          <a:p>
            <a:pPr marL="285750" indent="-285750">
              <a:lnSpc>
                <a:spcPct val="150000"/>
              </a:lnSpc>
              <a:buFont typeface="Arial" panose="020B0604020202020204" pitchFamily="34" charset="0"/>
              <a:buChar char="•"/>
            </a:pPr>
            <a:r>
              <a:rPr lang="zh-CN" altLang="en-US" dirty="0"/>
              <a:t>（4）乌龟壳最大块数、最大公里数约束。</a:t>
            </a:r>
          </a:p>
          <a:p>
            <a:pPr marL="285750" indent="-285750">
              <a:lnSpc>
                <a:spcPct val="150000"/>
              </a:lnSpc>
              <a:buFont typeface="Arial" panose="020B0604020202020204" pitchFamily="34" charset="0"/>
              <a:buChar char="•"/>
            </a:pPr>
            <a:r>
              <a:rPr lang="zh-CN" altLang="en-US" dirty="0"/>
              <a:t>（5）如果还有DHCR段，还有DHCR段约束。</a:t>
            </a:r>
            <a:endParaRPr lang="zh-CN" altLang="en-US" sz="2000" b="1" dirty="0">
              <a:solidFill>
                <a:sysClr val="windowText" lastClr="000000"/>
              </a:solidFill>
              <a:latin typeface="楷体_GB2312"/>
              <a:ea typeface="微软雅黑" panose="020B0503020204020204" charset="-122"/>
            </a:endParaRPr>
          </a:p>
          <a:p>
            <a:pPr marL="285750" indent="-285750">
              <a:lnSpc>
                <a:spcPct val="150000"/>
              </a:lnSpc>
              <a:buFont typeface="Arial" panose="020B0604020202020204" pitchFamily="34" charset="0"/>
              <a:buChar char="•"/>
            </a:pPr>
            <a:endParaRPr lang="zh-CN" altLang="en-US" sz="2000" b="1" dirty="0">
              <a:solidFill>
                <a:sysClr val="windowText" lastClr="000000"/>
              </a:solidFill>
              <a:latin typeface="楷体_GB2312"/>
              <a:ea typeface="微软雅黑" panose="020B0503020204020204" charset="-122"/>
            </a:endParaRPr>
          </a:p>
        </p:txBody>
      </p:sp>
      <p:sp>
        <p:nvSpPr>
          <p:cNvPr id="7" name="矩形 6"/>
          <p:cNvSpPr/>
          <p:nvPr/>
        </p:nvSpPr>
        <p:spPr>
          <a:xfrm>
            <a:off x="251520" y="4560939"/>
            <a:ext cx="1099820" cy="460375"/>
          </a:xfrm>
          <a:prstGeom prst="rect">
            <a:avLst/>
          </a:prstGeom>
        </p:spPr>
        <p:txBody>
          <a:bodyPr wrap="none">
            <a:spAutoFit/>
          </a:bodyPr>
          <a:lstStyle/>
          <a:p>
            <a:r>
              <a:rPr lang="zh-CN" altLang="en-US" sz="2400" b="1" dirty="0">
                <a:latin typeface="幼圆" panose="02010509060101010101" charset="-122"/>
                <a:ea typeface="幼圆" panose="02010509060101010101" charset="-122"/>
              </a:rPr>
              <a:t>目标</a:t>
            </a:r>
            <a:r>
              <a:rPr lang="zh-CN" altLang="en-US" sz="2400" dirty="0">
                <a:latin typeface="幼圆" panose="02010509060101010101" charset="-122"/>
                <a:ea typeface="幼圆" panose="02010509060101010101" charset="-122"/>
              </a:rPr>
              <a:t>：</a:t>
            </a:r>
            <a:endParaRPr lang="zh-CN" altLang="en-US" dirty="0"/>
          </a:p>
        </p:txBody>
      </p:sp>
      <p:sp>
        <p:nvSpPr>
          <p:cNvPr id="8" name="矩形 7"/>
          <p:cNvSpPr/>
          <p:nvPr/>
        </p:nvSpPr>
        <p:spPr>
          <a:xfrm>
            <a:off x="888944" y="5021307"/>
            <a:ext cx="8065131" cy="1014730"/>
          </a:xfrm>
          <a:prstGeom prst="rect">
            <a:avLst/>
          </a:prstGeom>
        </p:spPr>
        <p:txBody>
          <a:bodyPr wrap="square">
            <a:spAutoFit/>
          </a:bodyPr>
          <a:lstStyle/>
          <a:p>
            <a:pPr>
              <a:lnSpc>
                <a:spcPct val="150000"/>
              </a:lnSpc>
            </a:pPr>
            <a:r>
              <a:rPr lang="zh-CN" altLang="en-US" sz="2000" dirty="0">
                <a:latin typeface="+mn-ea"/>
              </a:rPr>
              <a:t>①在满足工艺约束的前提下，保证</a:t>
            </a:r>
            <a:r>
              <a:rPr lang="zh-CN" altLang="en-US" sz="2000" b="1" dirty="0">
                <a:latin typeface="+mn-ea"/>
              </a:rPr>
              <a:t>轧制计划总数最小</a:t>
            </a:r>
          </a:p>
          <a:p>
            <a:pPr>
              <a:lnSpc>
                <a:spcPct val="150000"/>
              </a:lnSpc>
            </a:pPr>
            <a:r>
              <a:rPr lang="zh-CN" altLang="en-US" sz="2000" dirty="0">
                <a:latin typeface="+mn-ea"/>
              </a:rPr>
              <a:t>②尽可能减小相邻钢卷</a:t>
            </a:r>
            <a:r>
              <a:rPr lang="zh-CN" altLang="en-US" sz="2000" b="1" dirty="0">
                <a:latin typeface="+mn-ea"/>
              </a:rPr>
              <a:t>宽度、厚度和硬度等跳跃的总惩罚值</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p:cNvPicPr>
            <a:picLocks noChangeAspect="1" noChangeArrowheads="1"/>
          </p:cNvPicPr>
          <p:nvPr/>
        </p:nvPicPr>
        <p:blipFill rotWithShape="1">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767" r="7205" b="57679"/>
          <a:stretch>
            <a:fillRect/>
          </a:stretch>
        </p:blipFill>
        <p:spPr bwMode="auto">
          <a:xfrm rot="10800000">
            <a:off x="971600" y="4221088"/>
            <a:ext cx="7272808" cy="469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3"/>
          <p:cNvPicPr>
            <a:picLocks noChangeAspect="1" noChangeArrowheads="1"/>
          </p:cNvPicPr>
          <p:nvPr/>
        </p:nvPicPr>
        <p:blipFill rotWithShape="1">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767" r="7205" b="57679"/>
          <a:stretch>
            <a:fillRect/>
          </a:stretch>
        </p:blipFill>
        <p:spPr bwMode="auto">
          <a:xfrm rot="10800000" flipV="1">
            <a:off x="957113" y="2132856"/>
            <a:ext cx="7272808" cy="469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TextBox 17"/>
          <p:cNvSpPr txBox="1"/>
          <p:nvPr/>
        </p:nvSpPr>
        <p:spPr>
          <a:xfrm>
            <a:off x="3759200" y="3166165"/>
            <a:ext cx="4269184" cy="583565"/>
          </a:xfrm>
          <a:prstGeom prst="rect">
            <a:avLst/>
          </a:prstGeom>
          <a:noFill/>
        </p:spPr>
        <p:txBody>
          <a:bodyPr wrap="square" rtlCol="0">
            <a:spAutoFit/>
          </a:bodyPr>
          <a:lstStyle/>
          <a:p>
            <a:r>
              <a:rPr lang="zh-CN" altLang="en-US" sz="3200" b="1" dirty="0">
                <a:solidFill>
                  <a:srgbClr val="072063"/>
                </a:solidFill>
              </a:rPr>
              <a:t>研究内容和思路</a:t>
            </a:r>
          </a:p>
        </p:txBody>
      </p:sp>
      <p:grpSp>
        <p:nvGrpSpPr>
          <p:cNvPr id="3" name="组合 2"/>
          <p:cNvGrpSpPr/>
          <p:nvPr/>
        </p:nvGrpSpPr>
        <p:grpSpPr>
          <a:xfrm>
            <a:off x="2195736" y="2853104"/>
            <a:ext cx="1224137" cy="1220324"/>
            <a:chOff x="2195736" y="2853104"/>
            <a:chExt cx="1224137" cy="1220324"/>
          </a:xfrm>
        </p:grpSpPr>
        <p:sp>
          <p:nvSpPr>
            <p:cNvPr id="19" name="椭圆 18"/>
            <p:cNvSpPr/>
            <p:nvPr/>
          </p:nvSpPr>
          <p:spPr>
            <a:xfrm>
              <a:off x="2195736" y="3683124"/>
              <a:ext cx="1224137" cy="390304"/>
            </a:xfrm>
            <a:prstGeom prst="ellipse">
              <a:avLst/>
            </a:prstGeom>
            <a:gradFill flip="none" rotWithShape="1">
              <a:gsLst>
                <a:gs pos="0">
                  <a:schemeClr val="tx1">
                    <a:alpha val="68000"/>
                  </a:schemeClr>
                </a:gs>
                <a:gs pos="100000">
                  <a:schemeClr val="tx1">
                    <a:lumMod val="65000"/>
                    <a:lumOff val="35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nvGrpSpPr>
            <p:cNvPr id="2" name="组合 1"/>
            <p:cNvGrpSpPr/>
            <p:nvPr/>
          </p:nvGrpSpPr>
          <p:grpSpPr>
            <a:xfrm>
              <a:off x="2276608" y="2853104"/>
              <a:ext cx="1089990" cy="1089990"/>
              <a:chOff x="2276608" y="2853104"/>
              <a:chExt cx="1089990" cy="1089990"/>
            </a:xfrm>
          </p:grpSpPr>
          <p:sp>
            <p:nvSpPr>
              <p:cNvPr id="52" name="椭圆 51"/>
              <p:cNvSpPr/>
              <p:nvPr/>
            </p:nvSpPr>
            <p:spPr>
              <a:xfrm>
                <a:off x="2276608" y="2853104"/>
                <a:ext cx="1089990" cy="1089990"/>
              </a:xfrm>
              <a:prstGeom prst="ellipse">
                <a:avLst/>
              </a:prstGeom>
              <a:solidFill>
                <a:srgbClr val="0720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lumMod val="65000"/>
                      <a:lumOff val="35000"/>
                    </a:schemeClr>
                  </a:solidFill>
                </a:endParaRPr>
              </a:p>
            </p:txBody>
          </p:sp>
          <p:grpSp>
            <p:nvGrpSpPr>
              <p:cNvPr id="53" name="Group 61"/>
              <p:cNvGrpSpPr>
                <a:grpSpLocks noChangeAspect="1"/>
              </p:cNvGrpSpPr>
              <p:nvPr/>
            </p:nvGrpSpPr>
            <p:grpSpPr bwMode="auto">
              <a:xfrm>
                <a:off x="2446556" y="3042102"/>
                <a:ext cx="731041" cy="731041"/>
                <a:chOff x="569" y="2009"/>
                <a:chExt cx="687" cy="687"/>
              </a:xfrm>
            </p:grpSpPr>
            <p:sp>
              <p:nvSpPr>
                <p:cNvPr id="54" name="Freeform 62"/>
                <p:cNvSpPr/>
                <p:nvPr/>
              </p:nvSpPr>
              <p:spPr bwMode="auto">
                <a:xfrm>
                  <a:off x="982" y="2026"/>
                  <a:ext cx="260" cy="259"/>
                </a:xfrm>
                <a:custGeom>
                  <a:avLst/>
                  <a:gdLst>
                    <a:gd name="T0" fmla="*/ 44 w 110"/>
                    <a:gd name="T1" fmla="*/ 110 h 110"/>
                    <a:gd name="T2" fmla="*/ 110 w 110"/>
                    <a:gd name="T3" fmla="*/ 110 h 110"/>
                    <a:gd name="T4" fmla="*/ 0 w 110"/>
                    <a:gd name="T5" fmla="*/ 0 h 110"/>
                    <a:gd name="T6" fmla="*/ 0 w 110"/>
                    <a:gd name="T7" fmla="*/ 65 h 110"/>
                    <a:gd name="T8" fmla="*/ 44 w 110"/>
                    <a:gd name="T9" fmla="*/ 110 h 110"/>
                  </a:gdLst>
                  <a:ahLst/>
                  <a:cxnLst>
                    <a:cxn ang="0">
                      <a:pos x="T0" y="T1"/>
                    </a:cxn>
                    <a:cxn ang="0">
                      <a:pos x="T2" y="T3"/>
                    </a:cxn>
                    <a:cxn ang="0">
                      <a:pos x="T4" y="T5"/>
                    </a:cxn>
                    <a:cxn ang="0">
                      <a:pos x="T6" y="T7"/>
                    </a:cxn>
                    <a:cxn ang="0">
                      <a:pos x="T8" y="T9"/>
                    </a:cxn>
                  </a:cxnLst>
                  <a:rect l="0" t="0" r="r" b="b"/>
                  <a:pathLst>
                    <a:path w="110" h="110">
                      <a:moveTo>
                        <a:pt x="44" y="110"/>
                      </a:moveTo>
                      <a:cubicBezTo>
                        <a:pt x="110" y="110"/>
                        <a:pt x="110" y="110"/>
                        <a:pt x="110" y="110"/>
                      </a:cubicBezTo>
                      <a:cubicBezTo>
                        <a:pt x="98" y="54"/>
                        <a:pt x="55" y="11"/>
                        <a:pt x="0" y="0"/>
                      </a:cubicBezTo>
                      <a:cubicBezTo>
                        <a:pt x="0" y="65"/>
                        <a:pt x="0" y="65"/>
                        <a:pt x="0" y="65"/>
                      </a:cubicBezTo>
                      <a:cubicBezTo>
                        <a:pt x="20" y="73"/>
                        <a:pt x="36" y="90"/>
                        <a:pt x="44" y="11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63"/>
                <p:cNvSpPr/>
                <p:nvPr/>
              </p:nvSpPr>
              <p:spPr bwMode="auto">
                <a:xfrm>
                  <a:off x="586" y="2026"/>
                  <a:ext cx="259" cy="259"/>
                </a:xfrm>
                <a:custGeom>
                  <a:avLst/>
                  <a:gdLst>
                    <a:gd name="T0" fmla="*/ 110 w 110"/>
                    <a:gd name="T1" fmla="*/ 65 h 110"/>
                    <a:gd name="T2" fmla="*/ 110 w 110"/>
                    <a:gd name="T3" fmla="*/ 0 h 110"/>
                    <a:gd name="T4" fmla="*/ 0 w 110"/>
                    <a:gd name="T5" fmla="*/ 110 h 110"/>
                    <a:gd name="T6" fmla="*/ 66 w 110"/>
                    <a:gd name="T7" fmla="*/ 110 h 110"/>
                    <a:gd name="T8" fmla="*/ 110 w 110"/>
                    <a:gd name="T9" fmla="*/ 65 h 110"/>
                  </a:gdLst>
                  <a:ahLst/>
                  <a:cxnLst>
                    <a:cxn ang="0">
                      <a:pos x="T0" y="T1"/>
                    </a:cxn>
                    <a:cxn ang="0">
                      <a:pos x="T2" y="T3"/>
                    </a:cxn>
                    <a:cxn ang="0">
                      <a:pos x="T4" y="T5"/>
                    </a:cxn>
                    <a:cxn ang="0">
                      <a:pos x="T6" y="T7"/>
                    </a:cxn>
                    <a:cxn ang="0">
                      <a:pos x="T8" y="T9"/>
                    </a:cxn>
                  </a:cxnLst>
                  <a:rect l="0" t="0" r="r" b="b"/>
                  <a:pathLst>
                    <a:path w="110" h="110">
                      <a:moveTo>
                        <a:pt x="110" y="65"/>
                      </a:moveTo>
                      <a:cubicBezTo>
                        <a:pt x="110" y="0"/>
                        <a:pt x="110" y="0"/>
                        <a:pt x="110" y="0"/>
                      </a:cubicBezTo>
                      <a:cubicBezTo>
                        <a:pt x="55" y="11"/>
                        <a:pt x="11" y="54"/>
                        <a:pt x="0" y="110"/>
                      </a:cubicBezTo>
                      <a:cubicBezTo>
                        <a:pt x="66" y="110"/>
                        <a:pt x="66" y="110"/>
                        <a:pt x="66" y="110"/>
                      </a:cubicBezTo>
                      <a:cubicBezTo>
                        <a:pt x="74" y="90"/>
                        <a:pt x="90" y="73"/>
                        <a:pt x="110" y="6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64"/>
                <p:cNvSpPr/>
                <p:nvPr/>
              </p:nvSpPr>
              <p:spPr bwMode="auto">
                <a:xfrm>
                  <a:off x="982" y="2420"/>
                  <a:ext cx="260" cy="262"/>
                </a:xfrm>
                <a:custGeom>
                  <a:avLst/>
                  <a:gdLst>
                    <a:gd name="T0" fmla="*/ 0 w 110"/>
                    <a:gd name="T1" fmla="*/ 45 h 111"/>
                    <a:gd name="T2" fmla="*/ 0 w 110"/>
                    <a:gd name="T3" fmla="*/ 111 h 111"/>
                    <a:gd name="T4" fmla="*/ 110 w 110"/>
                    <a:gd name="T5" fmla="*/ 0 h 111"/>
                    <a:gd name="T6" fmla="*/ 44 w 110"/>
                    <a:gd name="T7" fmla="*/ 0 h 111"/>
                    <a:gd name="T8" fmla="*/ 0 w 110"/>
                    <a:gd name="T9" fmla="*/ 45 h 111"/>
                  </a:gdLst>
                  <a:ahLst/>
                  <a:cxnLst>
                    <a:cxn ang="0">
                      <a:pos x="T0" y="T1"/>
                    </a:cxn>
                    <a:cxn ang="0">
                      <a:pos x="T2" y="T3"/>
                    </a:cxn>
                    <a:cxn ang="0">
                      <a:pos x="T4" y="T5"/>
                    </a:cxn>
                    <a:cxn ang="0">
                      <a:pos x="T6" y="T7"/>
                    </a:cxn>
                    <a:cxn ang="0">
                      <a:pos x="T8" y="T9"/>
                    </a:cxn>
                  </a:cxnLst>
                  <a:rect l="0" t="0" r="r" b="b"/>
                  <a:pathLst>
                    <a:path w="110" h="111">
                      <a:moveTo>
                        <a:pt x="0" y="45"/>
                      </a:moveTo>
                      <a:cubicBezTo>
                        <a:pt x="0" y="111"/>
                        <a:pt x="0" y="111"/>
                        <a:pt x="0" y="111"/>
                      </a:cubicBezTo>
                      <a:cubicBezTo>
                        <a:pt x="55" y="99"/>
                        <a:pt x="98" y="56"/>
                        <a:pt x="110" y="0"/>
                      </a:cubicBezTo>
                      <a:cubicBezTo>
                        <a:pt x="44" y="0"/>
                        <a:pt x="44" y="0"/>
                        <a:pt x="44" y="0"/>
                      </a:cubicBezTo>
                      <a:cubicBezTo>
                        <a:pt x="36" y="21"/>
                        <a:pt x="20" y="37"/>
                        <a:pt x="0" y="4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65"/>
                <p:cNvSpPr/>
                <p:nvPr/>
              </p:nvSpPr>
              <p:spPr bwMode="auto">
                <a:xfrm>
                  <a:off x="586" y="2420"/>
                  <a:ext cx="259" cy="262"/>
                </a:xfrm>
                <a:custGeom>
                  <a:avLst/>
                  <a:gdLst>
                    <a:gd name="T0" fmla="*/ 66 w 110"/>
                    <a:gd name="T1" fmla="*/ 0 h 111"/>
                    <a:gd name="T2" fmla="*/ 0 w 110"/>
                    <a:gd name="T3" fmla="*/ 0 h 111"/>
                    <a:gd name="T4" fmla="*/ 110 w 110"/>
                    <a:gd name="T5" fmla="*/ 111 h 111"/>
                    <a:gd name="T6" fmla="*/ 110 w 110"/>
                    <a:gd name="T7" fmla="*/ 45 h 111"/>
                    <a:gd name="T8" fmla="*/ 66 w 110"/>
                    <a:gd name="T9" fmla="*/ 0 h 111"/>
                  </a:gdLst>
                  <a:ahLst/>
                  <a:cxnLst>
                    <a:cxn ang="0">
                      <a:pos x="T0" y="T1"/>
                    </a:cxn>
                    <a:cxn ang="0">
                      <a:pos x="T2" y="T3"/>
                    </a:cxn>
                    <a:cxn ang="0">
                      <a:pos x="T4" y="T5"/>
                    </a:cxn>
                    <a:cxn ang="0">
                      <a:pos x="T6" y="T7"/>
                    </a:cxn>
                    <a:cxn ang="0">
                      <a:pos x="T8" y="T9"/>
                    </a:cxn>
                  </a:cxnLst>
                  <a:rect l="0" t="0" r="r" b="b"/>
                  <a:pathLst>
                    <a:path w="110" h="111">
                      <a:moveTo>
                        <a:pt x="66" y="0"/>
                      </a:moveTo>
                      <a:cubicBezTo>
                        <a:pt x="0" y="0"/>
                        <a:pt x="0" y="0"/>
                        <a:pt x="0" y="0"/>
                      </a:cubicBezTo>
                      <a:cubicBezTo>
                        <a:pt x="11" y="56"/>
                        <a:pt x="55" y="99"/>
                        <a:pt x="110" y="111"/>
                      </a:cubicBezTo>
                      <a:cubicBezTo>
                        <a:pt x="110" y="45"/>
                        <a:pt x="110" y="45"/>
                        <a:pt x="110" y="45"/>
                      </a:cubicBezTo>
                      <a:cubicBezTo>
                        <a:pt x="90" y="37"/>
                        <a:pt x="74" y="21"/>
                        <a:pt x="66"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66"/>
                <p:cNvSpPr>
                  <a:spLocks noEditPoints="1"/>
                </p:cNvSpPr>
                <p:nvPr/>
              </p:nvSpPr>
              <p:spPr bwMode="auto">
                <a:xfrm>
                  <a:off x="569" y="2009"/>
                  <a:ext cx="687" cy="687"/>
                </a:xfrm>
                <a:custGeom>
                  <a:avLst/>
                  <a:gdLst>
                    <a:gd name="T0" fmla="*/ 146 w 291"/>
                    <a:gd name="T1" fmla="*/ 66 h 291"/>
                    <a:gd name="T2" fmla="*/ 168 w 291"/>
                    <a:gd name="T3" fmla="*/ 70 h 291"/>
                    <a:gd name="T4" fmla="*/ 169 w 291"/>
                    <a:gd name="T5" fmla="*/ 64 h 291"/>
                    <a:gd name="T6" fmla="*/ 169 w 291"/>
                    <a:gd name="T7" fmla="*/ 11 h 291"/>
                    <a:gd name="T8" fmla="*/ 158 w 291"/>
                    <a:gd name="T9" fmla="*/ 0 h 291"/>
                    <a:gd name="T10" fmla="*/ 134 w 291"/>
                    <a:gd name="T11" fmla="*/ 0 h 291"/>
                    <a:gd name="T12" fmla="*/ 122 w 291"/>
                    <a:gd name="T13" fmla="*/ 11 h 291"/>
                    <a:gd name="T14" fmla="*/ 122 w 291"/>
                    <a:gd name="T15" fmla="*/ 64 h 291"/>
                    <a:gd name="T16" fmla="*/ 124 w 291"/>
                    <a:gd name="T17" fmla="*/ 70 h 291"/>
                    <a:gd name="T18" fmla="*/ 146 w 291"/>
                    <a:gd name="T19" fmla="*/ 66 h 291"/>
                    <a:gd name="T20" fmla="*/ 64 w 291"/>
                    <a:gd name="T21" fmla="*/ 122 h 291"/>
                    <a:gd name="T22" fmla="*/ 12 w 291"/>
                    <a:gd name="T23" fmla="*/ 122 h 291"/>
                    <a:gd name="T24" fmla="*/ 0 w 291"/>
                    <a:gd name="T25" fmla="*/ 133 h 291"/>
                    <a:gd name="T26" fmla="*/ 0 w 291"/>
                    <a:gd name="T27" fmla="*/ 158 h 291"/>
                    <a:gd name="T28" fmla="*/ 12 w 291"/>
                    <a:gd name="T29" fmla="*/ 169 h 291"/>
                    <a:gd name="T30" fmla="*/ 64 w 291"/>
                    <a:gd name="T31" fmla="*/ 169 h 291"/>
                    <a:gd name="T32" fmla="*/ 70 w 291"/>
                    <a:gd name="T33" fmla="*/ 167 h 291"/>
                    <a:gd name="T34" fmla="*/ 67 w 291"/>
                    <a:gd name="T35" fmla="*/ 145 h 291"/>
                    <a:gd name="T36" fmla="*/ 70 w 291"/>
                    <a:gd name="T37" fmla="*/ 123 h 291"/>
                    <a:gd name="T38" fmla="*/ 64 w 291"/>
                    <a:gd name="T39" fmla="*/ 122 h 291"/>
                    <a:gd name="T40" fmla="*/ 146 w 291"/>
                    <a:gd name="T41" fmla="*/ 224 h 291"/>
                    <a:gd name="T42" fmla="*/ 124 w 291"/>
                    <a:gd name="T43" fmla="*/ 221 h 291"/>
                    <a:gd name="T44" fmla="*/ 122 w 291"/>
                    <a:gd name="T45" fmla="*/ 227 h 291"/>
                    <a:gd name="T46" fmla="*/ 122 w 291"/>
                    <a:gd name="T47" fmla="*/ 279 h 291"/>
                    <a:gd name="T48" fmla="*/ 134 w 291"/>
                    <a:gd name="T49" fmla="*/ 291 h 291"/>
                    <a:gd name="T50" fmla="*/ 158 w 291"/>
                    <a:gd name="T51" fmla="*/ 291 h 291"/>
                    <a:gd name="T52" fmla="*/ 169 w 291"/>
                    <a:gd name="T53" fmla="*/ 279 h 291"/>
                    <a:gd name="T54" fmla="*/ 169 w 291"/>
                    <a:gd name="T55" fmla="*/ 227 h 291"/>
                    <a:gd name="T56" fmla="*/ 168 w 291"/>
                    <a:gd name="T57" fmla="*/ 221 h 291"/>
                    <a:gd name="T58" fmla="*/ 146 w 291"/>
                    <a:gd name="T59" fmla="*/ 224 h 291"/>
                    <a:gd name="T60" fmla="*/ 280 w 291"/>
                    <a:gd name="T61" fmla="*/ 122 h 291"/>
                    <a:gd name="T62" fmla="*/ 227 w 291"/>
                    <a:gd name="T63" fmla="*/ 122 h 291"/>
                    <a:gd name="T64" fmla="*/ 222 w 291"/>
                    <a:gd name="T65" fmla="*/ 123 h 291"/>
                    <a:gd name="T66" fmla="*/ 225 w 291"/>
                    <a:gd name="T67" fmla="*/ 145 h 291"/>
                    <a:gd name="T68" fmla="*/ 222 w 291"/>
                    <a:gd name="T69" fmla="*/ 167 h 291"/>
                    <a:gd name="T70" fmla="*/ 227 w 291"/>
                    <a:gd name="T71" fmla="*/ 169 h 291"/>
                    <a:gd name="T72" fmla="*/ 280 w 291"/>
                    <a:gd name="T73" fmla="*/ 169 h 291"/>
                    <a:gd name="T74" fmla="*/ 291 w 291"/>
                    <a:gd name="T75" fmla="*/ 158 h 291"/>
                    <a:gd name="T76" fmla="*/ 291 w 291"/>
                    <a:gd name="T77" fmla="*/ 133 h 291"/>
                    <a:gd name="T78" fmla="*/ 280 w 291"/>
                    <a:gd name="T79" fmla="*/ 122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91" h="291">
                      <a:moveTo>
                        <a:pt x="146" y="66"/>
                      </a:moveTo>
                      <a:cubicBezTo>
                        <a:pt x="153" y="66"/>
                        <a:pt x="161" y="68"/>
                        <a:pt x="168" y="70"/>
                      </a:cubicBezTo>
                      <a:cubicBezTo>
                        <a:pt x="169" y="68"/>
                        <a:pt x="169" y="66"/>
                        <a:pt x="169" y="64"/>
                      </a:cubicBezTo>
                      <a:cubicBezTo>
                        <a:pt x="169" y="11"/>
                        <a:pt x="169" y="11"/>
                        <a:pt x="169" y="11"/>
                      </a:cubicBezTo>
                      <a:cubicBezTo>
                        <a:pt x="169" y="5"/>
                        <a:pt x="164" y="0"/>
                        <a:pt x="158" y="0"/>
                      </a:cubicBezTo>
                      <a:cubicBezTo>
                        <a:pt x="134" y="0"/>
                        <a:pt x="134" y="0"/>
                        <a:pt x="134" y="0"/>
                      </a:cubicBezTo>
                      <a:cubicBezTo>
                        <a:pt x="127" y="0"/>
                        <a:pt x="122" y="5"/>
                        <a:pt x="122" y="11"/>
                      </a:cubicBezTo>
                      <a:cubicBezTo>
                        <a:pt x="122" y="64"/>
                        <a:pt x="122" y="64"/>
                        <a:pt x="122" y="64"/>
                      </a:cubicBezTo>
                      <a:cubicBezTo>
                        <a:pt x="122" y="66"/>
                        <a:pt x="123" y="68"/>
                        <a:pt x="124" y="70"/>
                      </a:cubicBezTo>
                      <a:cubicBezTo>
                        <a:pt x="131" y="68"/>
                        <a:pt x="138" y="66"/>
                        <a:pt x="146" y="66"/>
                      </a:cubicBezTo>
                      <a:close/>
                      <a:moveTo>
                        <a:pt x="64" y="122"/>
                      </a:moveTo>
                      <a:cubicBezTo>
                        <a:pt x="12" y="122"/>
                        <a:pt x="12" y="122"/>
                        <a:pt x="12" y="122"/>
                      </a:cubicBezTo>
                      <a:cubicBezTo>
                        <a:pt x="5" y="122"/>
                        <a:pt x="0" y="127"/>
                        <a:pt x="0" y="133"/>
                      </a:cubicBezTo>
                      <a:cubicBezTo>
                        <a:pt x="0" y="158"/>
                        <a:pt x="0" y="158"/>
                        <a:pt x="0" y="158"/>
                      </a:cubicBezTo>
                      <a:cubicBezTo>
                        <a:pt x="0" y="164"/>
                        <a:pt x="5" y="169"/>
                        <a:pt x="12" y="169"/>
                      </a:cubicBezTo>
                      <a:cubicBezTo>
                        <a:pt x="64" y="169"/>
                        <a:pt x="64" y="169"/>
                        <a:pt x="64" y="169"/>
                      </a:cubicBezTo>
                      <a:cubicBezTo>
                        <a:pt x="66" y="169"/>
                        <a:pt x="68" y="168"/>
                        <a:pt x="70" y="167"/>
                      </a:cubicBezTo>
                      <a:cubicBezTo>
                        <a:pt x="68" y="160"/>
                        <a:pt x="67" y="153"/>
                        <a:pt x="67" y="145"/>
                      </a:cubicBezTo>
                      <a:cubicBezTo>
                        <a:pt x="67" y="138"/>
                        <a:pt x="68" y="130"/>
                        <a:pt x="70" y="123"/>
                      </a:cubicBezTo>
                      <a:cubicBezTo>
                        <a:pt x="68" y="122"/>
                        <a:pt x="66" y="122"/>
                        <a:pt x="64" y="122"/>
                      </a:cubicBezTo>
                      <a:close/>
                      <a:moveTo>
                        <a:pt x="146" y="224"/>
                      </a:moveTo>
                      <a:cubicBezTo>
                        <a:pt x="138" y="224"/>
                        <a:pt x="131" y="223"/>
                        <a:pt x="124" y="221"/>
                      </a:cubicBezTo>
                      <a:cubicBezTo>
                        <a:pt x="123" y="223"/>
                        <a:pt x="122" y="225"/>
                        <a:pt x="122" y="227"/>
                      </a:cubicBezTo>
                      <a:cubicBezTo>
                        <a:pt x="122" y="279"/>
                        <a:pt x="122" y="279"/>
                        <a:pt x="122" y="279"/>
                      </a:cubicBezTo>
                      <a:cubicBezTo>
                        <a:pt x="122" y="286"/>
                        <a:pt x="127" y="291"/>
                        <a:pt x="134" y="291"/>
                      </a:cubicBezTo>
                      <a:cubicBezTo>
                        <a:pt x="158" y="291"/>
                        <a:pt x="158" y="291"/>
                        <a:pt x="158" y="291"/>
                      </a:cubicBezTo>
                      <a:cubicBezTo>
                        <a:pt x="164" y="291"/>
                        <a:pt x="169" y="286"/>
                        <a:pt x="169" y="279"/>
                      </a:cubicBezTo>
                      <a:cubicBezTo>
                        <a:pt x="169" y="227"/>
                        <a:pt x="169" y="227"/>
                        <a:pt x="169" y="227"/>
                      </a:cubicBezTo>
                      <a:cubicBezTo>
                        <a:pt x="169" y="225"/>
                        <a:pt x="169" y="223"/>
                        <a:pt x="168" y="221"/>
                      </a:cubicBezTo>
                      <a:cubicBezTo>
                        <a:pt x="161" y="223"/>
                        <a:pt x="153" y="224"/>
                        <a:pt x="146" y="224"/>
                      </a:cubicBezTo>
                      <a:close/>
                      <a:moveTo>
                        <a:pt x="280" y="122"/>
                      </a:moveTo>
                      <a:cubicBezTo>
                        <a:pt x="227" y="122"/>
                        <a:pt x="227" y="122"/>
                        <a:pt x="227" y="122"/>
                      </a:cubicBezTo>
                      <a:cubicBezTo>
                        <a:pt x="225" y="122"/>
                        <a:pt x="223" y="122"/>
                        <a:pt x="222" y="123"/>
                      </a:cubicBezTo>
                      <a:cubicBezTo>
                        <a:pt x="224" y="130"/>
                        <a:pt x="225" y="138"/>
                        <a:pt x="225" y="145"/>
                      </a:cubicBezTo>
                      <a:cubicBezTo>
                        <a:pt x="225" y="153"/>
                        <a:pt x="224" y="160"/>
                        <a:pt x="222" y="167"/>
                      </a:cubicBezTo>
                      <a:cubicBezTo>
                        <a:pt x="223" y="168"/>
                        <a:pt x="225" y="169"/>
                        <a:pt x="227" y="169"/>
                      </a:cubicBezTo>
                      <a:cubicBezTo>
                        <a:pt x="280" y="169"/>
                        <a:pt x="280" y="169"/>
                        <a:pt x="280" y="169"/>
                      </a:cubicBezTo>
                      <a:cubicBezTo>
                        <a:pt x="286" y="169"/>
                        <a:pt x="291" y="164"/>
                        <a:pt x="291" y="158"/>
                      </a:cubicBezTo>
                      <a:cubicBezTo>
                        <a:pt x="291" y="133"/>
                        <a:pt x="291" y="133"/>
                        <a:pt x="291" y="133"/>
                      </a:cubicBezTo>
                      <a:cubicBezTo>
                        <a:pt x="291" y="127"/>
                        <a:pt x="286" y="122"/>
                        <a:pt x="280" y="1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rPr>
              <a:t>一、精确算法</a:t>
            </a:r>
          </a:p>
        </p:txBody>
      </p:sp>
      <p:sp>
        <p:nvSpPr>
          <p:cNvPr id="3" name="文本框 2"/>
          <p:cNvSpPr txBox="1"/>
          <p:nvPr/>
        </p:nvSpPr>
        <p:spPr>
          <a:xfrm>
            <a:off x="237490" y="1039495"/>
            <a:ext cx="8669655" cy="398780"/>
          </a:xfrm>
          <a:prstGeom prst="rect">
            <a:avLst/>
          </a:prstGeom>
          <a:noFill/>
        </p:spPr>
        <p:txBody>
          <a:bodyPr wrap="square" rtlCol="0">
            <a:spAutoFit/>
          </a:bodyPr>
          <a:lstStyle/>
          <a:p>
            <a:r>
              <a:rPr lang="en-US" altLang="zh-CN" sz="2000" b="1"/>
              <a:t>VRP</a:t>
            </a:r>
            <a:r>
              <a:rPr lang="zh-CN" altLang="en-US" sz="2000" b="1"/>
              <a:t>模型：</a:t>
            </a:r>
          </a:p>
        </p:txBody>
      </p:sp>
      <p:graphicFrame>
        <p:nvGraphicFramePr>
          <p:cNvPr id="6" name="对象 5">
            <a:hlinkClick r:id="" action="ppaction://ole?verb=0"/>
          </p:cNvPr>
          <p:cNvGraphicFramePr>
            <a:graphicFrameLocks noChangeAspect="1"/>
          </p:cNvGraphicFramePr>
          <p:nvPr/>
        </p:nvGraphicFramePr>
        <p:xfrm>
          <a:off x="1898650" y="1085850"/>
          <a:ext cx="956310" cy="355600"/>
        </p:xfrm>
        <a:graphic>
          <a:graphicData uri="http://schemas.openxmlformats.org/presentationml/2006/ole">
            <mc:AlternateContent xmlns:mc="http://schemas.openxmlformats.org/markup-compatibility/2006">
              <mc:Choice xmlns:v="urn:schemas-microsoft-com:vml" Requires="v">
                <p:oleObj spid="_x0000_s1037" r:id="rId3" imgW="444500" imgH="165100" progId="Equation.KSEE3">
                  <p:embed/>
                </p:oleObj>
              </mc:Choice>
              <mc:Fallback>
                <p:oleObj r:id="rId3" imgW="444500" imgH="165100" progId="Equation.KSEE3">
                  <p:embed/>
                  <p:pic>
                    <p:nvPicPr>
                      <p:cNvPr id="0" name="图片 1024"/>
                      <p:cNvPicPr/>
                      <p:nvPr/>
                    </p:nvPicPr>
                    <p:blipFill>
                      <a:blip r:embed="rId4"/>
                      <a:stretch>
                        <a:fillRect/>
                      </a:stretch>
                    </p:blipFill>
                    <p:spPr>
                      <a:xfrm>
                        <a:off x="1898650" y="1085850"/>
                        <a:ext cx="956310" cy="355600"/>
                      </a:xfrm>
                      <a:prstGeom prst="rect">
                        <a:avLst/>
                      </a:prstGeom>
                    </p:spPr>
                  </p:pic>
                </p:oleObj>
              </mc:Fallback>
            </mc:AlternateContent>
          </a:graphicData>
        </a:graphic>
      </p:graphicFrame>
      <p:graphicFrame>
        <p:nvGraphicFramePr>
          <p:cNvPr id="7" name="对象 6">
            <a:hlinkClick r:id="" action="ppaction://ole?verb=0"/>
          </p:cNvPr>
          <p:cNvGraphicFramePr>
            <a:graphicFrameLocks noChangeAspect="1"/>
          </p:cNvGraphicFramePr>
          <p:nvPr/>
        </p:nvGraphicFramePr>
        <p:xfrm>
          <a:off x="3454400" y="1024890"/>
          <a:ext cx="2235835" cy="802640"/>
        </p:xfrm>
        <a:graphic>
          <a:graphicData uri="http://schemas.openxmlformats.org/presentationml/2006/ole">
            <mc:AlternateContent xmlns:mc="http://schemas.openxmlformats.org/markup-compatibility/2006">
              <mc:Choice xmlns:v="urn:schemas-microsoft-com:vml" Requires="v">
                <p:oleObj spid="_x0000_s1038" r:id="rId5" imgW="990600" imgH="355600" progId="Equation.KSEE3">
                  <p:embed/>
                </p:oleObj>
              </mc:Choice>
              <mc:Fallback>
                <p:oleObj r:id="rId5" imgW="990600" imgH="355600" progId="Equation.KSEE3">
                  <p:embed/>
                  <p:pic>
                    <p:nvPicPr>
                      <p:cNvPr id="0" name="图片 1025"/>
                      <p:cNvPicPr/>
                      <p:nvPr/>
                    </p:nvPicPr>
                    <p:blipFill>
                      <a:blip r:embed="rId6"/>
                      <a:stretch>
                        <a:fillRect/>
                      </a:stretch>
                    </p:blipFill>
                    <p:spPr>
                      <a:xfrm>
                        <a:off x="3454400" y="1024890"/>
                        <a:ext cx="2235835" cy="802640"/>
                      </a:xfrm>
                      <a:prstGeom prst="rect">
                        <a:avLst/>
                      </a:prstGeom>
                    </p:spPr>
                  </p:pic>
                </p:oleObj>
              </mc:Fallback>
            </mc:AlternateContent>
          </a:graphicData>
        </a:graphic>
      </p:graphicFrame>
      <p:sp>
        <p:nvSpPr>
          <p:cNvPr id="8" name="文本框 7"/>
          <p:cNvSpPr txBox="1"/>
          <p:nvPr/>
        </p:nvSpPr>
        <p:spPr>
          <a:xfrm>
            <a:off x="457200" y="2079625"/>
            <a:ext cx="1280160" cy="460375"/>
          </a:xfrm>
          <a:prstGeom prst="rect">
            <a:avLst/>
          </a:prstGeom>
          <a:noFill/>
        </p:spPr>
        <p:txBody>
          <a:bodyPr wrap="square" rtlCol="0">
            <a:spAutoFit/>
          </a:bodyPr>
          <a:lstStyle/>
          <a:p>
            <a:r>
              <a:rPr lang="en-US" altLang="zh-CN" sz="2000" b="1"/>
              <a:t>s.</a:t>
            </a:r>
            <a:r>
              <a:rPr lang="en-US" altLang="zh-CN" sz="2400" b="1"/>
              <a:t>t.</a:t>
            </a:r>
          </a:p>
        </p:txBody>
      </p:sp>
      <p:graphicFrame>
        <p:nvGraphicFramePr>
          <p:cNvPr id="11" name="对象 10">
            <a:hlinkClick r:id="" action="ppaction://ole?verb=0"/>
          </p:cNvPr>
          <p:cNvGraphicFramePr>
            <a:graphicFrameLocks noChangeAspect="1"/>
          </p:cNvGraphicFramePr>
          <p:nvPr/>
        </p:nvGraphicFramePr>
        <p:xfrm>
          <a:off x="1165225" y="1827530"/>
          <a:ext cx="1037590" cy="860425"/>
        </p:xfrm>
        <a:graphic>
          <a:graphicData uri="http://schemas.openxmlformats.org/presentationml/2006/ole">
            <mc:AlternateContent xmlns:mc="http://schemas.openxmlformats.org/markup-compatibility/2006">
              <mc:Choice xmlns:v="urn:schemas-microsoft-com:vml" Requires="v">
                <p:oleObj spid="_x0000_s1039" r:id="rId7" imgW="520700" imgH="431800" progId="Equation.KSEE3">
                  <p:embed/>
                </p:oleObj>
              </mc:Choice>
              <mc:Fallback>
                <p:oleObj r:id="rId7" imgW="520700" imgH="431800" progId="Equation.KSEE3">
                  <p:embed/>
                  <p:pic>
                    <p:nvPicPr>
                      <p:cNvPr id="0" name="图片 1026"/>
                      <p:cNvPicPr/>
                      <p:nvPr/>
                    </p:nvPicPr>
                    <p:blipFill>
                      <a:blip r:embed="rId8"/>
                      <a:stretch>
                        <a:fillRect/>
                      </a:stretch>
                    </p:blipFill>
                    <p:spPr>
                      <a:xfrm>
                        <a:off x="1165225" y="1827530"/>
                        <a:ext cx="1037590" cy="860425"/>
                      </a:xfrm>
                      <a:prstGeom prst="rect">
                        <a:avLst/>
                      </a:prstGeom>
                    </p:spPr>
                  </p:pic>
                </p:oleObj>
              </mc:Fallback>
            </mc:AlternateContent>
          </a:graphicData>
        </a:graphic>
      </p:graphicFrame>
      <p:sp>
        <p:nvSpPr>
          <p:cNvPr id="13" name="文本框 12"/>
          <p:cNvSpPr txBox="1"/>
          <p:nvPr/>
        </p:nvSpPr>
        <p:spPr>
          <a:xfrm>
            <a:off x="1898650" y="1873885"/>
            <a:ext cx="608330" cy="768350"/>
          </a:xfrm>
          <a:prstGeom prst="rect">
            <a:avLst/>
          </a:prstGeom>
          <a:noFill/>
        </p:spPr>
        <p:txBody>
          <a:bodyPr wrap="square" rtlCol="0" anchor="t">
            <a:spAutoFit/>
          </a:bodyPr>
          <a:lstStyle/>
          <a:p>
            <a:r>
              <a:rPr lang="zh-CN" altLang="en-US" sz="4400">
                <a:latin typeface="宋体" panose="02010600030101010101" pitchFamily="2" charset="-122"/>
                <a:ea typeface="宋体" panose="02010600030101010101" pitchFamily="2" charset="-122"/>
              </a:rPr>
              <a:t>｛</a:t>
            </a:r>
          </a:p>
        </p:txBody>
      </p:sp>
      <p:sp>
        <p:nvSpPr>
          <p:cNvPr id="14" name="文本框 13"/>
          <p:cNvSpPr txBox="1"/>
          <p:nvPr/>
        </p:nvSpPr>
        <p:spPr>
          <a:xfrm>
            <a:off x="2506980" y="1894840"/>
            <a:ext cx="2051050" cy="645160"/>
          </a:xfrm>
          <a:prstGeom prst="rect">
            <a:avLst/>
          </a:prstGeom>
          <a:noFill/>
        </p:spPr>
        <p:txBody>
          <a:bodyPr wrap="square" rtlCol="0">
            <a:spAutoFit/>
          </a:bodyPr>
          <a:lstStyle/>
          <a:p>
            <a:r>
              <a:rPr lang="en-US" altLang="zh-CN"/>
              <a:t>1</a:t>
            </a:r>
            <a:r>
              <a:rPr lang="zh-CN" altLang="en-US"/>
              <a:t>，  </a:t>
            </a:r>
            <a:r>
              <a:rPr lang="en-US" altLang="zh-CN"/>
              <a:t>i=1</a:t>
            </a:r>
            <a:r>
              <a:rPr lang="zh-CN" altLang="en-US"/>
              <a:t>，</a:t>
            </a:r>
            <a:r>
              <a:rPr lang="en-US" altLang="zh-CN"/>
              <a:t>...,m</a:t>
            </a:r>
          </a:p>
          <a:p>
            <a:r>
              <a:rPr lang="en-US" altLang="zh-CN"/>
              <a:t>m,    i=0</a:t>
            </a:r>
            <a:r>
              <a:rPr lang="zh-CN" altLang="en-US"/>
              <a:t> </a:t>
            </a:r>
          </a:p>
        </p:txBody>
      </p:sp>
      <p:graphicFrame>
        <p:nvGraphicFramePr>
          <p:cNvPr id="15" name="对象 14">
            <a:hlinkClick r:id="" action="ppaction://ole?verb=0"/>
          </p:cNvPr>
          <p:cNvGraphicFramePr>
            <a:graphicFrameLocks noChangeAspect="1"/>
          </p:cNvGraphicFramePr>
          <p:nvPr/>
        </p:nvGraphicFramePr>
        <p:xfrm>
          <a:off x="1165225" y="2744470"/>
          <a:ext cx="2987675" cy="787400"/>
        </p:xfrm>
        <a:graphic>
          <a:graphicData uri="http://schemas.openxmlformats.org/presentationml/2006/ole">
            <mc:AlternateContent xmlns:mc="http://schemas.openxmlformats.org/markup-compatibility/2006">
              <mc:Choice xmlns:v="urn:schemas-microsoft-com:vml" Requires="v">
                <p:oleObj spid="_x0000_s1040" r:id="rId9" imgW="1638300" imgH="431800" progId="Equation.KSEE3">
                  <p:embed/>
                </p:oleObj>
              </mc:Choice>
              <mc:Fallback>
                <p:oleObj r:id="rId9" imgW="1638300" imgH="431800" progId="Equation.KSEE3">
                  <p:embed/>
                  <p:pic>
                    <p:nvPicPr>
                      <p:cNvPr id="0" name="图片 1027"/>
                      <p:cNvPicPr/>
                      <p:nvPr/>
                    </p:nvPicPr>
                    <p:blipFill>
                      <a:blip r:embed="rId10"/>
                      <a:stretch>
                        <a:fillRect/>
                      </a:stretch>
                    </p:blipFill>
                    <p:spPr>
                      <a:xfrm>
                        <a:off x="1165225" y="2744470"/>
                        <a:ext cx="2987675" cy="787400"/>
                      </a:xfrm>
                      <a:prstGeom prst="rect">
                        <a:avLst/>
                      </a:prstGeom>
                    </p:spPr>
                  </p:pic>
                </p:oleObj>
              </mc:Fallback>
            </mc:AlternateContent>
          </a:graphicData>
        </a:graphic>
      </p:graphicFrame>
      <p:graphicFrame>
        <p:nvGraphicFramePr>
          <p:cNvPr id="16" name="对象 15">
            <a:hlinkClick r:id="" action="ppaction://ole?verb=0"/>
          </p:cNvPr>
          <p:cNvGraphicFramePr>
            <a:graphicFrameLocks noChangeAspect="1"/>
          </p:cNvGraphicFramePr>
          <p:nvPr/>
        </p:nvGraphicFramePr>
        <p:xfrm>
          <a:off x="1165225" y="3698240"/>
          <a:ext cx="3758565" cy="734695"/>
        </p:xfrm>
        <a:graphic>
          <a:graphicData uri="http://schemas.openxmlformats.org/presentationml/2006/ole">
            <mc:AlternateContent xmlns:mc="http://schemas.openxmlformats.org/markup-compatibility/2006">
              <mc:Choice xmlns:v="urn:schemas-microsoft-com:vml" Requires="v">
                <p:oleObj spid="_x0000_s1041" r:id="rId11" imgW="2209800" imgH="431800" progId="Equation.KSEE3">
                  <p:embed/>
                </p:oleObj>
              </mc:Choice>
              <mc:Fallback>
                <p:oleObj r:id="rId11" imgW="2209800" imgH="431800" progId="Equation.KSEE3">
                  <p:embed/>
                  <p:pic>
                    <p:nvPicPr>
                      <p:cNvPr id="0" name="图片 1028"/>
                      <p:cNvPicPr/>
                      <p:nvPr/>
                    </p:nvPicPr>
                    <p:blipFill>
                      <a:blip r:embed="rId12"/>
                      <a:stretch>
                        <a:fillRect/>
                      </a:stretch>
                    </p:blipFill>
                    <p:spPr>
                      <a:xfrm>
                        <a:off x="1165225" y="3698240"/>
                        <a:ext cx="3758565" cy="734695"/>
                      </a:xfrm>
                      <a:prstGeom prst="rect">
                        <a:avLst/>
                      </a:prstGeom>
                    </p:spPr>
                  </p:pic>
                </p:oleObj>
              </mc:Fallback>
            </mc:AlternateContent>
          </a:graphicData>
        </a:graphic>
      </p:graphicFrame>
      <p:graphicFrame>
        <p:nvGraphicFramePr>
          <p:cNvPr id="17" name="对象 16">
            <a:hlinkClick r:id="" action="ppaction://ole?verb=0"/>
          </p:cNvPr>
          <p:cNvGraphicFramePr>
            <a:graphicFrameLocks noChangeAspect="1"/>
          </p:cNvGraphicFramePr>
          <p:nvPr/>
        </p:nvGraphicFramePr>
        <p:xfrm>
          <a:off x="1165225" y="4432935"/>
          <a:ext cx="4826635" cy="778510"/>
        </p:xfrm>
        <a:graphic>
          <a:graphicData uri="http://schemas.openxmlformats.org/presentationml/2006/ole">
            <mc:AlternateContent xmlns:mc="http://schemas.openxmlformats.org/markup-compatibility/2006">
              <mc:Choice xmlns:v="urn:schemas-microsoft-com:vml" Requires="v">
                <p:oleObj spid="_x0000_s1042" r:id="rId13" imgW="2755900" imgH="444500" progId="Equation.KSEE3">
                  <p:embed/>
                </p:oleObj>
              </mc:Choice>
              <mc:Fallback>
                <p:oleObj r:id="rId13" imgW="2755900" imgH="444500" progId="Equation.KSEE3">
                  <p:embed/>
                  <p:pic>
                    <p:nvPicPr>
                      <p:cNvPr id="0" name="图片 1030"/>
                      <p:cNvPicPr/>
                      <p:nvPr/>
                    </p:nvPicPr>
                    <p:blipFill>
                      <a:blip r:embed="rId14"/>
                      <a:stretch>
                        <a:fillRect/>
                      </a:stretch>
                    </p:blipFill>
                    <p:spPr>
                      <a:xfrm>
                        <a:off x="1165225" y="4432935"/>
                        <a:ext cx="4826635" cy="778510"/>
                      </a:xfrm>
                      <a:prstGeom prst="rect">
                        <a:avLst/>
                      </a:prstGeom>
                    </p:spPr>
                  </p:pic>
                </p:oleObj>
              </mc:Fallback>
            </mc:AlternateContent>
          </a:graphicData>
        </a:graphic>
      </p:graphicFrame>
      <p:graphicFrame>
        <p:nvGraphicFramePr>
          <p:cNvPr id="18" name="对象 17">
            <a:hlinkClick r:id="" action="ppaction://ole?verb=0"/>
          </p:cNvPr>
          <p:cNvGraphicFramePr>
            <a:graphicFrameLocks noChangeAspect="1"/>
          </p:cNvGraphicFramePr>
          <p:nvPr/>
        </p:nvGraphicFramePr>
        <p:xfrm>
          <a:off x="1165225" y="5340350"/>
          <a:ext cx="5195570" cy="440690"/>
        </p:xfrm>
        <a:graphic>
          <a:graphicData uri="http://schemas.openxmlformats.org/presentationml/2006/ole">
            <mc:AlternateContent xmlns:mc="http://schemas.openxmlformats.org/markup-compatibility/2006">
              <mc:Choice xmlns:v="urn:schemas-microsoft-com:vml" Requires="v">
                <p:oleObj spid="_x0000_s1043" r:id="rId15" imgW="2476500" imgH="228600" progId="Equation.KSEE3">
                  <p:embed/>
                </p:oleObj>
              </mc:Choice>
              <mc:Fallback>
                <p:oleObj r:id="rId15" imgW="2476500" imgH="228600" progId="Equation.KSEE3">
                  <p:embed/>
                  <p:pic>
                    <p:nvPicPr>
                      <p:cNvPr id="0" name="图片 1031"/>
                      <p:cNvPicPr/>
                      <p:nvPr/>
                    </p:nvPicPr>
                    <p:blipFill>
                      <a:blip r:embed="rId16"/>
                      <a:stretch>
                        <a:fillRect/>
                      </a:stretch>
                    </p:blipFill>
                    <p:spPr>
                      <a:xfrm>
                        <a:off x="1165225" y="5340350"/>
                        <a:ext cx="5195570" cy="440690"/>
                      </a:xfrm>
                      <a:prstGeom prst="rect">
                        <a:avLst/>
                      </a:prstGeom>
                    </p:spPr>
                  </p:pic>
                </p:oleObj>
              </mc:Fallback>
            </mc:AlternateContent>
          </a:graphicData>
        </a:graphic>
      </p:graphicFrame>
      <p:graphicFrame>
        <p:nvGraphicFramePr>
          <p:cNvPr id="19" name="对象 18">
            <a:hlinkClick r:id="" action="ppaction://ole?verb=0"/>
          </p:cNvPr>
          <p:cNvGraphicFramePr>
            <a:graphicFrameLocks noChangeAspect="1"/>
          </p:cNvGraphicFramePr>
          <p:nvPr/>
        </p:nvGraphicFramePr>
        <p:xfrm>
          <a:off x="1165225" y="5946140"/>
          <a:ext cx="1936750" cy="609600"/>
        </p:xfrm>
        <a:graphic>
          <a:graphicData uri="http://schemas.openxmlformats.org/presentationml/2006/ole">
            <mc:AlternateContent xmlns:mc="http://schemas.openxmlformats.org/markup-compatibility/2006">
              <mc:Choice xmlns:v="urn:schemas-microsoft-com:vml" Requires="v">
                <p:oleObj spid="_x0000_s1044" r:id="rId17" imgW="1130300" imgH="355600" progId="Equation.KSEE3">
                  <p:embed/>
                </p:oleObj>
              </mc:Choice>
              <mc:Fallback>
                <p:oleObj r:id="rId17" imgW="1130300" imgH="355600" progId="Equation.KSEE3">
                  <p:embed/>
                  <p:pic>
                    <p:nvPicPr>
                      <p:cNvPr id="0" name="图片 1032"/>
                      <p:cNvPicPr/>
                      <p:nvPr/>
                    </p:nvPicPr>
                    <p:blipFill>
                      <a:blip r:embed="rId18"/>
                      <a:stretch>
                        <a:fillRect/>
                      </a:stretch>
                    </p:blipFill>
                    <p:spPr>
                      <a:xfrm>
                        <a:off x="1165225" y="5946140"/>
                        <a:ext cx="1936750" cy="609600"/>
                      </a:xfrm>
                      <a:prstGeom prst="rect">
                        <a:avLst/>
                      </a:prstGeom>
                    </p:spPr>
                  </p:pic>
                </p:oleObj>
              </mc:Fallback>
            </mc:AlternateContent>
          </a:graphicData>
        </a:graphic>
      </p:graphicFrame>
      <p:sp>
        <p:nvSpPr>
          <p:cNvPr id="21" name="文本框 20"/>
          <p:cNvSpPr txBox="1"/>
          <p:nvPr/>
        </p:nvSpPr>
        <p:spPr>
          <a:xfrm>
            <a:off x="6510020" y="848995"/>
            <a:ext cx="2189480" cy="829945"/>
          </a:xfrm>
          <a:prstGeom prst="rect">
            <a:avLst/>
          </a:prstGeom>
          <a:noFill/>
        </p:spPr>
        <p:txBody>
          <a:bodyPr wrap="square" rtlCol="0">
            <a:spAutoFit/>
          </a:bodyPr>
          <a:lstStyle/>
          <a:p>
            <a:r>
              <a:rPr lang="zh-CN" altLang="en-US" sz="1600">
                <a:solidFill>
                  <a:srgbClr val="C00000"/>
                </a:solidFill>
              </a:rPr>
              <a:t>目标函数：</a:t>
            </a:r>
          </a:p>
          <a:p>
            <a:r>
              <a:rPr lang="zh-CN" altLang="en-US" sz="1600">
                <a:solidFill>
                  <a:srgbClr val="C00000"/>
                </a:solidFill>
              </a:rPr>
              <a:t>轧制计划数最少</a:t>
            </a:r>
          </a:p>
          <a:p>
            <a:r>
              <a:rPr lang="zh-CN" altLang="en-US" sz="1600">
                <a:solidFill>
                  <a:srgbClr val="C00000"/>
                </a:solidFill>
              </a:rPr>
              <a:t>最小化总惩罚值</a:t>
            </a:r>
          </a:p>
        </p:txBody>
      </p:sp>
      <p:sp>
        <p:nvSpPr>
          <p:cNvPr id="23" name="文本框 22"/>
          <p:cNvSpPr txBox="1"/>
          <p:nvPr/>
        </p:nvSpPr>
        <p:spPr>
          <a:xfrm>
            <a:off x="6184265" y="1934845"/>
            <a:ext cx="2509520" cy="583565"/>
          </a:xfrm>
          <a:prstGeom prst="rect">
            <a:avLst/>
          </a:prstGeom>
          <a:noFill/>
        </p:spPr>
        <p:txBody>
          <a:bodyPr wrap="square" rtlCol="0">
            <a:spAutoFit/>
          </a:bodyPr>
          <a:lstStyle/>
          <a:p>
            <a:r>
              <a:rPr lang="zh-CN" altLang="en-US" sz="1600">
                <a:solidFill>
                  <a:srgbClr val="C00000"/>
                </a:solidFill>
              </a:rPr>
              <a:t>保证每个钢板必须被</a:t>
            </a:r>
          </a:p>
          <a:p>
            <a:r>
              <a:rPr lang="zh-CN" altLang="en-US" sz="1600">
                <a:solidFill>
                  <a:srgbClr val="C00000"/>
                </a:solidFill>
              </a:rPr>
              <a:t>分配到某一个轧制计划</a:t>
            </a:r>
          </a:p>
        </p:txBody>
      </p:sp>
      <p:sp>
        <p:nvSpPr>
          <p:cNvPr id="24" name="文本框 23"/>
          <p:cNvSpPr txBox="1"/>
          <p:nvPr/>
        </p:nvSpPr>
        <p:spPr>
          <a:xfrm>
            <a:off x="6229350" y="2954020"/>
            <a:ext cx="2514600" cy="337185"/>
          </a:xfrm>
          <a:prstGeom prst="rect">
            <a:avLst/>
          </a:prstGeom>
          <a:noFill/>
        </p:spPr>
        <p:txBody>
          <a:bodyPr wrap="square" rtlCol="0">
            <a:spAutoFit/>
          </a:bodyPr>
          <a:lstStyle/>
          <a:p>
            <a:r>
              <a:rPr lang="zh-CN" altLang="en-US" sz="1600">
                <a:solidFill>
                  <a:srgbClr val="C00000"/>
                </a:solidFill>
              </a:rPr>
              <a:t>轧制计划的能力约束</a:t>
            </a:r>
          </a:p>
        </p:txBody>
      </p:sp>
      <p:sp>
        <p:nvSpPr>
          <p:cNvPr id="25" name="文本框 24"/>
          <p:cNvSpPr txBox="1"/>
          <p:nvPr/>
        </p:nvSpPr>
        <p:spPr>
          <a:xfrm>
            <a:off x="6161405" y="3742690"/>
            <a:ext cx="2840990" cy="583565"/>
          </a:xfrm>
          <a:prstGeom prst="rect">
            <a:avLst/>
          </a:prstGeom>
          <a:noFill/>
        </p:spPr>
        <p:txBody>
          <a:bodyPr wrap="square" rtlCol="0">
            <a:spAutoFit/>
          </a:bodyPr>
          <a:lstStyle/>
          <a:p>
            <a:r>
              <a:rPr lang="zh-CN" altLang="en-US" sz="1600">
                <a:solidFill>
                  <a:srgbClr val="C00000"/>
                </a:solidFill>
              </a:rPr>
              <a:t>一个轧制计划内相同宽度钢板总长度不超过</a:t>
            </a:r>
            <a:r>
              <a:rPr lang="en-US" altLang="zh-CN" sz="1600">
                <a:solidFill>
                  <a:srgbClr val="C00000"/>
                </a:solidFill>
              </a:rPr>
              <a:t>R</a:t>
            </a:r>
          </a:p>
        </p:txBody>
      </p:sp>
      <p:sp>
        <p:nvSpPr>
          <p:cNvPr id="26" name="文本框 25"/>
          <p:cNvSpPr txBox="1"/>
          <p:nvPr/>
        </p:nvSpPr>
        <p:spPr>
          <a:xfrm>
            <a:off x="6184265" y="4499610"/>
            <a:ext cx="2840990" cy="583565"/>
          </a:xfrm>
          <a:prstGeom prst="rect">
            <a:avLst/>
          </a:prstGeom>
          <a:noFill/>
        </p:spPr>
        <p:txBody>
          <a:bodyPr wrap="square" rtlCol="0">
            <a:spAutoFit/>
          </a:bodyPr>
          <a:lstStyle/>
          <a:p>
            <a:r>
              <a:rPr lang="zh-CN" altLang="en-US" sz="1600">
                <a:solidFill>
                  <a:srgbClr val="C00000"/>
                </a:solidFill>
              </a:rPr>
              <a:t>一个轧制计划内多块钢板顺序轧制</a:t>
            </a:r>
          </a:p>
        </p:txBody>
      </p:sp>
      <p:sp>
        <p:nvSpPr>
          <p:cNvPr id="27" name="文本框 26"/>
          <p:cNvSpPr txBox="1"/>
          <p:nvPr/>
        </p:nvSpPr>
        <p:spPr>
          <a:xfrm>
            <a:off x="6229350" y="5146040"/>
            <a:ext cx="2840990" cy="829945"/>
          </a:xfrm>
          <a:prstGeom prst="rect">
            <a:avLst/>
          </a:prstGeom>
          <a:noFill/>
        </p:spPr>
        <p:txBody>
          <a:bodyPr wrap="square" rtlCol="0">
            <a:spAutoFit/>
          </a:bodyPr>
          <a:lstStyle/>
          <a:p>
            <a:r>
              <a:rPr lang="zh-CN" altLang="en-US" sz="1600">
                <a:solidFill>
                  <a:srgbClr val="C00000"/>
                </a:solidFill>
              </a:rPr>
              <a:t>保证同一个计划内钢板才具有相同宽度钢板总长度约束的问题</a:t>
            </a:r>
          </a:p>
        </p:txBody>
      </p:sp>
      <p:sp>
        <p:nvSpPr>
          <p:cNvPr id="28" name="文本框 27"/>
          <p:cNvSpPr txBox="1"/>
          <p:nvPr/>
        </p:nvSpPr>
        <p:spPr>
          <a:xfrm>
            <a:off x="6360795" y="6082665"/>
            <a:ext cx="1514475" cy="337185"/>
          </a:xfrm>
          <a:prstGeom prst="rect">
            <a:avLst/>
          </a:prstGeom>
          <a:noFill/>
        </p:spPr>
        <p:txBody>
          <a:bodyPr wrap="square" rtlCol="0">
            <a:spAutoFit/>
          </a:bodyPr>
          <a:lstStyle/>
          <a:p>
            <a:r>
              <a:rPr lang="zh-CN" altLang="en-US" sz="1600">
                <a:solidFill>
                  <a:srgbClr val="C00000"/>
                </a:solidFill>
                <a:effectLst/>
              </a:rPr>
              <a:t>消除子回环</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rPr>
              <a:t>二、启发式算法</a:t>
            </a:r>
          </a:p>
        </p:txBody>
      </p:sp>
      <p:grpSp>
        <p:nvGrpSpPr>
          <p:cNvPr id="3" name="组合 2"/>
          <p:cNvGrpSpPr/>
          <p:nvPr/>
        </p:nvGrpSpPr>
        <p:grpSpPr>
          <a:xfrm>
            <a:off x="2078355" y="1644650"/>
            <a:ext cx="4987925" cy="4604385"/>
            <a:chOff x="3911" y="2798"/>
            <a:chExt cx="7855" cy="7251"/>
          </a:xfrm>
          <a:gradFill>
            <a:gsLst>
              <a:gs pos="31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p:grpSpPr>
        <p:sp>
          <p:nvSpPr>
            <p:cNvPr id="6" name="矩形 5"/>
            <p:cNvSpPr/>
            <p:nvPr/>
          </p:nvSpPr>
          <p:spPr>
            <a:xfrm>
              <a:off x="3911" y="2798"/>
              <a:ext cx="2978" cy="842"/>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2000" dirty="0">
                  <a:solidFill>
                    <a:schemeClr val="tx1"/>
                  </a:solidFill>
                  <a:latin typeface="黑体" panose="02010609060101010101" pitchFamily="49" charset="-122"/>
                  <a:ea typeface="黑体" panose="02010609060101010101" pitchFamily="49" charset="-122"/>
                </a:rPr>
                <a:t>合同需求</a:t>
              </a:r>
            </a:p>
          </p:txBody>
        </p:sp>
        <p:sp>
          <p:nvSpPr>
            <p:cNvPr id="13" name="矩形 12"/>
            <p:cNvSpPr/>
            <p:nvPr/>
          </p:nvSpPr>
          <p:spPr>
            <a:xfrm>
              <a:off x="8788" y="2798"/>
              <a:ext cx="2978" cy="842"/>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2000" dirty="0">
                  <a:solidFill>
                    <a:schemeClr val="tx1"/>
                  </a:solidFill>
                  <a:latin typeface="黑体" panose="02010609060101010101" pitchFamily="49" charset="-122"/>
                  <a:ea typeface="黑体" panose="02010609060101010101" pitchFamily="49" charset="-122"/>
                </a:rPr>
                <a:t>工艺约束</a:t>
              </a:r>
            </a:p>
          </p:txBody>
        </p:sp>
        <p:sp>
          <p:nvSpPr>
            <p:cNvPr id="15" name="矩形 14"/>
            <p:cNvSpPr/>
            <p:nvPr/>
          </p:nvSpPr>
          <p:spPr>
            <a:xfrm>
              <a:off x="6066" y="4493"/>
              <a:ext cx="3762" cy="1474"/>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2000" dirty="0">
                  <a:solidFill>
                    <a:schemeClr val="tx1"/>
                  </a:solidFill>
                  <a:latin typeface="黑体" panose="02010609060101010101" pitchFamily="49" charset="-122"/>
                  <a:ea typeface="黑体" panose="02010609060101010101" pitchFamily="49" charset="-122"/>
                </a:rPr>
                <a:t>启发式算法获得初始解</a:t>
              </a:r>
            </a:p>
          </p:txBody>
        </p:sp>
        <p:sp>
          <p:nvSpPr>
            <p:cNvPr id="16" name="矩形 15"/>
            <p:cNvSpPr/>
            <p:nvPr/>
          </p:nvSpPr>
          <p:spPr>
            <a:xfrm>
              <a:off x="6066" y="6534"/>
              <a:ext cx="3762" cy="1474"/>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2000" dirty="0">
                  <a:solidFill>
                    <a:schemeClr val="tx1"/>
                  </a:solidFill>
                  <a:latin typeface="黑体" panose="02010609060101010101" pitchFamily="49" charset="-122"/>
                  <a:ea typeface="黑体" panose="02010609060101010101" pitchFamily="49" charset="-122"/>
                </a:rPr>
                <a:t>用智能优化算法优化初始解</a:t>
              </a:r>
            </a:p>
          </p:txBody>
        </p:sp>
        <p:sp>
          <p:nvSpPr>
            <p:cNvPr id="17" name="矩形 16"/>
            <p:cNvSpPr/>
            <p:nvPr/>
          </p:nvSpPr>
          <p:spPr>
            <a:xfrm>
              <a:off x="6066" y="8575"/>
              <a:ext cx="3762" cy="1474"/>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2000" dirty="0">
                  <a:solidFill>
                    <a:schemeClr val="tx1"/>
                  </a:solidFill>
                  <a:latin typeface="黑体" panose="02010609060101010101" pitchFamily="49" charset="-122"/>
                  <a:ea typeface="黑体" panose="02010609060101010101" pitchFamily="49" charset="-122"/>
                </a:rPr>
                <a:t>系统设计与实现</a:t>
              </a:r>
            </a:p>
          </p:txBody>
        </p:sp>
        <p:cxnSp>
          <p:nvCxnSpPr>
            <p:cNvPr id="10" name="直接箭头连接符 9"/>
            <p:cNvCxnSpPr>
              <a:stCxn id="15" idx="2"/>
              <a:endCxn id="16" idx="0"/>
            </p:cNvCxnSpPr>
            <p:nvPr/>
          </p:nvCxnSpPr>
          <p:spPr>
            <a:xfrm>
              <a:off x="7947" y="5967"/>
              <a:ext cx="0" cy="567"/>
            </a:xfrm>
            <a:prstGeom prst="straightConnector1">
              <a:avLst/>
            </a:prstGeom>
            <a:grpFill/>
            <a:ln>
              <a:tailEnd type="triangle" w="med" len="med"/>
            </a:ln>
          </p:spPr>
          <p:style>
            <a:lnRef idx="1">
              <a:schemeClr val="dk1"/>
            </a:lnRef>
            <a:fillRef idx="2">
              <a:schemeClr val="dk1"/>
            </a:fillRef>
            <a:effectRef idx="1">
              <a:schemeClr val="dk1"/>
            </a:effectRef>
            <a:fontRef idx="minor">
              <a:schemeClr val="dk1"/>
            </a:fontRef>
          </p:style>
        </p:cxnSp>
        <p:cxnSp>
          <p:nvCxnSpPr>
            <p:cNvPr id="18" name="直接箭头连接符 17"/>
            <p:cNvCxnSpPr>
              <a:stCxn id="16" idx="2"/>
              <a:endCxn id="17" idx="0"/>
            </p:cNvCxnSpPr>
            <p:nvPr/>
          </p:nvCxnSpPr>
          <p:spPr>
            <a:xfrm>
              <a:off x="7947" y="8008"/>
              <a:ext cx="0" cy="567"/>
            </a:xfrm>
            <a:prstGeom prst="straightConnector1">
              <a:avLst/>
            </a:prstGeom>
            <a:grpFill/>
            <a:ln>
              <a:tailEnd type="triangle" w="med" len="med"/>
            </a:ln>
          </p:spPr>
          <p:style>
            <a:lnRef idx="1">
              <a:schemeClr val="dk1"/>
            </a:lnRef>
            <a:fillRef idx="2">
              <a:schemeClr val="dk1"/>
            </a:fillRef>
            <a:effectRef idx="1">
              <a:schemeClr val="dk1"/>
            </a:effectRef>
            <a:fontRef idx="minor">
              <a:schemeClr val="dk1"/>
            </a:fontRef>
          </p:style>
        </p:cxnSp>
        <p:cxnSp>
          <p:nvCxnSpPr>
            <p:cNvPr id="34" name="直接连接符 33"/>
            <p:cNvCxnSpPr/>
            <p:nvPr/>
          </p:nvCxnSpPr>
          <p:spPr>
            <a:xfrm flipH="1">
              <a:off x="9887" y="3817"/>
              <a:ext cx="3" cy="0"/>
            </a:xfrm>
            <a:prstGeom prst="line">
              <a:avLst/>
            </a:prstGeom>
            <a:grpFill/>
          </p:spPr>
          <p:style>
            <a:lnRef idx="1">
              <a:schemeClr val="dk1"/>
            </a:lnRef>
            <a:fillRef idx="2">
              <a:schemeClr val="dk1"/>
            </a:fillRef>
            <a:effectRef idx="1">
              <a:schemeClr val="dk1"/>
            </a:effectRef>
            <a:fontRef idx="minor">
              <a:schemeClr val="dk1"/>
            </a:fontRef>
          </p:style>
        </p:cxnSp>
        <p:cxnSp>
          <p:nvCxnSpPr>
            <p:cNvPr id="51" name="直接连接符 50"/>
            <p:cNvCxnSpPr>
              <a:stCxn id="6" idx="3"/>
              <a:endCxn id="13" idx="1"/>
            </p:cNvCxnSpPr>
            <p:nvPr/>
          </p:nvCxnSpPr>
          <p:spPr>
            <a:xfrm>
              <a:off x="6890" y="3219"/>
              <a:ext cx="1898" cy="0"/>
            </a:xfrm>
            <a:prstGeom prst="line">
              <a:avLst/>
            </a:prstGeom>
            <a:grpFill/>
          </p:spPr>
          <p:style>
            <a:lnRef idx="1">
              <a:schemeClr val="dk1"/>
            </a:lnRef>
            <a:fillRef idx="2">
              <a:schemeClr val="dk1"/>
            </a:fillRef>
            <a:effectRef idx="1">
              <a:schemeClr val="dk1"/>
            </a:effectRef>
            <a:fontRef idx="minor">
              <a:schemeClr val="dk1"/>
            </a:fontRef>
          </p:style>
        </p:cxnSp>
        <p:cxnSp>
          <p:nvCxnSpPr>
            <p:cNvPr id="53" name="直接箭头连接符 52"/>
            <p:cNvCxnSpPr>
              <a:endCxn id="15" idx="0"/>
            </p:cNvCxnSpPr>
            <p:nvPr/>
          </p:nvCxnSpPr>
          <p:spPr>
            <a:xfrm>
              <a:off x="7947" y="3219"/>
              <a:ext cx="0" cy="1274"/>
            </a:xfrm>
            <a:prstGeom prst="straightConnector1">
              <a:avLst/>
            </a:prstGeom>
            <a:grpFill/>
            <a:ln>
              <a:tailEnd type="triangle" w="med" len="med"/>
            </a:ln>
          </p:spPr>
          <p:style>
            <a:lnRef idx="1">
              <a:schemeClr val="dk1"/>
            </a:lnRef>
            <a:fillRef idx="2">
              <a:schemeClr val="dk1"/>
            </a:fillRef>
            <a:effectRef idx="1">
              <a:schemeClr val="dk1"/>
            </a:effectRef>
            <a:fontRef idx="minor">
              <a:schemeClr val="dk1"/>
            </a:fontRef>
          </p:style>
        </p:cxnSp>
      </p:grpSp>
      <p:sp>
        <p:nvSpPr>
          <p:cNvPr id="31" name="矩形 30"/>
          <p:cNvSpPr/>
          <p:nvPr/>
        </p:nvSpPr>
        <p:spPr>
          <a:xfrm>
            <a:off x="0" y="836712"/>
            <a:ext cx="2727325" cy="521970"/>
          </a:xfrm>
          <a:prstGeom prst="rect">
            <a:avLst/>
          </a:prstGeom>
        </p:spPr>
        <p:txBody>
          <a:bodyPr wrap="non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zh-CN" altLang="en-US" sz="2800" b="1" dirty="0">
                <a:latin typeface="+mn-ea"/>
                <a:ea typeface="+mn-ea"/>
              </a:rPr>
              <a:t> </a:t>
            </a:r>
            <a:r>
              <a:rPr lang="zh-CN" altLang="en-US" sz="2400" b="1" dirty="0">
                <a:latin typeface="+mn-ea"/>
                <a:ea typeface="+mn-ea"/>
              </a:rPr>
              <a:t>研究内容和思路：</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107504" y="908720"/>
            <a:ext cx="4351655" cy="521970"/>
          </a:xfrm>
          <a:prstGeom prst="rect">
            <a:avLst/>
          </a:prstGeom>
        </p:spPr>
        <p:txBody>
          <a:bodyPr wrap="non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en-US" altLang="zh-CN" sz="2800" b="1" dirty="0"/>
              <a:t>  1. </a:t>
            </a:r>
            <a:r>
              <a:rPr lang="zh-CN" altLang="en-US" sz="2800" b="1" dirty="0">
                <a:latin typeface="黑体" panose="02010609060101010101" pitchFamily="49" charset="-122"/>
                <a:ea typeface="黑体" panose="02010609060101010101" pitchFamily="49" charset="-122"/>
              </a:rPr>
              <a:t>启发式算法生成初始解</a:t>
            </a:r>
          </a:p>
        </p:txBody>
      </p:sp>
      <p:pic>
        <p:nvPicPr>
          <p:cNvPr id="3" name="图片 2"/>
          <p:cNvPicPr>
            <a:picLocks noChangeAspect="1"/>
          </p:cNvPicPr>
          <p:nvPr/>
        </p:nvPicPr>
        <p:blipFill>
          <a:blip r:embed="rId2"/>
          <a:stretch>
            <a:fillRect/>
          </a:stretch>
        </p:blipFill>
        <p:spPr>
          <a:xfrm>
            <a:off x="807458" y="1934980"/>
            <a:ext cx="7529084" cy="2988120"/>
          </a:xfrm>
          <a:prstGeom prst="rect">
            <a:avLst/>
          </a:prstGeom>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8324" y="874450"/>
            <a:ext cx="3876675" cy="521970"/>
          </a:xfrm>
          <a:prstGeom prst="rect">
            <a:avLst/>
          </a:prstGeom>
        </p:spPr>
        <p:txBody>
          <a:bodyPr wrap="non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en-US" altLang="zh-CN" sz="2800" b="1" dirty="0">
                <a:latin typeface="+mn-lt"/>
                <a:ea typeface="黑体" panose="02010609060101010101" pitchFamily="49" charset="-122"/>
                <a:cs typeface="+mn-lt"/>
              </a:rPr>
              <a:t>2.</a:t>
            </a:r>
            <a:r>
              <a:rPr lang="en-US" altLang="zh-CN" sz="2800" b="1" dirty="0">
                <a:latin typeface="黑体" panose="02010609060101010101" pitchFamily="49" charset="-122"/>
                <a:ea typeface="黑体" panose="02010609060101010101" pitchFamily="49" charset="-122"/>
                <a:cs typeface="黑体" panose="02010609060101010101" pitchFamily="49" charset="-122"/>
              </a:rPr>
              <a:t> </a:t>
            </a:r>
            <a:r>
              <a:rPr lang="zh-CN" altLang="en-US" sz="2800" b="1" dirty="0">
                <a:latin typeface="黑体" panose="02010609060101010101" pitchFamily="49" charset="-122"/>
                <a:ea typeface="黑体" panose="02010609060101010101" pitchFamily="49" charset="-122"/>
                <a:cs typeface="黑体" panose="02010609060101010101" pitchFamily="49" charset="-122"/>
              </a:rPr>
              <a:t>变邻域搜索算法优化</a:t>
            </a:r>
          </a:p>
        </p:txBody>
      </p:sp>
      <p:sp>
        <p:nvSpPr>
          <p:cNvPr id="4" name="矩形 3"/>
          <p:cNvSpPr/>
          <p:nvPr/>
        </p:nvSpPr>
        <p:spPr>
          <a:xfrm>
            <a:off x="499110" y="2370455"/>
            <a:ext cx="1264920" cy="471805"/>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初始解</a:t>
            </a:r>
          </a:p>
        </p:txBody>
      </p:sp>
      <p:sp>
        <p:nvSpPr>
          <p:cNvPr id="5" name="箭头: 虚尾 4"/>
          <p:cNvSpPr/>
          <p:nvPr/>
        </p:nvSpPr>
        <p:spPr>
          <a:xfrm>
            <a:off x="1778000" y="2527935"/>
            <a:ext cx="744220" cy="157480"/>
          </a:xfrm>
          <a:prstGeom prst="stripedRightArrow">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2527935" y="2204720"/>
            <a:ext cx="2232025" cy="864235"/>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轧制计划之间钢卷组的互换（不包括</a:t>
            </a:r>
            <a:r>
              <a:rPr lang="zh-CN" altLang="en-US" dirty="0">
                <a:solidFill>
                  <a:schemeClr val="tx1"/>
                </a:solidFill>
                <a:sym typeface="+mn-ea"/>
              </a:rPr>
              <a:t>候选池</a:t>
            </a:r>
            <a:r>
              <a:rPr lang="zh-CN" altLang="en-US" dirty="0">
                <a:solidFill>
                  <a:schemeClr val="tx1"/>
                </a:solidFill>
              </a:rPr>
              <a:t>）</a:t>
            </a:r>
          </a:p>
        </p:txBody>
      </p:sp>
      <p:sp>
        <p:nvSpPr>
          <p:cNvPr id="7" name="矩形: 圆角 6"/>
          <p:cNvSpPr/>
          <p:nvPr/>
        </p:nvSpPr>
        <p:spPr>
          <a:xfrm>
            <a:off x="5436235" y="2203450"/>
            <a:ext cx="2232025" cy="865505"/>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轧制计划和候选池的钢卷组互换</a:t>
            </a:r>
          </a:p>
        </p:txBody>
      </p:sp>
      <p:sp>
        <p:nvSpPr>
          <p:cNvPr id="8" name="箭头: 虚尾 7"/>
          <p:cNvSpPr/>
          <p:nvPr/>
        </p:nvSpPr>
        <p:spPr>
          <a:xfrm>
            <a:off x="4716145" y="2527935"/>
            <a:ext cx="744220" cy="157480"/>
          </a:xfrm>
          <a:prstGeom prst="stripedRightArrow">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箭头: 右弧形 8"/>
          <p:cNvSpPr/>
          <p:nvPr/>
        </p:nvSpPr>
        <p:spPr>
          <a:xfrm>
            <a:off x="7687310" y="2527935"/>
            <a:ext cx="1227455" cy="2125345"/>
          </a:xfrm>
          <a:prstGeom prst="curvedLeftArrow">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矩形: 圆角 9"/>
          <p:cNvSpPr/>
          <p:nvPr/>
        </p:nvSpPr>
        <p:spPr>
          <a:xfrm>
            <a:off x="5440680" y="3825240"/>
            <a:ext cx="2232025" cy="865505"/>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轧制计划内部的钢卷组互换</a:t>
            </a:r>
          </a:p>
        </p:txBody>
      </p:sp>
      <p:sp>
        <p:nvSpPr>
          <p:cNvPr id="11" name="箭头: 虚尾 10"/>
          <p:cNvSpPr/>
          <p:nvPr/>
        </p:nvSpPr>
        <p:spPr>
          <a:xfrm rot="10800000">
            <a:off x="4693920" y="4149090"/>
            <a:ext cx="744220" cy="157480"/>
          </a:xfrm>
          <a:prstGeom prst="stripedRightArrow">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p:cNvSpPr/>
          <p:nvPr/>
        </p:nvSpPr>
        <p:spPr>
          <a:xfrm>
            <a:off x="2458720" y="3826510"/>
            <a:ext cx="2232025" cy="864235"/>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轧制计划之间钢卷组的插入</a:t>
            </a:r>
          </a:p>
        </p:txBody>
      </p:sp>
      <p:sp>
        <p:nvSpPr>
          <p:cNvPr id="13" name="箭头: 虚尾 12"/>
          <p:cNvSpPr/>
          <p:nvPr/>
        </p:nvSpPr>
        <p:spPr>
          <a:xfrm rot="10800000">
            <a:off x="1725930" y="4149090"/>
            <a:ext cx="744220" cy="157480"/>
          </a:xfrm>
          <a:prstGeom prst="stripedRightArrow">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72440" y="3991610"/>
            <a:ext cx="1264920" cy="471805"/>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最终解</a:t>
            </a:r>
          </a:p>
        </p:txBody>
      </p:sp>
      <p:sp>
        <p:nvSpPr>
          <p:cNvPr id="3" name="矩形 2"/>
          <p:cNvSpPr/>
          <p:nvPr/>
        </p:nvSpPr>
        <p:spPr>
          <a:xfrm>
            <a:off x="678240" y="5031474"/>
            <a:ext cx="1099820" cy="460375"/>
          </a:xfrm>
          <a:prstGeom prst="rect">
            <a:avLst/>
          </a:prstGeom>
        </p:spPr>
        <p:txBody>
          <a:bodyPr wrap="none">
            <a:spAutoFit/>
          </a:bodyPr>
          <a:lstStyle/>
          <a:p>
            <a:r>
              <a:rPr lang="zh-CN" altLang="en-US" sz="2400" b="1" dirty="0">
                <a:latin typeface="幼圆" panose="02010509060101010101" charset="-122"/>
                <a:ea typeface="幼圆" panose="02010509060101010101" charset="-122"/>
              </a:rPr>
              <a:t>目标</a:t>
            </a:r>
            <a:r>
              <a:rPr lang="zh-CN" altLang="en-US" sz="2400" dirty="0">
                <a:latin typeface="幼圆" panose="02010509060101010101" charset="-122"/>
                <a:ea typeface="幼圆" panose="02010509060101010101" charset="-122"/>
              </a:rPr>
              <a:t>：</a:t>
            </a:r>
            <a:endParaRPr lang="zh-CN" altLang="en-US" dirty="0"/>
          </a:p>
        </p:txBody>
      </p:sp>
      <p:sp>
        <p:nvSpPr>
          <p:cNvPr id="15" name="矩形 14"/>
          <p:cNvSpPr/>
          <p:nvPr/>
        </p:nvSpPr>
        <p:spPr>
          <a:xfrm>
            <a:off x="1033089" y="5491842"/>
            <a:ext cx="8065131" cy="1014730"/>
          </a:xfrm>
          <a:prstGeom prst="rect">
            <a:avLst/>
          </a:prstGeom>
        </p:spPr>
        <p:txBody>
          <a:bodyPr wrap="square">
            <a:spAutoFit/>
          </a:bodyPr>
          <a:lstStyle/>
          <a:p>
            <a:pPr>
              <a:lnSpc>
                <a:spcPct val="150000"/>
              </a:lnSpc>
            </a:pPr>
            <a:r>
              <a:rPr lang="zh-CN" altLang="en-US" sz="2000" dirty="0">
                <a:latin typeface="+mn-ea"/>
              </a:rPr>
              <a:t>①在满足工艺约束的前提下，保证轧制计划总数最小</a:t>
            </a:r>
          </a:p>
          <a:p>
            <a:pPr>
              <a:lnSpc>
                <a:spcPct val="150000"/>
              </a:lnSpc>
            </a:pPr>
            <a:r>
              <a:rPr lang="zh-CN" altLang="en-US" sz="2000" dirty="0">
                <a:latin typeface="+mn-ea"/>
              </a:rPr>
              <a:t>②尽可能减小相邻钢卷宽度、厚度和硬度等跳跃的总惩罚值</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8"/>
          <p:cNvSpPr txBox="1">
            <a:spLocks noChangeArrowheads="1"/>
          </p:cNvSpPr>
          <p:nvPr/>
        </p:nvSpPr>
        <p:spPr bwMode="auto">
          <a:xfrm>
            <a:off x="467069" y="1196896"/>
            <a:ext cx="1872208" cy="461665"/>
          </a:xfrm>
          <a:prstGeom prst="rect">
            <a:avLst/>
          </a:prstGeom>
          <a:noFill/>
          <a:ln w="25400">
            <a:noFill/>
            <a:miter lim="800000"/>
          </a:ln>
        </p:spPr>
        <p:txBody>
          <a:bodyPr wrap="square">
            <a:spAutoFit/>
          </a:bodyPr>
          <a:lstStyle>
            <a:lvl1pPr eaLnBrk="0" hangingPunct="0">
              <a:spcBef>
                <a:spcPct val="20000"/>
              </a:spcBef>
              <a:buChar char="•"/>
              <a:defRPr sz="2200">
                <a:solidFill>
                  <a:schemeClr val="tx1"/>
                </a:solidFill>
                <a:latin typeface="-소망M" pitchFamily="2" charset="-127"/>
                <a:ea typeface="-소망M" pitchFamily="2" charset="-127"/>
              </a:defRPr>
            </a:lvl1pPr>
            <a:lvl2pPr marL="742950" indent="-285750" eaLnBrk="0" hangingPunct="0">
              <a:spcBef>
                <a:spcPct val="20000"/>
              </a:spcBef>
              <a:buChar char="•"/>
              <a:defRPr sz="2000">
                <a:solidFill>
                  <a:schemeClr val="tx1"/>
                </a:solidFill>
                <a:latin typeface="-소망M" pitchFamily="2" charset="-127"/>
                <a:ea typeface="-소망M" pitchFamily="2" charset="-127"/>
              </a:defRPr>
            </a:lvl2pPr>
            <a:lvl3pPr marL="1143000" indent="-228600" eaLnBrk="0" hangingPunct="0">
              <a:spcBef>
                <a:spcPct val="20000"/>
              </a:spcBef>
              <a:buChar char="•"/>
              <a:defRPr>
                <a:solidFill>
                  <a:schemeClr val="tx1"/>
                </a:solidFill>
                <a:latin typeface="-소망M" pitchFamily="2" charset="-127"/>
                <a:ea typeface="-소망M" pitchFamily="2" charset="-127"/>
              </a:defRPr>
            </a:lvl3pPr>
            <a:lvl4pPr marL="1600200" indent="-228600" eaLnBrk="0" hangingPunct="0">
              <a:spcBef>
                <a:spcPct val="20000"/>
              </a:spcBef>
              <a:buChar char="•"/>
              <a:defRPr sz="1600">
                <a:solidFill>
                  <a:schemeClr val="tx1"/>
                </a:solidFill>
                <a:latin typeface="-소망M" pitchFamily="2" charset="-127"/>
                <a:ea typeface="-소망M" pitchFamily="2" charset="-127"/>
              </a:defRPr>
            </a:lvl4pPr>
            <a:lvl5pPr marL="2057400" indent="-228600" eaLnBrk="0" hangingPunct="0">
              <a:spcBef>
                <a:spcPct val="20000"/>
              </a:spcBef>
              <a:buChar char="•"/>
              <a:defRPr sz="1400">
                <a:solidFill>
                  <a:schemeClr val="tx1"/>
                </a:solidFill>
                <a:latin typeface="-소망M" pitchFamily="2" charset="-127"/>
                <a:ea typeface="-소망M" pitchFamily="2" charset="-127"/>
              </a:defRPr>
            </a:lvl5pPr>
            <a:lvl6pPr marL="2514600" indent="-228600" eaLnBrk="0" fontAlgn="base" latinLnBrk="1" hangingPunct="0">
              <a:spcBef>
                <a:spcPct val="20000"/>
              </a:spcBef>
              <a:spcAft>
                <a:spcPct val="0"/>
              </a:spcAft>
              <a:buChar char="•"/>
              <a:defRPr sz="1400">
                <a:solidFill>
                  <a:schemeClr val="tx1"/>
                </a:solidFill>
                <a:latin typeface="-소망M" pitchFamily="2" charset="-127"/>
                <a:ea typeface="-소망M" pitchFamily="2" charset="-127"/>
              </a:defRPr>
            </a:lvl6pPr>
            <a:lvl7pPr marL="2971800" indent="-228600" eaLnBrk="0" fontAlgn="base" latinLnBrk="1" hangingPunct="0">
              <a:spcBef>
                <a:spcPct val="20000"/>
              </a:spcBef>
              <a:spcAft>
                <a:spcPct val="0"/>
              </a:spcAft>
              <a:buChar char="•"/>
              <a:defRPr sz="1400">
                <a:solidFill>
                  <a:schemeClr val="tx1"/>
                </a:solidFill>
                <a:latin typeface="-소망M" pitchFamily="2" charset="-127"/>
                <a:ea typeface="-소망M" pitchFamily="2" charset="-127"/>
              </a:defRPr>
            </a:lvl7pPr>
            <a:lvl8pPr marL="3429000" indent="-228600" eaLnBrk="0" fontAlgn="base" latinLnBrk="1" hangingPunct="0">
              <a:spcBef>
                <a:spcPct val="20000"/>
              </a:spcBef>
              <a:spcAft>
                <a:spcPct val="0"/>
              </a:spcAft>
              <a:buChar char="•"/>
              <a:defRPr sz="1400">
                <a:solidFill>
                  <a:schemeClr val="tx1"/>
                </a:solidFill>
                <a:latin typeface="-소망M" pitchFamily="2" charset="-127"/>
                <a:ea typeface="-소망M" pitchFamily="2" charset="-127"/>
              </a:defRPr>
            </a:lvl8pPr>
            <a:lvl9pPr marL="3886200" indent="-228600" eaLnBrk="0" fontAlgn="base" latinLnBrk="1" hangingPunct="0">
              <a:spcBef>
                <a:spcPct val="20000"/>
              </a:spcBef>
              <a:spcAft>
                <a:spcPct val="0"/>
              </a:spcAft>
              <a:buChar char="•"/>
              <a:defRPr sz="1400">
                <a:solidFill>
                  <a:schemeClr val="tx1"/>
                </a:solidFill>
                <a:latin typeface="-소망M" pitchFamily="2" charset="-127"/>
                <a:ea typeface="-소망M" pitchFamily="2" charset="-127"/>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KPI</a:t>
            </a:r>
            <a:r>
              <a:rPr kumimoji="0" lang="zh-CN" altLang="en-US" sz="2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目标函数：</a:t>
            </a:r>
          </a:p>
        </p:txBody>
      </p:sp>
      <p:pic>
        <p:nvPicPr>
          <p:cNvPr id="13" name="图片 12"/>
          <p:cNvPicPr>
            <a:picLocks noChangeAspect="1"/>
          </p:cNvPicPr>
          <p:nvPr/>
        </p:nvPicPr>
        <p:blipFill>
          <a:blip r:embed="rId2"/>
          <a:stretch>
            <a:fillRect/>
          </a:stretch>
        </p:blipFill>
        <p:spPr>
          <a:xfrm>
            <a:off x="3007127" y="1029175"/>
            <a:ext cx="3528392" cy="988155"/>
          </a:xfrm>
          <a:prstGeom prst="rect">
            <a:avLst/>
          </a:prstGeom>
        </p:spPr>
      </p:pic>
      <p:graphicFrame>
        <p:nvGraphicFramePr>
          <p:cNvPr id="7" name="表格 6"/>
          <p:cNvGraphicFramePr>
            <a:graphicFrameLocks noGrp="1"/>
          </p:cNvGraphicFramePr>
          <p:nvPr/>
        </p:nvGraphicFramePr>
        <p:xfrm>
          <a:off x="465004" y="2174704"/>
          <a:ext cx="8214085" cy="4209713"/>
        </p:xfrm>
        <a:graphic>
          <a:graphicData uri="http://schemas.openxmlformats.org/drawingml/2006/table">
            <a:tbl>
              <a:tblPr firstRow="1" bandRow="1">
                <a:tableStyleId>{00A15C55-8517-42AA-B614-E9B94910E393}</a:tableStyleId>
              </a:tblPr>
              <a:tblGrid>
                <a:gridCol w="2605684">
                  <a:extLst>
                    <a:ext uri="{9D8B030D-6E8A-4147-A177-3AD203B41FA5}">
                      <a16:colId xmlns:a16="http://schemas.microsoft.com/office/drawing/2014/main" val="20000"/>
                    </a:ext>
                  </a:extLst>
                </a:gridCol>
                <a:gridCol w="4427685">
                  <a:extLst>
                    <a:ext uri="{9D8B030D-6E8A-4147-A177-3AD203B41FA5}">
                      <a16:colId xmlns:a16="http://schemas.microsoft.com/office/drawing/2014/main" val="20001"/>
                    </a:ext>
                  </a:extLst>
                </a:gridCol>
                <a:gridCol w="1180716">
                  <a:extLst>
                    <a:ext uri="{9D8B030D-6E8A-4147-A177-3AD203B41FA5}">
                      <a16:colId xmlns:a16="http://schemas.microsoft.com/office/drawing/2014/main" val="20002"/>
                    </a:ext>
                  </a:extLst>
                </a:gridCol>
              </a:tblGrid>
              <a:tr h="421108">
                <a:tc>
                  <a:txBody>
                    <a:bodyPr/>
                    <a:lstStyle/>
                    <a:p>
                      <a:pPr algn="ctr"/>
                      <a:r>
                        <a:rPr lang="zh-CN" altLang="en-US" sz="1800" dirty="0"/>
                        <a:t>项目名称</a:t>
                      </a:r>
                    </a:p>
                  </a:txBody>
                  <a:tcPr marL="91428" marR="91428" marT="45723" marB="45723">
                    <a:solidFill>
                      <a:schemeClr val="accent1">
                        <a:lumMod val="60000"/>
                        <a:lumOff val="40000"/>
                      </a:schemeClr>
                    </a:solidFill>
                  </a:tcPr>
                </a:tc>
                <a:tc>
                  <a:txBody>
                    <a:bodyPr/>
                    <a:lstStyle/>
                    <a:p>
                      <a:pPr algn="ctr"/>
                      <a:r>
                        <a:rPr lang="zh-CN" altLang="en-US" sz="1800" dirty="0"/>
                        <a:t>计算方法</a:t>
                      </a:r>
                    </a:p>
                  </a:txBody>
                  <a:tcPr marL="91428" marR="91428" marT="45723" marB="45723">
                    <a:solidFill>
                      <a:schemeClr val="accent1">
                        <a:lumMod val="60000"/>
                        <a:lumOff val="40000"/>
                      </a:schemeClr>
                    </a:solidFill>
                  </a:tcPr>
                </a:tc>
                <a:tc>
                  <a:txBody>
                    <a:bodyPr/>
                    <a:lstStyle/>
                    <a:p>
                      <a:pPr algn="ctr"/>
                      <a:r>
                        <a:rPr lang="zh-CN" altLang="en-US" sz="1800" dirty="0"/>
                        <a:t>权重（</a:t>
                      </a:r>
                      <a:r>
                        <a:rPr lang="en-US" altLang="zh-CN" sz="1800" dirty="0"/>
                        <a:t>+/-</a:t>
                      </a:r>
                      <a:r>
                        <a:rPr lang="zh-CN" altLang="en-US" sz="1800" dirty="0"/>
                        <a:t>）</a:t>
                      </a:r>
                    </a:p>
                  </a:txBody>
                  <a:tcPr marL="91428" marR="91428" marT="45723" marB="45723">
                    <a:solidFill>
                      <a:schemeClr val="accent1">
                        <a:lumMod val="60000"/>
                        <a:lumOff val="40000"/>
                      </a:schemeClr>
                    </a:solidFill>
                  </a:tcPr>
                </a:tc>
                <a:extLst>
                  <a:ext uri="{0D108BD9-81ED-4DB2-BD59-A6C34878D82A}">
                    <a16:rowId xmlns:a16="http://schemas.microsoft.com/office/drawing/2014/main" val="10000"/>
                  </a:ext>
                </a:extLst>
              </a:tr>
              <a:tr h="950595">
                <a:tc>
                  <a:txBody>
                    <a:bodyPr/>
                    <a:lstStyle/>
                    <a:p>
                      <a:r>
                        <a:rPr lang="zh-CN" altLang="en-US" sz="1800" dirty="0"/>
                        <a:t>合同兑现率</a:t>
                      </a:r>
                    </a:p>
                  </a:txBody>
                  <a:tcPr marL="91428" marR="91428" marT="45723" marB="45723">
                    <a:solidFill>
                      <a:schemeClr val="accent1">
                        <a:lumMod val="40000"/>
                        <a:lumOff val="60000"/>
                      </a:schemeClr>
                    </a:solidFill>
                  </a:tcPr>
                </a:tc>
                <a:tc>
                  <a:txBody>
                    <a:bodyPr/>
                    <a:lstStyle/>
                    <a:p>
                      <a:r>
                        <a:rPr lang="zh-CN" altLang="en-US" sz="1800" dirty="0"/>
                        <a:t>当日</a:t>
                      </a:r>
                      <a:r>
                        <a:rPr lang="en-US" altLang="zh-CN" sz="1800" dirty="0"/>
                        <a:t>OPS</a:t>
                      </a:r>
                      <a:r>
                        <a:rPr lang="zh-CN" altLang="en-US" sz="1800" dirty="0"/>
                        <a:t>热轧工序排产合同编入作业计划重量 </a:t>
                      </a:r>
                      <a:r>
                        <a:rPr lang="en-US" altLang="zh-CN" sz="1800" dirty="0"/>
                        <a:t>/ </a:t>
                      </a:r>
                      <a:r>
                        <a:rPr lang="zh-CN" altLang="en-US" sz="1800" dirty="0"/>
                        <a:t>当日</a:t>
                      </a:r>
                      <a:r>
                        <a:rPr lang="en-US" altLang="zh-CN" sz="1800" dirty="0"/>
                        <a:t>OPS</a:t>
                      </a:r>
                      <a:r>
                        <a:rPr lang="zh-CN" altLang="en-US" sz="1800" dirty="0"/>
                        <a:t>热轧工序排产合同总量</a:t>
                      </a:r>
                      <a:r>
                        <a:rPr lang="en-US" altLang="zh-CN" sz="1800" dirty="0"/>
                        <a:t>X 100%</a:t>
                      </a:r>
                      <a:endParaRPr lang="zh-CN" altLang="en-US" sz="1800" dirty="0"/>
                    </a:p>
                  </a:txBody>
                  <a:tcPr marL="91428" marR="91428" marT="45723" marB="45723">
                    <a:solidFill>
                      <a:schemeClr val="accent1">
                        <a:lumMod val="40000"/>
                        <a:lumOff val="60000"/>
                      </a:schemeClr>
                    </a:solidFill>
                  </a:tcPr>
                </a:tc>
                <a:tc>
                  <a:txBody>
                    <a:bodyPr/>
                    <a:lstStyle/>
                    <a:p>
                      <a:r>
                        <a:rPr lang="en-US" altLang="zh-CN" sz="1800" dirty="0"/>
                        <a:t>+0.3</a:t>
                      </a:r>
                      <a:endParaRPr lang="zh-CN" altLang="en-US" sz="1800" dirty="0"/>
                    </a:p>
                  </a:txBody>
                  <a:tcPr marL="91428" marR="91428" marT="45723" marB="45723">
                    <a:solidFill>
                      <a:schemeClr val="accent1">
                        <a:lumMod val="40000"/>
                        <a:lumOff val="60000"/>
                      </a:schemeClr>
                    </a:solidFill>
                  </a:tcPr>
                </a:tc>
                <a:extLst>
                  <a:ext uri="{0D108BD9-81ED-4DB2-BD59-A6C34878D82A}">
                    <a16:rowId xmlns:a16="http://schemas.microsoft.com/office/drawing/2014/main" val="10001"/>
                  </a:ext>
                </a:extLst>
              </a:tr>
              <a:tr h="665157">
                <a:tc>
                  <a:txBody>
                    <a:bodyPr/>
                    <a:lstStyle/>
                    <a:p>
                      <a:r>
                        <a:rPr lang="zh-CN" altLang="en-US" sz="1800" dirty="0"/>
                        <a:t>流向匹配率</a:t>
                      </a:r>
                    </a:p>
                  </a:txBody>
                  <a:tcPr marL="91428" marR="91428" marT="45723" marB="45723">
                    <a:solidFill>
                      <a:schemeClr val="accent1">
                        <a:lumMod val="20000"/>
                        <a:lumOff val="80000"/>
                      </a:schemeClr>
                    </a:solidFill>
                  </a:tcPr>
                </a:tc>
                <a:tc>
                  <a:txBody>
                    <a:bodyPr/>
                    <a:lstStyle/>
                    <a:p>
                      <a:r>
                        <a:rPr lang="zh-CN" altLang="en-US" sz="1800" dirty="0"/>
                        <a:t>当日</a:t>
                      </a:r>
                      <a:r>
                        <a:rPr lang="en-US" altLang="zh-CN" sz="1800" dirty="0"/>
                        <a:t>OPS</a:t>
                      </a:r>
                      <a:r>
                        <a:rPr lang="zh-CN" altLang="en-US" sz="1800" dirty="0"/>
                        <a:t>热轧工序某流向编入作业计划重量 </a:t>
                      </a:r>
                      <a:r>
                        <a:rPr lang="en-US" altLang="zh-CN" sz="1800" dirty="0"/>
                        <a:t>/ </a:t>
                      </a:r>
                      <a:r>
                        <a:rPr lang="zh-CN" altLang="en-US" sz="1800" dirty="0"/>
                        <a:t>当日</a:t>
                      </a:r>
                      <a:r>
                        <a:rPr lang="en-US" altLang="zh-CN" sz="1800" dirty="0"/>
                        <a:t>OPS</a:t>
                      </a:r>
                      <a:r>
                        <a:rPr lang="zh-CN" altLang="en-US" sz="1800" dirty="0"/>
                        <a:t>热轧工序某流向总量</a:t>
                      </a:r>
                      <a:r>
                        <a:rPr lang="en-US" altLang="zh-CN" sz="1800" dirty="0"/>
                        <a:t>X 100%</a:t>
                      </a:r>
                      <a:endParaRPr lang="zh-CN" altLang="en-US" sz="1800" dirty="0"/>
                    </a:p>
                  </a:txBody>
                  <a:tcPr marL="91428" marR="91428" marT="45723" marB="45723">
                    <a:solidFill>
                      <a:schemeClr val="accent1">
                        <a:lumMod val="20000"/>
                        <a:lumOff val="80000"/>
                      </a:schemeClr>
                    </a:solidFill>
                  </a:tcPr>
                </a:tc>
                <a:tc>
                  <a:txBody>
                    <a:bodyPr/>
                    <a:lstStyle/>
                    <a:p>
                      <a:r>
                        <a:rPr lang="en-US" altLang="zh-CN" sz="1800" dirty="0"/>
                        <a:t>+0.3</a:t>
                      </a:r>
                      <a:endParaRPr lang="zh-CN" altLang="en-US" sz="1800" dirty="0"/>
                    </a:p>
                  </a:txBody>
                  <a:tcPr marL="91428" marR="91428" marT="45723" marB="45723">
                    <a:solidFill>
                      <a:schemeClr val="accent1">
                        <a:lumMod val="20000"/>
                        <a:lumOff val="80000"/>
                      </a:schemeClr>
                    </a:solidFill>
                  </a:tcPr>
                </a:tc>
                <a:extLst>
                  <a:ext uri="{0D108BD9-81ED-4DB2-BD59-A6C34878D82A}">
                    <a16:rowId xmlns:a16="http://schemas.microsoft.com/office/drawing/2014/main" val="10002"/>
                  </a:ext>
                </a:extLst>
              </a:tr>
              <a:tr h="421108">
                <a:tc>
                  <a:txBody>
                    <a:bodyPr/>
                    <a:lstStyle/>
                    <a:p>
                      <a:r>
                        <a:rPr lang="zh-CN" altLang="en-US" sz="1800" dirty="0"/>
                        <a:t>轧制公里率</a:t>
                      </a:r>
                    </a:p>
                  </a:txBody>
                  <a:tcPr marL="91428" marR="91428" marT="45723" marB="45723">
                    <a:solidFill>
                      <a:srgbClr val="B9CDE5"/>
                    </a:solidFill>
                  </a:tcPr>
                </a:tc>
                <a:tc>
                  <a:txBody>
                    <a:bodyPr/>
                    <a:lstStyle/>
                    <a:p>
                      <a:pPr algn="just" fontAlgn="ctr"/>
                      <a:r>
                        <a:rPr lang="zh-CN" altLang="en-US" sz="1800" u="none" strike="noStrike" dirty="0">
                          <a:effectLst/>
                        </a:rPr>
                        <a:t>平均轧制公里数</a:t>
                      </a:r>
                      <a:r>
                        <a:rPr lang="en-US" altLang="zh-CN" sz="1800" u="none" strike="noStrike" dirty="0">
                          <a:effectLst/>
                        </a:rPr>
                        <a:t>/</a:t>
                      </a:r>
                      <a:r>
                        <a:rPr lang="zh-CN" altLang="en-US" sz="1800" u="none" strike="noStrike" dirty="0">
                          <a:effectLst/>
                        </a:rPr>
                        <a:t>最大公里数</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9524" marR="9524" marT="9526" marB="0" anchor="ctr">
                    <a:solidFill>
                      <a:srgbClr val="B9CDE5"/>
                    </a:solidFill>
                  </a:tcPr>
                </a:tc>
                <a:tc>
                  <a:txBody>
                    <a:bodyPr/>
                    <a:lstStyle/>
                    <a:p>
                      <a:r>
                        <a:rPr lang="en-US" altLang="zh-CN" sz="1800" dirty="0"/>
                        <a:t>+0.2</a:t>
                      </a:r>
                      <a:endParaRPr lang="zh-CN" altLang="en-US" sz="1800" dirty="0"/>
                    </a:p>
                  </a:txBody>
                  <a:tcPr marL="91428" marR="91428" marT="45723" marB="45723">
                    <a:solidFill>
                      <a:srgbClr val="B9CDE5"/>
                    </a:solidFill>
                  </a:tcPr>
                </a:tc>
                <a:extLst>
                  <a:ext uri="{0D108BD9-81ED-4DB2-BD59-A6C34878D82A}">
                    <a16:rowId xmlns:a16="http://schemas.microsoft.com/office/drawing/2014/main" val="10003"/>
                  </a:ext>
                </a:extLst>
              </a:tr>
              <a:tr h="665480">
                <a:tc>
                  <a:txBody>
                    <a:bodyPr/>
                    <a:lstStyle/>
                    <a:p>
                      <a:r>
                        <a:rPr lang="en-US" altLang="zh-CN" sz="1800" dirty="0"/>
                        <a:t>DHCR</a:t>
                      </a:r>
                      <a:r>
                        <a:rPr lang="zh-CN" altLang="en-US" sz="1800" dirty="0"/>
                        <a:t>比率</a:t>
                      </a:r>
                    </a:p>
                  </a:txBody>
                  <a:tcPr marL="91428" marR="91428" marT="45723" marB="45723">
                    <a:solidFill>
                      <a:schemeClr val="accent1">
                        <a:lumMod val="20000"/>
                        <a:lumOff val="80000"/>
                      </a:schemeClr>
                    </a:solidFill>
                  </a:tcPr>
                </a:tc>
                <a:tc>
                  <a:txBody>
                    <a:bodyPr/>
                    <a:lstStyle/>
                    <a:p>
                      <a:r>
                        <a:rPr lang="zh-CN" altLang="en-US" sz="1800" dirty="0"/>
                        <a:t>轧制计划</a:t>
                      </a:r>
                      <a:r>
                        <a:rPr lang="en-US" altLang="zh-CN" sz="1800" dirty="0"/>
                        <a:t>DHCR</a:t>
                      </a:r>
                      <a:r>
                        <a:rPr lang="zh-CN" altLang="en-US" sz="1800" dirty="0"/>
                        <a:t>板坯数量 </a:t>
                      </a:r>
                      <a:r>
                        <a:rPr lang="en-US" altLang="zh-CN" sz="1800" dirty="0"/>
                        <a:t>/ </a:t>
                      </a:r>
                      <a:r>
                        <a:rPr lang="zh-CN" altLang="en-US" sz="1800" dirty="0"/>
                        <a:t>总轧制计划板坯数量 </a:t>
                      </a:r>
                      <a:r>
                        <a:rPr lang="en-US" altLang="zh-CN" sz="1800" dirty="0"/>
                        <a:t>X 100%</a:t>
                      </a:r>
                      <a:endParaRPr lang="zh-CN" altLang="en-US" sz="1800" dirty="0"/>
                    </a:p>
                  </a:txBody>
                  <a:tcPr marL="91428" marR="91428" marT="45723" marB="45723">
                    <a:solidFill>
                      <a:schemeClr val="accent1">
                        <a:lumMod val="20000"/>
                        <a:lumOff val="80000"/>
                      </a:schemeClr>
                    </a:solidFill>
                  </a:tcPr>
                </a:tc>
                <a:tc>
                  <a:txBody>
                    <a:bodyPr/>
                    <a:lstStyle/>
                    <a:p>
                      <a:r>
                        <a:rPr lang="en-US" altLang="zh-CN" sz="1800" dirty="0"/>
                        <a:t>+0.1</a:t>
                      </a:r>
                      <a:endParaRPr lang="zh-CN" altLang="en-US" sz="1800" dirty="0"/>
                    </a:p>
                  </a:txBody>
                  <a:tcPr marL="91428" marR="91428" marT="45723" marB="45723">
                    <a:solidFill>
                      <a:schemeClr val="accent1">
                        <a:lumMod val="20000"/>
                        <a:lumOff val="80000"/>
                      </a:schemeClr>
                    </a:solidFill>
                  </a:tcPr>
                </a:tc>
                <a:extLst>
                  <a:ext uri="{0D108BD9-81ED-4DB2-BD59-A6C34878D82A}">
                    <a16:rowId xmlns:a16="http://schemas.microsoft.com/office/drawing/2014/main" val="10004"/>
                  </a:ext>
                </a:extLst>
              </a:tr>
              <a:tr h="665157">
                <a:tc>
                  <a:txBody>
                    <a:bodyPr/>
                    <a:lstStyle/>
                    <a:p>
                      <a:r>
                        <a:rPr lang="zh-CN" altLang="en-US" sz="1800" dirty="0"/>
                        <a:t>热装比率</a:t>
                      </a:r>
                    </a:p>
                  </a:txBody>
                  <a:tcPr marL="91428" marR="91428" marT="45723" marB="45723">
                    <a:solidFill>
                      <a:srgbClr val="B9CDE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kern="1200" dirty="0">
                          <a:effectLst/>
                        </a:rPr>
                        <a:t>轧制计划热装板坯数量</a:t>
                      </a:r>
                      <a:r>
                        <a:rPr lang="en-US" altLang="zh-CN" sz="1800" kern="1200" dirty="0">
                          <a:effectLst/>
                        </a:rPr>
                        <a:t> / </a:t>
                      </a:r>
                      <a:r>
                        <a:rPr lang="zh-CN" altLang="zh-CN" sz="1800" kern="1200" dirty="0">
                          <a:effectLst/>
                        </a:rPr>
                        <a:t>总轧制计划板坯数量</a:t>
                      </a:r>
                      <a:r>
                        <a:rPr lang="en-US" altLang="zh-CN" sz="1800" kern="1200" dirty="0">
                          <a:effectLst/>
                        </a:rPr>
                        <a:t> X 100%</a:t>
                      </a:r>
                      <a:endParaRPr lang="zh-CN" altLang="zh-CN" sz="1800" kern="1200" dirty="0">
                        <a:solidFill>
                          <a:schemeClr val="dk1"/>
                        </a:solidFill>
                        <a:effectLst/>
                        <a:latin typeface="+mn-lt"/>
                        <a:ea typeface="+mn-ea"/>
                        <a:cs typeface="+mn-cs"/>
                      </a:endParaRPr>
                    </a:p>
                  </a:txBody>
                  <a:tcPr marL="91428" marR="91428" marT="45723" marB="45723">
                    <a:solidFill>
                      <a:srgbClr val="B9CDE5"/>
                    </a:solidFill>
                  </a:tcPr>
                </a:tc>
                <a:tc>
                  <a:txBody>
                    <a:bodyPr/>
                    <a:lstStyle/>
                    <a:p>
                      <a:r>
                        <a:rPr lang="en-US" altLang="zh-CN" sz="1800" dirty="0"/>
                        <a:t>0</a:t>
                      </a:r>
                      <a:endParaRPr lang="zh-CN" altLang="en-US" sz="1800" dirty="0"/>
                    </a:p>
                  </a:txBody>
                  <a:tcPr marL="91428" marR="91428" marT="45723" marB="45723">
                    <a:solidFill>
                      <a:srgbClr val="B9CDE5"/>
                    </a:solidFill>
                  </a:tcPr>
                </a:tc>
                <a:extLst>
                  <a:ext uri="{0D108BD9-81ED-4DB2-BD59-A6C34878D82A}">
                    <a16:rowId xmlns:a16="http://schemas.microsoft.com/office/drawing/2014/main" val="10005"/>
                  </a:ext>
                </a:extLst>
              </a:tr>
              <a:tr h="421108">
                <a:tc>
                  <a:txBody>
                    <a:bodyPr/>
                    <a:lstStyle/>
                    <a:p>
                      <a:r>
                        <a:rPr lang="zh-CN" altLang="en-US" sz="1800" dirty="0"/>
                        <a:t>计划排程质量（软约束）</a:t>
                      </a:r>
                    </a:p>
                  </a:txBody>
                  <a:tcPr marL="91428" marR="91428" marT="45723" marB="45723">
                    <a:solidFill>
                      <a:schemeClr val="accent1">
                        <a:lumMod val="20000"/>
                        <a:lumOff val="80000"/>
                      </a:schemeClr>
                    </a:solidFill>
                  </a:tcPr>
                </a:tc>
                <a:tc>
                  <a:txBody>
                    <a:bodyPr/>
                    <a:lstStyle/>
                    <a:p>
                      <a:r>
                        <a:rPr lang="zh-CN" altLang="en-US" sz="1800" dirty="0"/>
                        <a:t>根据罚分计算</a:t>
                      </a:r>
                    </a:p>
                  </a:txBody>
                  <a:tcPr marL="91428" marR="91428" marT="45723" marB="45723">
                    <a:solidFill>
                      <a:schemeClr val="accent1">
                        <a:lumMod val="20000"/>
                        <a:lumOff val="80000"/>
                      </a:schemeClr>
                    </a:solidFill>
                  </a:tcPr>
                </a:tc>
                <a:tc>
                  <a:txBody>
                    <a:bodyPr/>
                    <a:lstStyle/>
                    <a:p>
                      <a:r>
                        <a:rPr lang="en-US" altLang="zh-CN" sz="1800" dirty="0"/>
                        <a:t>0.1</a:t>
                      </a:r>
                      <a:endParaRPr lang="zh-CN" altLang="en-US" sz="1800" dirty="0"/>
                    </a:p>
                  </a:txBody>
                  <a:tcPr marL="91428" marR="91428" marT="45723" marB="45723">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
        <p:nvSpPr>
          <p:cNvPr id="2" name="矩形 1"/>
          <p:cNvSpPr/>
          <p:nvPr/>
        </p:nvSpPr>
        <p:spPr>
          <a:xfrm>
            <a:off x="238014" y="505930"/>
            <a:ext cx="2426970" cy="521970"/>
          </a:xfrm>
          <a:prstGeom prst="rect">
            <a:avLst/>
          </a:prstGeom>
        </p:spPr>
        <p:txBody>
          <a:bodyPr wrap="non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zh-CN" altLang="en-US" sz="28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rPr>
              <a:t>优化判断依据</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1520" y="371085"/>
            <a:ext cx="2631440" cy="460375"/>
          </a:xfrm>
          <a:prstGeom prst="rect">
            <a:avLst/>
          </a:prstGeom>
        </p:spPr>
        <p:txBody>
          <a:bodyPr wrap="none">
            <a:spAutoFit/>
          </a:bodyPr>
          <a:lstStyle/>
          <a:p>
            <a:pPr>
              <a:defRPr/>
            </a:pPr>
            <a:r>
              <a:rPr lang="zh-CN" altLang="en-US" sz="2400" b="1" dirty="0">
                <a:latin typeface="幼圆" panose="02010509060101010101" charset="-122"/>
                <a:ea typeface="幼圆" panose="02010509060101010101" charset="-122"/>
              </a:rPr>
              <a:t>优化算法的选择：</a:t>
            </a:r>
          </a:p>
        </p:txBody>
      </p:sp>
      <p:sp>
        <p:nvSpPr>
          <p:cNvPr id="5" name="矩形 4"/>
          <p:cNvSpPr/>
          <p:nvPr/>
        </p:nvSpPr>
        <p:spPr>
          <a:xfrm>
            <a:off x="467544" y="831356"/>
            <a:ext cx="8487035" cy="6000750"/>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t>国内外学者对其进行了很多研究，研究表明单纯使用一种算法来求解大规模的 VRP 问题，很难获得满意的结果，所以求解方法向混合算法发展，做到各个算法的优劣互补。</a:t>
            </a:r>
          </a:p>
          <a:p>
            <a:pPr indent="0">
              <a:lnSpc>
                <a:spcPct val="150000"/>
              </a:lnSpc>
              <a:buFont typeface="Arial" panose="020B0604020202020204" pitchFamily="34" charset="0"/>
              <a:buNone/>
            </a:pPr>
            <a:r>
              <a:rPr lang="zh-CN" altLang="en-US" dirty="0"/>
              <a:t>（</a:t>
            </a:r>
            <a:r>
              <a:rPr lang="en-US" altLang="zh-CN" dirty="0"/>
              <a:t>1</a:t>
            </a:r>
            <a:r>
              <a:rPr lang="zh-CN" altLang="en-US" dirty="0"/>
              <a:t>）采用遗传算法和改进的模拟退火算法进行求解。（运用一些巧妙的双染色体编码、用模拟退火代替变异操作）。</a:t>
            </a:r>
          </a:p>
          <a:p>
            <a:pPr indent="0">
              <a:lnSpc>
                <a:spcPct val="150000"/>
              </a:lnSpc>
              <a:buFont typeface="Arial" panose="020B0604020202020204" pitchFamily="34" charset="0"/>
              <a:buNone/>
            </a:pPr>
            <a:r>
              <a:rPr lang="zh-CN" altLang="en-US" dirty="0"/>
              <a:t>（</a:t>
            </a:r>
            <a:r>
              <a:rPr lang="en-US" altLang="zh-CN" dirty="0"/>
              <a:t>2</a:t>
            </a:r>
            <a:r>
              <a:rPr lang="zh-CN" altLang="en-US" dirty="0"/>
              <a:t>）采用k-opt以及λ-interchange算法，并进行适当改进。</a:t>
            </a:r>
          </a:p>
          <a:p>
            <a:pPr indent="0">
              <a:lnSpc>
                <a:spcPct val="150000"/>
              </a:lnSpc>
              <a:buFont typeface="Arial" panose="020B0604020202020204" pitchFamily="34" charset="0"/>
              <a:buNone/>
            </a:pPr>
            <a:r>
              <a:rPr lang="zh-CN" altLang="en-US" dirty="0"/>
              <a:t>（</a:t>
            </a:r>
            <a:r>
              <a:rPr lang="en-US" altLang="zh-CN" dirty="0"/>
              <a:t>3</a:t>
            </a:r>
            <a:r>
              <a:rPr lang="zh-CN" altLang="en-US" dirty="0"/>
              <a:t>）蚁群算法法应用到路径规划问题中也曾获得成功。</a:t>
            </a:r>
          </a:p>
          <a:p>
            <a:pPr indent="0">
              <a:lnSpc>
                <a:spcPct val="150000"/>
              </a:lnSpc>
              <a:buFont typeface="Arial" panose="020B0604020202020204" pitchFamily="34" charset="0"/>
              <a:buNone/>
            </a:pPr>
            <a:r>
              <a:rPr lang="zh-CN" altLang="en-US" dirty="0"/>
              <a:t>（</a:t>
            </a:r>
            <a:r>
              <a:rPr lang="en-US" altLang="zh-CN" dirty="0"/>
              <a:t>4</a:t>
            </a:r>
            <a:r>
              <a:rPr lang="zh-CN" altLang="en-US" dirty="0"/>
              <a:t>）Clarke-Wright 算法和Sweep 算法。</a:t>
            </a:r>
          </a:p>
          <a:p>
            <a:pPr indent="0">
              <a:lnSpc>
                <a:spcPct val="150000"/>
              </a:lnSpc>
              <a:buFont typeface="Arial" panose="020B0604020202020204" pitchFamily="34" charset="0"/>
              <a:buNone/>
            </a:pPr>
            <a:r>
              <a:rPr lang="en-US" altLang="zh-CN" dirty="0"/>
              <a:t>            ......</a:t>
            </a:r>
            <a:endParaRPr lang="zh-CN" altLang="en-US" dirty="0"/>
          </a:p>
          <a:p>
            <a:pPr indent="0">
              <a:lnSpc>
                <a:spcPct val="150000"/>
              </a:lnSpc>
              <a:buFont typeface="Arial" panose="020B0604020202020204" pitchFamily="34" charset="0"/>
              <a:buNone/>
            </a:pPr>
            <a:r>
              <a:rPr lang="zh-CN" altLang="en-US" dirty="0"/>
              <a:t>    由于VRP 与TSP 存在内在的本质联系, 因此有相当数量的 TSP 的启发式算法在考虑到 VRP 的特点和约束后, 可以用于 VRP。</a:t>
            </a:r>
          </a:p>
          <a:p>
            <a:pPr indent="0">
              <a:lnSpc>
                <a:spcPct val="150000"/>
              </a:lnSpc>
              <a:buFont typeface="Arial" panose="020B0604020202020204" pitchFamily="34" charset="0"/>
              <a:buNone/>
            </a:pPr>
            <a:endParaRPr lang="zh-CN" altLang="en-US" dirty="0"/>
          </a:p>
          <a:p>
            <a:pPr marL="285750" indent="-285750">
              <a:lnSpc>
                <a:spcPct val="150000"/>
              </a:lnSpc>
              <a:buFont typeface="Arial" panose="020B0604020202020204" pitchFamily="34" charset="0"/>
              <a:buChar char="•"/>
            </a:pPr>
            <a:endParaRPr lang="zh-CN" altLang="en-US" sz="2000" b="1" dirty="0">
              <a:solidFill>
                <a:sysClr val="windowText" lastClr="000000"/>
              </a:solidFill>
              <a:latin typeface="楷体_GB2312"/>
              <a:ea typeface="微软雅黑" panose="020B0503020204020204" charset="-122"/>
            </a:endParaRPr>
          </a:p>
          <a:p>
            <a:pPr marL="285750" indent="-285750">
              <a:lnSpc>
                <a:spcPct val="150000"/>
              </a:lnSpc>
              <a:buFont typeface="Arial" panose="020B0604020202020204" pitchFamily="34" charset="0"/>
              <a:buChar char="•"/>
            </a:pPr>
            <a:endParaRPr lang="zh-CN" altLang="en-US" sz="2000" b="1" dirty="0">
              <a:solidFill>
                <a:sysClr val="windowText" lastClr="000000"/>
              </a:solidFill>
              <a:latin typeface="楷体_GB2312"/>
              <a:ea typeface="微软雅黑" panose="020B050302020402020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4596" y="836712"/>
            <a:ext cx="1803400" cy="521970"/>
          </a:xfrm>
          <a:prstGeom prst="rect">
            <a:avLst/>
          </a:prstGeom>
        </p:spPr>
        <p:txBody>
          <a:bodyPr wrap="non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en-US" altLang="zh-CN" sz="2800" b="1" dirty="0"/>
              <a:t>  </a:t>
            </a:r>
            <a:r>
              <a:rPr lang="zh-CN" altLang="en-US" sz="2800" b="1" dirty="0">
                <a:latin typeface="微软雅黑" panose="020B0503020204020204" charset="-122"/>
                <a:ea typeface="微软雅黑" panose="020B0503020204020204" charset="-122"/>
              </a:rPr>
              <a:t>系统设计</a:t>
            </a:r>
          </a:p>
        </p:txBody>
      </p:sp>
      <p:grpSp>
        <p:nvGrpSpPr>
          <p:cNvPr id="10" name="组合 9"/>
          <p:cNvGrpSpPr/>
          <p:nvPr/>
        </p:nvGrpSpPr>
        <p:grpSpPr>
          <a:xfrm>
            <a:off x="290195" y="1264285"/>
            <a:ext cx="8584605" cy="4380865"/>
            <a:chOff x="457" y="1376"/>
            <a:chExt cx="16101" cy="6505"/>
          </a:xfrm>
        </p:grpSpPr>
        <p:sp>
          <p:nvSpPr>
            <p:cNvPr id="11" name="流程图: 过程 10"/>
            <p:cNvSpPr/>
            <p:nvPr/>
          </p:nvSpPr>
          <p:spPr>
            <a:xfrm>
              <a:off x="7960" y="1376"/>
              <a:ext cx="4320" cy="803"/>
            </a:xfrm>
            <a:prstGeom prst="flowChart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a:latin typeface="+mn-ea"/>
                </a:rPr>
                <a:t>热轧批量计划系统</a:t>
              </a:r>
            </a:p>
          </p:txBody>
        </p:sp>
        <p:sp>
          <p:nvSpPr>
            <p:cNvPr id="12" name="流程图: 过程 11"/>
            <p:cNvSpPr/>
            <p:nvPr/>
          </p:nvSpPr>
          <p:spPr>
            <a:xfrm>
              <a:off x="8771" y="6859"/>
              <a:ext cx="2699" cy="1022"/>
            </a:xfrm>
            <a:prstGeom prst="flowChart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600">
                  <a:latin typeface="+mn-ea"/>
                </a:rPr>
                <a:t>进行热轧批量计划编制</a:t>
              </a:r>
            </a:p>
          </p:txBody>
        </p:sp>
        <p:sp>
          <p:nvSpPr>
            <p:cNvPr id="13" name="流程图: 过程 12"/>
            <p:cNvSpPr/>
            <p:nvPr/>
          </p:nvSpPr>
          <p:spPr>
            <a:xfrm>
              <a:off x="15019" y="6859"/>
              <a:ext cx="1539" cy="1022"/>
            </a:xfrm>
            <a:prstGeom prst="flowChart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600">
                  <a:latin typeface="+mn-ea"/>
                </a:rPr>
                <a:t>结果可视化</a:t>
              </a:r>
            </a:p>
          </p:txBody>
        </p:sp>
        <p:sp>
          <p:nvSpPr>
            <p:cNvPr id="14" name="流程图: 过程 13"/>
            <p:cNvSpPr/>
            <p:nvPr/>
          </p:nvSpPr>
          <p:spPr>
            <a:xfrm>
              <a:off x="457" y="6859"/>
              <a:ext cx="3086" cy="1022"/>
            </a:xfrm>
            <a:prstGeom prst="flowChart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1600">
                  <a:latin typeface="+mn-ea"/>
                </a:rPr>
                <a:t>IPS_</a:t>
              </a:r>
              <a:r>
                <a:rPr lang="zh-CN" altLang="en-US" sz="1600">
                  <a:latin typeface="+mn-ea"/>
                </a:rPr>
                <a:t>热轧模型输入材料临时表</a:t>
              </a:r>
            </a:p>
          </p:txBody>
        </p:sp>
        <p:sp>
          <p:nvSpPr>
            <p:cNvPr id="15" name="流程图: 过程 14"/>
            <p:cNvSpPr/>
            <p:nvPr/>
          </p:nvSpPr>
          <p:spPr>
            <a:xfrm>
              <a:off x="12829" y="3847"/>
              <a:ext cx="3513" cy="803"/>
            </a:xfrm>
            <a:prstGeom prst="flowChart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a:latin typeface="+mn-ea"/>
                </a:rPr>
                <a:t>结果查询与分析</a:t>
              </a:r>
            </a:p>
          </p:txBody>
        </p:sp>
        <p:sp>
          <p:nvSpPr>
            <p:cNvPr id="16" name="流程图: 过程 15"/>
            <p:cNvSpPr/>
            <p:nvPr/>
          </p:nvSpPr>
          <p:spPr>
            <a:xfrm>
              <a:off x="2871" y="3847"/>
              <a:ext cx="3970" cy="803"/>
            </a:xfrm>
            <a:prstGeom prst="flowChart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a:latin typeface="+mn-ea"/>
                </a:rPr>
                <a:t>基础数据管理</a:t>
              </a:r>
            </a:p>
          </p:txBody>
        </p:sp>
        <p:sp>
          <p:nvSpPr>
            <p:cNvPr id="17" name="流程图: 过程 16"/>
            <p:cNvSpPr/>
            <p:nvPr/>
          </p:nvSpPr>
          <p:spPr>
            <a:xfrm>
              <a:off x="12829" y="6859"/>
              <a:ext cx="1867" cy="1022"/>
            </a:xfrm>
            <a:prstGeom prst="flowChart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600">
                  <a:latin typeface="+mn-ea"/>
                </a:rPr>
                <a:t>查询编制结果</a:t>
              </a:r>
            </a:p>
          </p:txBody>
        </p:sp>
        <p:sp>
          <p:nvSpPr>
            <p:cNvPr id="18" name="流程图: 过程 17"/>
            <p:cNvSpPr/>
            <p:nvPr/>
          </p:nvSpPr>
          <p:spPr>
            <a:xfrm>
              <a:off x="6165" y="6859"/>
              <a:ext cx="1970" cy="1022"/>
            </a:xfrm>
            <a:prstGeom prst="flowChart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600">
                  <a:latin typeface="+mn-ea"/>
                </a:rPr>
                <a:t>热轧</a:t>
              </a:r>
              <a:r>
                <a:rPr lang="en-US" altLang="zh-CN" sz="1600">
                  <a:latin typeface="+mn-ea"/>
                </a:rPr>
                <a:t>_</a:t>
              </a:r>
              <a:r>
                <a:rPr lang="zh-CN" altLang="en-US" sz="1600">
                  <a:latin typeface="+mn-ea"/>
                </a:rPr>
                <a:t>流向匹配表</a:t>
              </a:r>
            </a:p>
          </p:txBody>
        </p:sp>
        <p:sp>
          <p:nvSpPr>
            <p:cNvPr id="20" name="流程图: 过程 19"/>
            <p:cNvSpPr/>
            <p:nvPr/>
          </p:nvSpPr>
          <p:spPr>
            <a:xfrm>
              <a:off x="8574" y="3847"/>
              <a:ext cx="3094" cy="803"/>
            </a:xfrm>
            <a:prstGeom prst="flowChart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a:latin typeface="+mn-ea"/>
                </a:rPr>
                <a:t>执行编制</a:t>
              </a:r>
            </a:p>
          </p:txBody>
        </p:sp>
        <p:sp>
          <p:nvSpPr>
            <p:cNvPr id="22" name="流程图: 过程 21"/>
            <p:cNvSpPr/>
            <p:nvPr/>
          </p:nvSpPr>
          <p:spPr>
            <a:xfrm>
              <a:off x="3807" y="6859"/>
              <a:ext cx="2099" cy="1022"/>
            </a:xfrm>
            <a:prstGeom prst="flowChart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1600">
                  <a:latin typeface="+mn-ea"/>
                  <a:sym typeface="+mn-ea"/>
                </a:rPr>
                <a:t>IPS_</a:t>
              </a:r>
              <a:r>
                <a:rPr lang="zh-CN" altLang="en-US" sz="1600">
                  <a:latin typeface="+mn-ea"/>
                  <a:sym typeface="+mn-ea"/>
                </a:rPr>
                <a:t>段衔接规则表</a:t>
              </a:r>
            </a:p>
          </p:txBody>
        </p:sp>
        <p:cxnSp>
          <p:nvCxnSpPr>
            <p:cNvPr id="24" name="肘形连接符 23"/>
            <p:cNvCxnSpPr>
              <a:stCxn id="11" idx="2"/>
              <a:endCxn id="20" idx="0"/>
            </p:cNvCxnSpPr>
            <p:nvPr/>
          </p:nvCxnSpPr>
          <p:spPr>
            <a:xfrm rot="5400000" flipV="1">
              <a:off x="9287" y="3013"/>
              <a:ext cx="1668" cy="1"/>
            </a:xfrm>
            <a:prstGeom prst="bentConnector3">
              <a:avLst>
                <a:gd name="adj1" fmla="val 49970"/>
              </a:avLst>
            </a:prstGeom>
            <a:ln>
              <a:tailEnd type="arrow" w="med" len="med"/>
            </a:ln>
          </p:spPr>
          <p:style>
            <a:lnRef idx="1">
              <a:schemeClr val="accent1"/>
            </a:lnRef>
            <a:fillRef idx="2">
              <a:schemeClr val="accent1"/>
            </a:fillRef>
            <a:effectRef idx="1">
              <a:schemeClr val="accent1"/>
            </a:effectRef>
            <a:fontRef idx="minor">
              <a:schemeClr val="dk1"/>
            </a:fontRef>
          </p:style>
        </p:cxnSp>
        <p:cxnSp>
          <p:nvCxnSpPr>
            <p:cNvPr id="25" name="直接箭头连接符 24"/>
            <p:cNvCxnSpPr>
              <a:stCxn id="20" idx="2"/>
              <a:endCxn id="12" idx="0"/>
            </p:cNvCxnSpPr>
            <p:nvPr/>
          </p:nvCxnSpPr>
          <p:spPr>
            <a:xfrm>
              <a:off x="10121" y="4650"/>
              <a:ext cx="0" cy="2209"/>
            </a:xfrm>
            <a:prstGeom prst="straightConnector1">
              <a:avLst/>
            </a:prstGeom>
            <a:ln>
              <a:tailEnd type="arrow" w="med" len="med"/>
            </a:ln>
          </p:spPr>
          <p:style>
            <a:lnRef idx="1">
              <a:schemeClr val="accent1"/>
            </a:lnRef>
            <a:fillRef idx="2">
              <a:schemeClr val="accent1"/>
            </a:fillRef>
            <a:effectRef idx="1">
              <a:schemeClr val="accent1"/>
            </a:effectRef>
            <a:fontRef idx="minor">
              <a:schemeClr val="dk1"/>
            </a:fontRef>
          </p:style>
        </p:cxnSp>
        <p:cxnSp>
          <p:nvCxnSpPr>
            <p:cNvPr id="26" name="直接箭头连接符 25"/>
            <p:cNvCxnSpPr>
              <a:stCxn id="16" idx="2"/>
              <a:endCxn id="22" idx="0"/>
            </p:cNvCxnSpPr>
            <p:nvPr/>
          </p:nvCxnSpPr>
          <p:spPr>
            <a:xfrm>
              <a:off x="4856" y="4650"/>
              <a:ext cx="1" cy="2209"/>
            </a:xfrm>
            <a:prstGeom prst="straightConnector1">
              <a:avLst/>
            </a:prstGeom>
            <a:ln>
              <a:tailEnd type="arrow" w="med" len="med"/>
            </a:ln>
          </p:spPr>
          <p:style>
            <a:lnRef idx="1">
              <a:schemeClr val="accent1"/>
            </a:lnRef>
            <a:fillRef idx="2">
              <a:schemeClr val="accent1"/>
            </a:fillRef>
            <a:effectRef idx="1">
              <a:schemeClr val="accent1"/>
            </a:effectRef>
            <a:fontRef idx="minor">
              <a:schemeClr val="dk1"/>
            </a:fontRef>
          </p:style>
        </p:cxnSp>
        <p:cxnSp>
          <p:nvCxnSpPr>
            <p:cNvPr id="27" name="肘形连接符 26"/>
            <p:cNvCxnSpPr>
              <a:stCxn id="14" idx="0"/>
              <a:endCxn id="18" idx="0"/>
            </p:cNvCxnSpPr>
            <p:nvPr/>
          </p:nvCxnSpPr>
          <p:spPr>
            <a:xfrm rot="16200000">
              <a:off x="4576" y="4284"/>
              <a:ext cx="5" cy="5150"/>
            </a:xfrm>
            <a:prstGeom prst="bentConnector3">
              <a:avLst>
                <a:gd name="adj1" fmla="val 7550000"/>
              </a:avLst>
            </a:prstGeom>
            <a:ln>
              <a:headEnd type="arrow" w="med" len="med"/>
              <a:tailEnd type="arrow" w="med" len="med"/>
            </a:ln>
          </p:spPr>
          <p:style>
            <a:lnRef idx="1">
              <a:schemeClr val="accent1"/>
            </a:lnRef>
            <a:fillRef idx="2">
              <a:schemeClr val="accent1"/>
            </a:fillRef>
            <a:effectRef idx="1">
              <a:schemeClr val="accent1"/>
            </a:effectRef>
            <a:fontRef idx="minor">
              <a:schemeClr val="dk1"/>
            </a:fontRef>
          </p:style>
        </p:cxnSp>
        <p:cxnSp>
          <p:nvCxnSpPr>
            <p:cNvPr id="29" name="肘形连接符 28"/>
            <p:cNvCxnSpPr>
              <a:stCxn id="17" idx="0"/>
              <a:endCxn id="13" idx="0"/>
            </p:cNvCxnSpPr>
            <p:nvPr/>
          </p:nvCxnSpPr>
          <p:spPr>
            <a:xfrm rot="16200000">
              <a:off x="14776" y="5846"/>
              <a:ext cx="5" cy="2026"/>
            </a:xfrm>
            <a:prstGeom prst="bentConnector3">
              <a:avLst>
                <a:gd name="adj1" fmla="val 16310000"/>
              </a:avLst>
            </a:prstGeom>
            <a:ln>
              <a:headEnd type="arrow" w="med" len="med"/>
              <a:tailEnd type="arrow" w="med" len="med"/>
            </a:ln>
          </p:spPr>
          <p:style>
            <a:lnRef idx="1">
              <a:schemeClr val="accent1"/>
            </a:lnRef>
            <a:fillRef idx="2">
              <a:schemeClr val="accent1"/>
            </a:fillRef>
            <a:effectRef idx="1">
              <a:schemeClr val="accent1"/>
            </a:effectRef>
            <a:fontRef idx="minor">
              <a:schemeClr val="dk1"/>
            </a:fontRef>
          </p:style>
        </p:cxnSp>
        <p:cxnSp>
          <p:nvCxnSpPr>
            <p:cNvPr id="31" name="直接连接符 30"/>
            <p:cNvCxnSpPr/>
            <p:nvPr/>
          </p:nvCxnSpPr>
          <p:spPr>
            <a:xfrm flipV="1">
              <a:off x="14776" y="4650"/>
              <a:ext cx="2" cy="1373"/>
            </a:xfrm>
            <a:prstGeom prst="line">
              <a:avLst/>
            </a:prstGeom>
          </p:spPr>
          <p:style>
            <a:lnRef idx="1">
              <a:schemeClr val="accent1"/>
            </a:lnRef>
            <a:fillRef idx="2">
              <a:schemeClr val="accent1"/>
            </a:fillRef>
            <a:effectRef idx="1">
              <a:schemeClr val="accent1"/>
            </a:effectRef>
            <a:fontRef idx="minor">
              <a:schemeClr val="dk1"/>
            </a:fontRef>
          </p:style>
        </p:cxnSp>
        <p:cxnSp>
          <p:nvCxnSpPr>
            <p:cNvPr id="32" name="肘形连接符 31"/>
            <p:cNvCxnSpPr>
              <a:stCxn id="16" idx="0"/>
              <a:endCxn id="15" idx="0"/>
            </p:cNvCxnSpPr>
            <p:nvPr/>
          </p:nvCxnSpPr>
          <p:spPr>
            <a:xfrm rot="16200000">
              <a:off x="9722" y="-1017"/>
              <a:ext cx="5" cy="9729"/>
            </a:xfrm>
            <a:prstGeom prst="bentConnector3">
              <a:avLst>
                <a:gd name="adj1" fmla="val 7560000"/>
              </a:avLst>
            </a:prstGeom>
            <a:ln>
              <a:headEnd type="arrow" w="med" len="med"/>
              <a:tailEnd type="arrow" w="med" len="med"/>
            </a:ln>
          </p:spPr>
          <p:style>
            <a:lnRef idx="1">
              <a:schemeClr val="accent1"/>
            </a:lnRef>
            <a:fillRef idx="2">
              <a:schemeClr val="accent1"/>
            </a:fillRef>
            <a:effectRef idx="1">
              <a:schemeClr val="accent1"/>
            </a:effectRef>
            <a:fontRef idx="minor">
              <a:schemeClr val="dk1"/>
            </a:fontRef>
          </p:style>
        </p:cxnSp>
      </p:gr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p:cNvPicPr>
            <a:picLocks noChangeAspect="1" noChangeArrowheads="1"/>
          </p:cNvPicPr>
          <p:nvPr/>
        </p:nvPicPr>
        <p:blipFill rotWithShape="1">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767" r="7205" b="57679"/>
          <a:stretch>
            <a:fillRect/>
          </a:stretch>
        </p:blipFill>
        <p:spPr bwMode="auto">
          <a:xfrm rot="10800000">
            <a:off x="971600" y="4221088"/>
            <a:ext cx="7272808" cy="469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3"/>
          <p:cNvPicPr>
            <a:picLocks noChangeAspect="1" noChangeArrowheads="1"/>
          </p:cNvPicPr>
          <p:nvPr/>
        </p:nvPicPr>
        <p:blipFill rotWithShape="1">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767" r="7205" b="57679"/>
          <a:stretch>
            <a:fillRect/>
          </a:stretch>
        </p:blipFill>
        <p:spPr bwMode="auto">
          <a:xfrm rot="10800000" flipV="1">
            <a:off x="957113" y="2132856"/>
            <a:ext cx="7272808" cy="469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TextBox 17"/>
          <p:cNvSpPr txBox="1"/>
          <p:nvPr/>
        </p:nvSpPr>
        <p:spPr>
          <a:xfrm>
            <a:off x="3491879" y="3166165"/>
            <a:ext cx="2880321" cy="583565"/>
          </a:xfrm>
          <a:prstGeom prst="rect">
            <a:avLst/>
          </a:prstGeom>
          <a:noFill/>
        </p:spPr>
        <p:txBody>
          <a:bodyPr wrap="square" rtlCol="0">
            <a:spAutoFit/>
          </a:bodyPr>
          <a:lstStyle/>
          <a:p>
            <a:pPr algn="ctr"/>
            <a:r>
              <a:rPr lang="zh-CN" altLang="en-US" sz="3200" b="1" dirty="0">
                <a:solidFill>
                  <a:srgbClr val="072063"/>
                </a:solidFill>
              </a:rPr>
              <a:t>预期</a:t>
            </a:r>
            <a:r>
              <a:rPr lang="zh-CN" altLang="en-US" sz="3200" b="1" dirty="0">
                <a:solidFill>
                  <a:srgbClr val="072063"/>
                </a:solidFill>
                <a:sym typeface="+mn-ea"/>
              </a:rPr>
              <a:t>研究</a:t>
            </a:r>
            <a:r>
              <a:rPr lang="zh-CN" altLang="en-US" sz="3200" b="1" dirty="0">
                <a:solidFill>
                  <a:srgbClr val="072063"/>
                </a:solidFill>
              </a:rPr>
              <a:t>成果</a:t>
            </a:r>
          </a:p>
        </p:txBody>
      </p:sp>
      <p:grpSp>
        <p:nvGrpSpPr>
          <p:cNvPr id="2" name="组合 1"/>
          <p:cNvGrpSpPr/>
          <p:nvPr/>
        </p:nvGrpSpPr>
        <p:grpSpPr>
          <a:xfrm>
            <a:off x="2195736" y="2826386"/>
            <a:ext cx="1224137" cy="1247042"/>
            <a:chOff x="2195736" y="2826386"/>
            <a:chExt cx="1224137" cy="1247042"/>
          </a:xfrm>
        </p:grpSpPr>
        <p:sp>
          <p:nvSpPr>
            <p:cNvPr id="19" name="椭圆 18"/>
            <p:cNvSpPr/>
            <p:nvPr/>
          </p:nvSpPr>
          <p:spPr>
            <a:xfrm>
              <a:off x="2195736" y="3683124"/>
              <a:ext cx="1224137" cy="390304"/>
            </a:xfrm>
            <a:prstGeom prst="ellipse">
              <a:avLst/>
            </a:prstGeom>
            <a:gradFill flip="none" rotWithShape="1">
              <a:gsLst>
                <a:gs pos="0">
                  <a:schemeClr val="tx1">
                    <a:alpha val="68000"/>
                  </a:schemeClr>
                </a:gs>
                <a:gs pos="100000">
                  <a:schemeClr val="tx1">
                    <a:lumMod val="65000"/>
                    <a:lumOff val="35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nvGrpSpPr>
            <p:cNvPr id="20" name="组合 19"/>
            <p:cNvGrpSpPr/>
            <p:nvPr/>
          </p:nvGrpSpPr>
          <p:grpSpPr>
            <a:xfrm>
              <a:off x="2277269" y="2826386"/>
              <a:ext cx="1089990" cy="1089990"/>
              <a:chOff x="2627784" y="4109017"/>
              <a:chExt cx="605681" cy="605681"/>
            </a:xfrm>
          </p:grpSpPr>
          <p:sp>
            <p:nvSpPr>
              <p:cNvPr id="21" name="椭圆 20"/>
              <p:cNvSpPr/>
              <p:nvPr/>
            </p:nvSpPr>
            <p:spPr>
              <a:xfrm>
                <a:off x="2627784" y="4109017"/>
                <a:ext cx="605681" cy="605681"/>
              </a:xfrm>
              <a:prstGeom prst="ellipse">
                <a:avLst/>
              </a:prstGeom>
              <a:solidFill>
                <a:srgbClr val="0720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lumMod val="65000"/>
                      <a:lumOff val="35000"/>
                    </a:schemeClr>
                  </a:solidFill>
                </a:endParaRPr>
              </a:p>
            </p:txBody>
          </p:sp>
          <p:grpSp>
            <p:nvGrpSpPr>
              <p:cNvPr id="22" name="Group 44"/>
              <p:cNvGrpSpPr>
                <a:grpSpLocks noChangeAspect="1"/>
              </p:cNvGrpSpPr>
              <p:nvPr/>
            </p:nvGrpSpPr>
            <p:grpSpPr bwMode="auto">
              <a:xfrm>
                <a:off x="2778843" y="4259646"/>
                <a:ext cx="303562" cy="304422"/>
                <a:chOff x="199" y="871"/>
                <a:chExt cx="707" cy="709"/>
              </a:xfrm>
            </p:grpSpPr>
            <p:sp>
              <p:nvSpPr>
                <p:cNvPr id="23" name="Freeform 45"/>
                <p:cNvSpPr>
                  <a:spLocks noEditPoints="1"/>
                </p:cNvSpPr>
                <p:nvPr/>
              </p:nvSpPr>
              <p:spPr bwMode="auto">
                <a:xfrm>
                  <a:off x="240" y="1247"/>
                  <a:ext cx="635" cy="333"/>
                </a:xfrm>
                <a:custGeom>
                  <a:avLst/>
                  <a:gdLst>
                    <a:gd name="T0" fmla="*/ 269 w 269"/>
                    <a:gd name="T1" fmla="*/ 0 h 141"/>
                    <a:gd name="T2" fmla="*/ 269 w 269"/>
                    <a:gd name="T3" fmla="*/ 109 h 141"/>
                    <a:gd name="T4" fmla="*/ 237 w 269"/>
                    <a:gd name="T5" fmla="*/ 141 h 141"/>
                    <a:gd name="T6" fmla="*/ 32 w 269"/>
                    <a:gd name="T7" fmla="*/ 141 h 141"/>
                    <a:gd name="T8" fmla="*/ 0 w 269"/>
                    <a:gd name="T9" fmla="*/ 109 h 141"/>
                    <a:gd name="T10" fmla="*/ 0 w 269"/>
                    <a:gd name="T11" fmla="*/ 0 h 141"/>
                    <a:gd name="T12" fmla="*/ 269 w 269"/>
                    <a:gd name="T13" fmla="*/ 0 h 141"/>
                    <a:gd name="T14" fmla="*/ 255 w 269"/>
                    <a:gd name="T15" fmla="*/ 13 h 141"/>
                    <a:gd name="T16" fmla="*/ 14 w 269"/>
                    <a:gd name="T17" fmla="*/ 13 h 141"/>
                    <a:gd name="T18" fmla="*/ 14 w 269"/>
                    <a:gd name="T19" fmla="*/ 108 h 141"/>
                    <a:gd name="T20" fmla="*/ 34 w 269"/>
                    <a:gd name="T21" fmla="*/ 128 h 141"/>
                    <a:gd name="T22" fmla="*/ 235 w 269"/>
                    <a:gd name="T23" fmla="*/ 128 h 141"/>
                    <a:gd name="T24" fmla="*/ 255 w 269"/>
                    <a:gd name="T25" fmla="*/ 108 h 141"/>
                    <a:gd name="T26" fmla="*/ 255 w 269"/>
                    <a:gd name="T27" fmla="*/ 13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9" h="141">
                      <a:moveTo>
                        <a:pt x="269" y="0"/>
                      </a:moveTo>
                      <a:cubicBezTo>
                        <a:pt x="269" y="109"/>
                        <a:pt x="269" y="109"/>
                        <a:pt x="269" y="109"/>
                      </a:cubicBezTo>
                      <a:cubicBezTo>
                        <a:pt x="269" y="127"/>
                        <a:pt x="254" y="141"/>
                        <a:pt x="237" y="141"/>
                      </a:cubicBezTo>
                      <a:cubicBezTo>
                        <a:pt x="32" y="141"/>
                        <a:pt x="32" y="141"/>
                        <a:pt x="32" y="141"/>
                      </a:cubicBezTo>
                      <a:cubicBezTo>
                        <a:pt x="15" y="141"/>
                        <a:pt x="0" y="127"/>
                        <a:pt x="0" y="109"/>
                      </a:cubicBezTo>
                      <a:cubicBezTo>
                        <a:pt x="0" y="0"/>
                        <a:pt x="0" y="0"/>
                        <a:pt x="0" y="0"/>
                      </a:cubicBezTo>
                      <a:cubicBezTo>
                        <a:pt x="269" y="0"/>
                        <a:pt x="269" y="0"/>
                        <a:pt x="269" y="0"/>
                      </a:cubicBezTo>
                      <a:moveTo>
                        <a:pt x="255" y="13"/>
                      </a:moveTo>
                      <a:cubicBezTo>
                        <a:pt x="14" y="13"/>
                        <a:pt x="14" y="13"/>
                        <a:pt x="14" y="13"/>
                      </a:cubicBezTo>
                      <a:cubicBezTo>
                        <a:pt x="14" y="108"/>
                        <a:pt x="14" y="108"/>
                        <a:pt x="14" y="108"/>
                      </a:cubicBezTo>
                      <a:cubicBezTo>
                        <a:pt x="14" y="119"/>
                        <a:pt x="23" y="128"/>
                        <a:pt x="34" y="128"/>
                      </a:cubicBezTo>
                      <a:cubicBezTo>
                        <a:pt x="235" y="128"/>
                        <a:pt x="235" y="128"/>
                        <a:pt x="235" y="128"/>
                      </a:cubicBezTo>
                      <a:cubicBezTo>
                        <a:pt x="246" y="128"/>
                        <a:pt x="255" y="119"/>
                        <a:pt x="255" y="108"/>
                      </a:cubicBezTo>
                      <a:cubicBezTo>
                        <a:pt x="255" y="13"/>
                        <a:pt x="255" y="13"/>
                        <a:pt x="255" y="1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46"/>
                <p:cNvSpPr/>
                <p:nvPr/>
              </p:nvSpPr>
              <p:spPr bwMode="auto">
                <a:xfrm>
                  <a:off x="240" y="1136"/>
                  <a:ext cx="635" cy="97"/>
                </a:xfrm>
                <a:custGeom>
                  <a:avLst/>
                  <a:gdLst>
                    <a:gd name="T0" fmla="*/ 269 w 269"/>
                    <a:gd name="T1" fmla="*/ 41 h 41"/>
                    <a:gd name="T2" fmla="*/ 269 w 269"/>
                    <a:gd name="T3" fmla="*/ 32 h 41"/>
                    <a:gd name="T4" fmla="*/ 237 w 269"/>
                    <a:gd name="T5" fmla="*/ 0 h 41"/>
                    <a:gd name="T6" fmla="*/ 32 w 269"/>
                    <a:gd name="T7" fmla="*/ 0 h 41"/>
                    <a:gd name="T8" fmla="*/ 0 w 269"/>
                    <a:gd name="T9" fmla="*/ 32 h 41"/>
                    <a:gd name="T10" fmla="*/ 0 w 269"/>
                    <a:gd name="T11" fmla="*/ 41 h 41"/>
                    <a:gd name="T12" fmla="*/ 269 w 269"/>
                    <a:gd name="T13" fmla="*/ 41 h 41"/>
                  </a:gdLst>
                  <a:ahLst/>
                  <a:cxnLst>
                    <a:cxn ang="0">
                      <a:pos x="T0" y="T1"/>
                    </a:cxn>
                    <a:cxn ang="0">
                      <a:pos x="T2" y="T3"/>
                    </a:cxn>
                    <a:cxn ang="0">
                      <a:pos x="T4" y="T5"/>
                    </a:cxn>
                    <a:cxn ang="0">
                      <a:pos x="T6" y="T7"/>
                    </a:cxn>
                    <a:cxn ang="0">
                      <a:pos x="T8" y="T9"/>
                    </a:cxn>
                    <a:cxn ang="0">
                      <a:pos x="T10" y="T11"/>
                    </a:cxn>
                    <a:cxn ang="0">
                      <a:pos x="T12" y="T13"/>
                    </a:cxn>
                  </a:cxnLst>
                  <a:rect l="0" t="0" r="r" b="b"/>
                  <a:pathLst>
                    <a:path w="269" h="41">
                      <a:moveTo>
                        <a:pt x="269" y="41"/>
                      </a:moveTo>
                      <a:cubicBezTo>
                        <a:pt x="269" y="32"/>
                        <a:pt x="269" y="32"/>
                        <a:pt x="269" y="32"/>
                      </a:cubicBezTo>
                      <a:cubicBezTo>
                        <a:pt x="269" y="14"/>
                        <a:pt x="254" y="0"/>
                        <a:pt x="237" y="0"/>
                      </a:cubicBezTo>
                      <a:cubicBezTo>
                        <a:pt x="32" y="0"/>
                        <a:pt x="32" y="0"/>
                        <a:pt x="32" y="0"/>
                      </a:cubicBezTo>
                      <a:cubicBezTo>
                        <a:pt x="15" y="0"/>
                        <a:pt x="0" y="14"/>
                        <a:pt x="0" y="32"/>
                      </a:cubicBezTo>
                      <a:cubicBezTo>
                        <a:pt x="0" y="41"/>
                        <a:pt x="0" y="41"/>
                        <a:pt x="0" y="41"/>
                      </a:cubicBezTo>
                      <a:lnTo>
                        <a:pt x="269" y="4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47"/>
                <p:cNvSpPr/>
                <p:nvPr/>
              </p:nvSpPr>
              <p:spPr bwMode="auto">
                <a:xfrm>
                  <a:off x="199" y="871"/>
                  <a:ext cx="213" cy="210"/>
                </a:xfrm>
                <a:custGeom>
                  <a:avLst/>
                  <a:gdLst>
                    <a:gd name="T0" fmla="*/ 39 w 90"/>
                    <a:gd name="T1" fmla="*/ 2 h 89"/>
                    <a:gd name="T2" fmla="*/ 56 w 90"/>
                    <a:gd name="T3" fmla="*/ 35 h 89"/>
                    <a:gd name="T4" fmla="*/ 47 w 90"/>
                    <a:gd name="T5" fmla="*/ 50 h 89"/>
                    <a:gd name="T6" fmla="*/ 30 w 90"/>
                    <a:gd name="T7" fmla="*/ 49 h 89"/>
                    <a:gd name="T8" fmla="*/ 13 w 90"/>
                    <a:gd name="T9" fmla="*/ 16 h 89"/>
                    <a:gd name="T10" fmla="*/ 8 w 90"/>
                    <a:gd name="T11" fmla="*/ 62 h 89"/>
                    <a:gd name="T12" fmla="*/ 62 w 90"/>
                    <a:gd name="T13" fmla="*/ 78 h 89"/>
                    <a:gd name="T14" fmla="*/ 79 w 90"/>
                    <a:gd name="T15" fmla="*/ 23 h 89"/>
                    <a:gd name="T16" fmla="*/ 39 w 90"/>
                    <a:gd name="T17" fmla="*/ 2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89">
                      <a:moveTo>
                        <a:pt x="39" y="2"/>
                      </a:moveTo>
                      <a:cubicBezTo>
                        <a:pt x="56" y="35"/>
                        <a:pt x="56" y="35"/>
                        <a:pt x="56" y="35"/>
                      </a:cubicBezTo>
                      <a:cubicBezTo>
                        <a:pt x="47" y="50"/>
                        <a:pt x="47" y="50"/>
                        <a:pt x="47" y="50"/>
                      </a:cubicBezTo>
                      <a:cubicBezTo>
                        <a:pt x="30" y="49"/>
                        <a:pt x="30" y="49"/>
                        <a:pt x="30" y="49"/>
                      </a:cubicBezTo>
                      <a:cubicBezTo>
                        <a:pt x="13" y="16"/>
                        <a:pt x="13" y="16"/>
                        <a:pt x="13" y="16"/>
                      </a:cubicBezTo>
                      <a:cubicBezTo>
                        <a:pt x="2" y="28"/>
                        <a:pt x="0" y="46"/>
                        <a:pt x="8" y="62"/>
                      </a:cubicBezTo>
                      <a:cubicBezTo>
                        <a:pt x="18" y="81"/>
                        <a:pt x="43" y="89"/>
                        <a:pt x="62" y="78"/>
                      </a:cubicBezTo>
                      <a:cubicBezTo>
                        <a:pt x="82" y="68"/>
                        <a:pt x="90" y="43"/>
                        <a:pt x="79" y="23"/>
                      </a:cubicBezTo>
                      <a:cubicBezTo>
                        <a:pt x="71" y="8"/>
                        <a:pt x="55" y="0"/>
                        <a:pt x="39" y="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48"/>
                <p:cNvSpPr/>
                <p:nvPr/>
              </p:nvSpPr>
              <p:spPr bwMode="auto">
                <a:xfrm>
                  <a:off x="303" y="1018"/>
                  <a:ext cx="123" cy="108"/>
                </a:xfrm>
                <a:custGeom>
                  <a:avLst/>
                  <a:gdLst>
                    <a:gd name="T0" fmla="*/ 123 w 123"/>
                    <a:gd name="T1" fmla="*/ 108 h 108"/>
                    <a:gd name="T2" fmla="*/ 64 w 123"/>
                    <a:gd name="T3" fmla="*/ 0 h 108"/>
                    <a:gd name="T4" fmla="*/ 0 w 123"/>
                    <a:gd name="T5" fmla="*/ 33 h 108"/>
                    <a:gd name="T6" fmla="*/ 41 w 123"/>
                    <a:gd name="T7" fmla="*/ 108 h 108"/>
                    <a:gd name="T8" fmla="*/ 123 w 123"/>
                    <a:gd name="T9" fmla="*/ 108 h 108"/>
                  </a:gdLst>
                  <a:ahLst/>
                  <a:cxnLst>
                    <a:cxn ang="0">
                      <a:pos x="T0" y="T1"/>
                    </a:cxn>
                    <a:cxn ang="0">
                      <a:pos x="T2" y="T3"/>
                    </a:cxn>
                    <a:cxn ang="0">
                      <a:pos x="T4" y="T5"/>
                    </a:cxn>
                    <a:cxn ang="0">
                      <a:pos x="T6" y="T7"/>
                    </a:cxn>
                    <a:cxn ang="0">
                      <a:pos x="T8" y="T9"/>
                    </a:cxn>
                  </a:cxnLst>
                  <a:rect l="0" t="0" r="r" b="b"/>
                  <a:pathLst>
                    <a:path w="123" h="108">
                      <a:moveTo>
                        <a:pt x="123" y="108"/>
                      </a:moveTo>
                      <a:lnTo>
                        <a:pt x="64" y="0"/>
                      </a:lnTo>
                      <a:lnTo>
                        <a:pt x="0" y="33"/>
                      </a:lnTo>
                      <a:lnTo>
                        <a:pt x="41" y="108"/>
                      </a:lnTo>
                      <a:lnTo>
                        <a:pt x="123" y="10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49"/>
                <p:cNvSpPr/>
                <p:nvPr/>
              </p:nvSpPr>
              <p:spPr bwMode="auto">
                <a:xfrm>
                  <a:off x="476" y="975"/>
                  <a:ext cx="184" cy="151"/>
                </a:xfrm>
                <a:custGeom>
                  <a:avLst/>
                  <a:gdLst>
                    <a:gd name="T0" fmla="*/ 71 w 78"/>
                    <a:gd name="T1" fmla="*/ 25 h 64"/>
                    <a:gd name="T2" fmla="*/ 24 w 78"/>
                    <a:gd name="T3" fmla="*/ 8 h 64"/>
                    <a:gd name="T4" fmla="*/ 8 w 78"/>
                    <a:gd name="T5" fmla="*/ 55 h 64"/>
                    <a:gd name="T6" fmla="*/ 14 w 78"/>
                    <a:gd name="T7" fmla="*/ 64 h 64"/>
                    <a:gd name="T8" fmla="*/ 31 w 78"/>
                    <a:gd name="T9" fmla="*/ 64 h 64"/>
                    <a:gd name="T10" fmla="*/ 16 w 78"/>
                    <a:gd name="T11" fmla="*/ 51 h 64"/>
                    <a:gd name="T12" fmla="*/ 28 w 78"/>
                    <a:gd name="T13" fmla="*/ 17 h 64"/>
                    <a:gd name="T14" fmla="*/ 63 w 78"/>
                    <a:gd name="T15" fmla="*/ 29 h 64"/>
                    <a:gd name="T16" fmla="*/ 51 w 78"/>
                    <a:gd name="T17" fmla="*/ 63 h 64"/>
                    <a:gd name="T18" fmla="*/ 48 w 78"/>
                    <a:gd name="T19" fmla="*/ 64 h 64"/>
                    <a:gd name="T20" fmla="*/ 65 w 78"/>
                    <a:gd name="T21" fmla="*/ 64 h 64"/>
                    <a:gd name="T22" fmla="*/ 71 w 78"/>
                    <a:gd name="T23" fmla="*/ 25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8" h="64">
                      <a:moveTo>
                        <a:pt x="71" y="25"/>
                      </a:moveTo>
                      <a:cubicBezTo>
                        <a:pt x="63" y="7"/>
                        <a:pt x="42" y="0"/>
                        <a:pt x="24" y="8"/>
                      </a:cubicBezTo>
                      <a:cubicBezTo>
                        <a:pt x="7" y="17"/>
                        <a:pt x="0" y="38"/>
                        <a:pt x="8" y="55"/>
                      </a:cubicBezTo>
                      <a:cubicBezTo>
                        <a:pt x="10" y="58"/>
                        <a:pt x="12" y="61"/>
                        <a:pt x="14" y="64"/>
                      </a:cubicBezTo>
                      <a:cubicBezTo>
                        <a:pt x="31" y="64"/>
                        <a:pt x="31" y="64"/>
                        <a:pt x="31" y="64"/>
                      </a:cubicBezTo>
                      <a:cubicBezTo>
                        <a:pt x="25" y="62"/>
                        <a:pt x="19" y="57"/>
                        <a:pt x="16" y="51"/>
                      </a:cubicBezTo>
                      <a:cubicBezTo>
                        <a:pt x="10" y="38"/>
                        <a:pt x="16" y="23"/>
                        <a:pt x="28" y="17"/>
                      </a:cubicBezTo>
                      <a:cubicBezTo>
                        <a:pt x="41" y="10"/>
                        <a:pt x="56" y="16"/>
                        <a:pt x="63" y="29"/>
                      </a:cubicBezTo>
                      <a:cubicBezTo>
                        <a:pt x="69" y="41"/>
                        <a:pt x="63" y="57"/>
                        <a:pt x="51" y="63"/>
                      </a:cubicBezTo>
                      <a:cubicBezTo>
                        <a:pt x="50" y="63"/>
                        <a:pt x="49" y="64"/>
                        <a:pt x="48" y="64"/>
                      </a:cubicBezTo>
                      <a:cubicBezTo>
                        <a:pt x="65" y="64"/>
                        <a:pt x="65" y="64"/>
                        <a:pt x="65" y="64"/>
                      </a:cubicBezTo>
                      <a:cubicBezTo>
                        <a:pt x="75" y="54"/>
                        <a:pt x="78" y="38"/>
                        <a:pt x="71" y="2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50"/>
                <p:cNvSpPr/>
                <p:nvPr/>
              </p:nvSpPr>
              <p:spPr bwMode="auto">
                <a:xfrm>
                  <a:off x="388" y="881"/>
                  <a:ext cx="369" cy="245"/>
                </a:xfrm>
                <a:custGeom>
                  <a:avLst/>
                  <a:gdLst>
                    <a:gd name="T0" fmla="*/ 153 w 156"/>
                    <a:gd name="T1" fmla="*/ 92 h 104"/>
                    <a:gd name="T2" fmla="*/ 134 w 156"/>
                    <a:gd name="T3" fmla="*/ 82 h 104"/>
                    <a:gd name="T4" fmla="*/ 133 w 156"/>
                    <a:gd name="T5" fmla="*/ 71 h 104"/>
                    <a:gd name="T6" fmla="*/ 151 w 156"/>
                    <a:gd name="T7" fmla="*/ 59 h 104"/>
                    <a:gd name="T8" fmla="*/ 153 w 156"/>
                    <a:gd name="T9" fmla="*/ 54 h 104"/>
                    <a:gd name="T10" fmla="*/ 145 w 156"/>
                    <a:gd name="T11" fmla="*/ 36 h 104"/>
                    <a:gd name="T12" fmla="*/ 139 w 156"/>
                    <a:gd name="T13" fmla="*/ 34 h 104"/>
                    <a:gd name="T14" fmla="*/ 119 w 156"/>
                    <a:gd name="T15" fmla="*/ 41 h 104"/>
                    <a:gd name="T16" fmla="*/ 110 w 156"/>
                    <a:gd name="T17" fmla="*/ 33 h 104"/>
                    <a:gd name="T18" fmla="*/ 115 w 156"/>
                    <a:gd name="T19" fmla="*/ 12 h 104"/>
                    <a:gd name="T20" fmla="*/ 112 w 156"/>
                    <a:gd name="T21" fmla="*/ 7 h 104"/>
                    <a:gd name="T22" fmla="*/ 94 w 156"/>
                    <a:gd name="T23" fmla="*/ 1 h 104"/>
                    <a:gd name="T24" fmla="*/ 89 w 156"/>
                    <a:gd name="T25" fmla="*/ 3 h 104"/>
                    <a:gd name="T26" fmla="*/ 79 w 156"/>
                    <a:gd name="T27" fmla="*/ 22 h 104"/>
                    <a:gd name="T28" fmla="*/ 68 w 156"/>
                    <a:gd name="T29" fmla="*/ 23 h 104"/>
                    <a:gd name="T30" fmla="*/ 56 w 156"/>
                    <a:gd name="T31" fmla="*/ 5 h 104"/>
                    <a:gd name="T32" fmla="*/ 50 w 156"/>
                    <a:gd name="T33" fmla="*/ 3 h 104"/>
                    <a:gd name="T34" fmla="*/ 33 w 156"/>
                    <a:gd name="T35" fmla="*/ 12 h 104"/>
                    <a:gd name="T36" fmla="*/ 31 w 156"/>
                    <a:gd name="T37" fmla="*/ 17 h 104"/>
                    <a:gd name="T38" fmla="*/ 38 w 156"/>
                    <a:gd name="T39" fmla="*/ 37 h 104"/>
                    <a:gd name="T40" fmla="*/ 30 w 156"/>
                    <a:gd name="T41" fmla="*/ 46 h 104"/>
                    <a:gd name="T42" fmla="*/ 10 w 156"/>
                    <a:gd name="T43" fmla="*/ 42 h 104"/>
                    <a:gd name="T44" fmla="*/ 0 w 156"/>
                    <a:gd name="T45" fmla="*/ 67 h 104"/>
                    <a:gd name="T46" fmla="*/ 1 w 156"/>
                    <a:gd name="T47" fmla="*/ 68 h 104"/>
                    <a:gd name="T48" fmla="*/ 19 w 156"/>
                    <a:gd name="T49" fmla="*/ 77 h 104"/>
                    <a:gd name="T50" fmla="*/ 20 w 156"/>
                    <a:gd name="T51" fmla="*/ 89 h 104"/>
                    <a:gd name="T52" fmla="*/ 14 w 156"/>
                    <a:gd name="T53" fmla="*/ 93 h 104"/>
                    <a:gd name="T54" fmla="*/ 20 w 156"/>
                    <a:gd name="T55" fmla="*/ 104 h 104"/>
                    <a:gd name="T56" fmla="*/ 47 w 156"/>
                    <a:gd name="T57" fmla="*/ 104 h 104"/>
                    <a:gd name="T58" fmla="*/ 42 w 156"/>
                    <a:gd name="T59" fmla="*/ 96 h 104"/>
                    <a:gd name="T60" fmla="*/ 60 w 156"/>
                    <a:gd name="T61" fmla="*/ 45 h 104"/>
                    <a:gd name="T62" fmla="*/ 111 w 156"/>
                    <a:gd name="T63" fmla="*/ 63 h 104"/>
                    <a:gd name="T64" fmla="*/ 106 w 156"/>
                    <a:gd name="T65" fmla="*/ 104 h 104"/>
                    <a:gd name="T66" fmla="*/ 153 w 156"/>
                    <a:gd name="T67" fmla="*/ 104 h 104"/>
                    <a:gd name="T68" fmla="*/ 155 w 156"/>
                    <a:gd name="T69" fmla="*/ 97 h 104"/>
                    <a:gd name="T70" fmla="*/ 153 w 156"/>
                    <a:gd name="T71" fmla="*/ 9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6" h="104">
                      <a:moveTo>
                        <a:pt x="153" y="92"/>
                      </a:moveTo>
                      <a:cubicBezTo>
                        <a:pt x="134" y="82"/>
                        <a:pt x="134" y="82"/>
                        <a:pt x="134" y="82"/>
                      </a:cubicBezTo>
                      <a:cubicBezTo>
                        <a:pt x="134" y="78"/>
                        <a:pt x="134" y="75"/>
                        <a:pt x="133" y="71"/>
                      </a:cubicBezTo>
                      <a:cubicBezTo>
                        <a:pt x="151" y="59"/>
                        <a:pt x="151" y="59"/>
                        <a:pt x="151" y="59"/>
                      </a:cubicBezTo>
                      <a:cubicBezTo>
                        <a:pt x="153" y="58"/>
                        <a:pt x="154" y="56"/>
                        <a:pt x="153" y="54"/>
                      </a:cubicBezTo>
                      <a:cubicBezTo>
                        <a:pt x="145" y="36"/>
                        <a:pt x="145" y="36"/>
                        <a:pt x="145" y="36"/>
                      </a:cubicBezTo>
                      <a:cubicBezTo>
                        <a:pt x="144" y="35"/>
                        <a:pt x="141" y="33"/>
                        <a:pt x="139" y="34"/>
                      </a:cubicBezTo>
                      <a:cubicBezTo>
                        <a:pt x="119" y="41"/>
                        <a:pt x="119" y="41"/>
                        <a:pt x="119" y="41"/>
                      </a:cubicBezTo>
                      <a:cubicBezTo>
                        <a:pt x="116" y="38"/>
                        <a:pt x="113" y="36"/>
                        <a:pt x="110" y="33"/>
                      </a:cubicBezTo>
                      <a:cubicBezTo>
                        <a:pt x="115" y="12"/>
                        <a:pt x="115" y="12"/>
                        <a:pt x="115" y="12"/>
                      </a:cubicBezTo>
                      <a:cubicBezTo>
                        <a:pt x="115" y="10"/>
                        <a:pt x="114" y="8"/>
                        <a:pt x="112" y="7"/>
                      </a:cubicBezTo>
                      <a:cubicBezTo>
                        <a:pt x="94" y="1"/>
                        <a:pt x="94" y="1"/>
                        <a:pt x="94" y="1"/>
                      </a:cubicBezTo>
                      <a:cubicBezTo>
                        <a:pt x="92" y="0"/>
                        <a:pt x="90" y="1"/>
                        <a:pt x="89" y="3"/>
                      </a:cubicBezTo>
                      <a:cubicBezTo>
                        <a:pt x="79" y="22"/>
                        <a:pt x="79" y="22"/>
                        <a:pt x="79" y="22"/>
                      </a:cubicBezTo>
                      <a:cubicBezTo>
                        <a:pt x="75" y="22"/>
                        <a:pt x="71" y="22"/>
                        <a:pt x="68" y="23"/>
                      </a:cubicBezTo>
                      <a:cubicBezTo>
                        <a:pt x="56" y="5"/>
                        <a:pt x="56" y="5"/>
                        <a:pt x="56" y="5"/>
                      </a:cubicBezTo>
                      <a:cubicBezTo>
                        <a:pt x="55" y="3"/>
                        <a:pt x="52" y="3"/>
                        <a:pt x="50" y="3"/>
                      </a:cubicBezTo>
                      <a:cubicBezTo>
                        <a:pt x="33" y="12"/>
                        <a:pt x="33" y="12"/>
                        <a:pt x="33" y="12"/>
                      </a:cubicBezTo>
                      <a:cubicBezTo>
                        <a:pt x="31" y="13"/>
                        <a:pt x="30" y="15"/>
                        <a:pt x="31" y="17"/>
                      </a:cubicBezTo>
                      <a:cubicBezTo>
                        <a:pt x="38" y="37"/>
                        <a:pt x="38" y="37"/>
                        <a:pt x="38" y="37"/>
                      </a:cubicBezTo>
                      <a:cubicBezTo>
                        <a:pt x="35" y="40"/>
                        <a:pt x="32" y="43"/>
                        <a:pt x="30" y="46"/>
                      </a:cubicBezTo>
                      <a:cubicBezTo>
                        <a:pt x="10" y="42"/>
                        <a:pt x="10" y="42"/>
                        <a:pt x="10" y="42"/>
                      </a:cubicBezTo>
                      <a:cubicBezTo>
                        <a:pt x="10" y="51"/>
                        <a:pt x="6" y="60"/>
                        <a:pt x="0" y="67"/>
                      </a:cubicBezTo>
                      <a:cubicBezTo>
                        <a:pt x="1" y="68"/>
                        <a:pt x="1" y="68"/>
                        <a:pt x="1" y="68"/>
                      </a:cubicBezTo>
                      <a:cubicBezTo>
                        <a:pt x="19" y="77"/>
                        <a:pt x="19" y="77"/>
                        <a:pt x="19" y="77"/>
                      </a:cubicBezTo>
                      <a:cubicBezTo>
                        <a:pt x="19" y="81"/>
                        <a:pt x="19" y="85"/>
                        <a:pt x="20" y="89"/>
                      </a:cubicBezTo>
                      <a:cubicBezTo>
                        <a:pt x="14" y="93"/>
                        <a:pt x="14" y="93"/>
                        <a:pt x="14" y="93"/>
                      </a:cubicBezTo>
                      <a:cubicBezTo>
                        <a:pt x="20" y="104"/>
                        <a:pt x="20" y="104"/>
                        <a:pt x="20" y="104"/>
                      </a:cubicBezTo>
                      <a:cubicBezTo>
                        <a:pt x="47" y="104"/>
                        <a:pt x="47" y="104"/>
                        <a:pt x="47" y="104"/>
                      </a:cubicBezTo>
                      <a:cubicBezTo>
                        <a:pt x="45" y="102"/>
                        <a:pt x="43" y="99"/>
                        <a:pt x="42" y="96"/>
                      </a:cubicBezTo>
                      <a:cubicBezTo>
                        <a:pt x="33" y="77"/>
                        <a:pt x="41" y="54"/>
                        <a:pt x="60" y="45"/>
                      </a:cubicBezTo>
                      <a:cubicBezTo>
                        <a:pt x="79" y="36"/>
                        <a:pt x="102" y="44"/>
                        <a:pt x="111" y="63"/>
                      </a:cubicBezTo>
                      <a:cubicBezTo>
                        <a:pt x="118" y="77"/>
                        <a:pt x="115" y="93"/>
                        <a:pt x="106" y="104"/>
                      </a:cubicBezTo>
                      <a:cubicBezTo>
                        <a:pt x="153" y="104"/>
                        <a:pt x="153" y="104"/>
                        <a:pt x="153" y="104"/>
                      </a:cubicBezTo>
                      <a:cubicBezTo>
                        <a:pt x="155" y="97"/>
                        <a:pt x="155" y="97"/>
                        <a:pt x="155" y="97"/>
                      </a:cubicBezTo>
                      <a:cubicBezTo>
                        <a:pt x="156" y="95"/>
                        <a:pt x="155" y="93"/>
                        <a:pt x="153" y="9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51"/>
                <p:cNvSpPr/>
                <p:nvPr/>
              </p:nvSpPr>
              <p:spPr bwMode="auto">
                <a:xfrm>
                  <a:off x="741" y="876"/>
                  <a:ext cx="165" cy="250"/>
                </a:xfrm>
                <a:custGeom>
                  <a:avLst/>
                  <a:gdLst>
                    <a:gd name="T0" fmla="*/ 68 w 70"/>
                    <a:gd name="T1" fmla="*/ 4 h 106"/>
                    <a:gd name="T2" fmla="*/ 63 w 70"/>
                    <a:gd name="T3" fmla="*/ 1 h 106"/>
                    <a:gd name="T4" fmla="*/ 60 w 70"/>
                    <a:gd name="T5" fmla="*/ 1 h 106"/>
                    <a:gd name="T6" fmla="*/ 49 w 70"/>
                    <a:gd name="T7" fmla="*/ 18 h 106"/>
                    <a:gd name="T8" fmla="*/ 49 w 70"/>
                    <a:gd name="T9" fmla="*/ 20 h 106"/>
                    <a:gd name="T10" fmla="*/ 50 w 70"/>
                    <a:gd name="T11" fmla="*/ 21 h 106"/>
                    <a:gd name="T12" fmla="*/ 22 w 70"/>
                    <a:gd name="T13" fmla="*/ 70 h 106"/>
                    <a:gd name="T14" fmla="*/ 22 w 70"/>
                    <a:gd name="T15" fmla="*/ 69 h 106"/>
                    <a:gd name="T16" fmla="*/ 10 w 70"/>
                    <a:gd name="T17" fmla="*/ 73 h 106"/>
                    <a:gd name="T18" fmla="*/ 0 w 70"/>
                    <a:gd name="T19" fmla="*/ 90 h 106"/>
                    <a:gd name="T20" fmla="*/ 7 w 70"/>
                    <a:gd name="T21" fmla="*/ 93 h 106"/>
                    <a:gd name="T22" fmla="*/ 9 w 70"/>
                    <a:gd name="T23" fmla="*/ 99 h 106"/>
                    <a:gd name="T24" fmla="*/ 7 w 70"/>
                    <a:gd name="T25" fmla="*/ 106 h 106"/>
                    <a:gd name="T26" fmla="*/ 21 w 70"/>
                    <a:gd name="T27" fmla="*/ 106 h 106"/>
                    <a:gd name="T28" fmla="*/ 32 w 70"/>
                    <a:gd name="T29" fmla="*/ 86 h 106"/>
                    <a:gd name="T30" fmla="*/ 29 w 70"/>
                    <a:gd name="T31" fmla="*/ 74 h 106"/>
                    <a:gd name="T32" fmla="*/ 29 w 70"/>
                    <a:gd name="T33" fmla="*/ 73 h 106"/>
                    <a:gd name="T34" fmla="*/ 57 w 70"/>
                    <a:gd name="T35" fmla="*/ 25 h 106"/>
                    <a:gd name="T36" fmla="*/ 58 w 70"/>
                    <a:gd name="T37" fmla="*/ 26 h 106"/>
                    <a:gd name="T38" fmla="*/ 61 w 70"/>
                    <a:gd name="T39" fmla="*/ 25 h 106"/>
                    <a:gd name="T40" fmla="*/ 69 w 70"/>
                    <a:gd name="T41" fmla="*/ 6 h 106"/>
                    <a:gd name="T42" fmla="*/ 68 w 70"/>
                    <a:gd name="T43" fmla="*/ 4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0" h="106">
                      <a:moveTo>
                        <a:pt x="68" y="4"/>
                      </a:moveTo>
                      <a:cubicBezTo>
                        <a:pt x="63" y="1"/>
                        <a:pt x="63" y="1"/>
                        <a:pt x="63" y="1"/>
                      </a:cubicBezTo>
                      <a:cubicBezTo>
                        <a:pt x="62" y="0"/>
                        <a:pt x="61" y="0"/>
                        <a:pt x="60" y="1"/>
                      </a:cubicBezTo>
                      <a:cubicBezTo>
                        <a:pt x="49" y="18"/>
                        <a:pt x="49" y="18"/>
                        <a:pt x="49" y="18"/>
                      </a:cubicBezTo>
                      <a:cubicBezTo>
                        <a:pt x="48" y="19"/>
                        <a:pt x="48" y="20"/>
                        <a:pt x="49" y="20"/>
                      </a:cubicBezTo>
                      <a:cubicBezTo>
                        <a:pt x="50" y="21"/>
                        <a:pt x="50" y="21"/>
                        <a:pt x="50" y="21"/>
                      </a:cubicBezTo>
                      <a:cubicBezTo>
                        <a:pt x="22" y="70"/>
                        <a:pt x="22" y="70"/>
                        <a:pt x="22" y="70"/>
                      </a:cubicBezTo>
                      <a:cubicBezTo>
                        <a:pt x="22" y="69"/>
                        <a:pt x="22" y="69"/>
                        <a:pt x="22" y="69"/>
                      </a:cubicBezTo>
                      <a:cubicBezTo>
                        <a:pt x="18" y="67"/>
                        <a:pt x="12" y="68"/>
                        <a:pt x="10" y="73"/>
                      </a:cubicBezTo>
                      <a:cubicBezTo>
                        <a:pt x="0" y="90"/>
                        <a:pt x="0" y="90"/>
                        <a:pt x="0" y="90"/>
                      </a:cubicBezTo>
                      <a:cubicBezTo>
                        <a:pt x="7" y="93"/>
                        <a:pt x="7" y="93"/>
                        <a:pt x="7" y="93"/>
                      </a:cubicBezTo>
                      <a:cubicBezTo>
                        <a:pt x="9" y="94"/>
                        <a:pt x="10" y="97"/>
                        <a:pt x="9" y="99"/>
                      </a:cubicBezTo>
                      <a:cubicBezTo>
                        <a:pt x="7" y="106"/>
                        <a:pt x="7" y="106"/>
                        <a:pt x="7" y="106"/>
                      </a:cubicBezTo>
                      <a:cubicBezTo>
                        <a:pt x="21" y="106"/>
                        <a:pt x="21" y="106"/>
                        <a:pt x="21" y="106"/>
                      </a:cubicBezTo>
                      <a:cubicBezTo>
                        <a:pt x="32" y="86"/>
                        <a:pt x="32" y="86"/>
                        <a:pt x="32" y="86"/>
                      </a:cubicBezTo>
                      <a:cubicBezTo>
                        <a:pt x="35" y="82"/>
                        <a:pt x="33" y="76"/>
                        <a:pt x="29" y="74"/>
                      </a:cubicBezTo>
                      <a:cubicBezTo>
                        <a:pt x="29" y="73"/>
                        <a:pt x="29" y="73"/>
                        <a:pt x="29" y="73"/>
                      </a:cubicBezTo>
                      <a:cubicBezTo>
                        <a:pt x="57" y="25"/>
                        <a:pt x="57" y="25"/>
                        <a:pt x="57" y="25"/>
                      </a:cubicBezTo>
                      <a:cubicBezTo>
                        <a:pt x="58" y="26"/>
                        <a:pt x="58" y="26"/>
                        <a:pt x="58" y="26"/>
                      </a:cubicBezTo>
                      <a:cubicBezTo>
                        <a:pt x="59" y="26"/>
                        <a:pt x="60" y="26"/>
                        <a:pt x="61" y="25"/>
                      </a:cubicBezTo>
                      <a:cubicBezTo>
                        <a:pt x="69" y="6"/>
                        <a:pt x="69" y="6"/>
                        <a:pt x="69" y="6"/>
                      </a:cubicBezTo>
                      <a:cubicBezTo>
                        <a:pt x="70" y="5"/>
                        <a:pt x="69" y="4"/>
                        <a:pt x="68" y="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714375" y="1306195"/>
            <a:ext cx="7715250" cy="3784600"/>
          </a:xfrm>
          <a:prstGeom prst="rect">
            <a:avLst/>
          </a:prstGeom>
        </p:spPr>
        <p:txBody>
          <a:bodyPr wrap="square">
            <a:spAutoFit/>
          </a:bodyPr>
          <a:lstStyle/>
          <a:p>
            <a:pPr marL="457200" indent="-457200" algn="just">
              <a:lnSpc>
                <a:spcPct val="150000"/>
              </a:lnSpc>
              <a:buFont typeface="+mj-lt"/>
              <a:buAutoNum type="arabicPeriod"/>
            </a:pPr>
            <a:r>
              <a:rPr lang="zh-CN" sz="2000" dirty="0">
                <a:latin typeface="微软雅黑" panose="020B0503020204020204" charset="-122"/>
                <a:ea typeface="微软雅黑" panose="020B0503020204020204" charset="-122"/>
                <a:cs typeface="宋体" panose="02010600030101010101" pitchFamily="2" charset="-122"/>
                <a:sym typeface="+mn-ea"/>
              </a:rPr>
              <a:t>建立不确定计划数的轧制批量计划的数学模型。</a:t>
            </a:r>
            <a:endParaRPr lang="en-US" altLang="zh-CN" sz="2000" kern="100" dirty="0">
              <a:latin typeface="微软雅黑" panose="020B0503020204020204" charset="-122"/>
              <a:ea typeface="微软雅黑" panose="020B0503020204020204" charset="-122"/>
            </a:endParaRPr>
          </a:p>
          <a:p>
            <a:pPr marL="457200" indent="-457200" algn="just">
              <a:lnSpc>
                <a:spcPct val="150000"/>
              </a:lnSpc>
              <a:buAutoNum type="arabicPeriod"/>
            </a:pPr>
            <a:r>
              <a:rPr lang="zh-CN" altLang="zh-CN" sz="2000" dirty="0">
                <a:latin typeface="微软雅黑" panose="020B0503020204020204" charset="-122"/>
                <a:ea typeface="微软雅黑" panose="020B0503020204020204" charset="-122"/>
                <a:sym typeface="+mn-ea"/>
              </a:rPr>
              <a:t>利用启发式算法，</a:t>
            </a:r>
            <a:r>
              <a:rPr lang="zh-CN" altLang="zh-CN" sz="2000" dirty="0">
                <a:latin typeface="微软雅黑" panose="020B0503020204020204" charset="-122"/>
                <a:ea typeface="微软雅黑" panose="020B0503020204020204" charset="-122"/>
              </a:rPr>
              <a:t>在尽量满足各条约束的情况下自动对板坯的轧制顺序进行编排，</a:t>
            </a:r>
            <a:r>
              <a:rPr lang="zh-CN" altLang="zh-CN" sz="2000" dirty="0">
                <a:latin typeface="微软雅黑" panose="020B0503020204020204" charset="-122"/>
                <a:ea typeface="微软雅黑" panose="020B0503020204020204" charset="-122"/>
                <a:sym typeface="+mn-ea"/>
              </a:rPr>
              <a:t>生成贴近实际生产的初始解，</a:t>
            </a:r>
            <a:r>
              <a:rPr lang="zh-CN" altLang="zh-CN" sz="2000" dirty="0">
                <a:latin typeface="微软雅黑" panose="020B0503020204020204" charset="-122"/>
                <a:ea typeface="微软雅黑" panose="020B0503020204020204" charset="-122"/>
              </a:rPr>
              <a:t>并验证其可行性。</a:t>
            </a:r>
          </a:p>
          <a:p>
            <a:pPr marL="457200" indent="-457200" algn="just">
              <a:lnSpc>
                <a:spcPct val="150000"/>
              </a:lnSpc>
              <a:buFont typeface="+mj-lt"/>
              <a:buAutoNum type="arabicPeriod"/>
            </a:pPr>
            <a:r>
              <a:rPr lang="zh-CN" sz="2000">
                <a:latin typeface="微软雅黑" panose="020B0503020204020204" charset="-122"/>
                <a:ea typeface="微软雅黑" panose="020B0503020204020204" charset="-122"/>
              </a:rPr>
              <a:t>将合同兑现率，流向匹配率， 轧制公里率， DHCR 比率，以及计划排程质量考虑在内，设计优化算法。</a:t>
            </a:r>
          </a:p>
          <a:p>
            <a:pPr marL="457200" indent="-457200" algn="just">
              <a:lnSpc>
                <a:spcPct val="150000"/>
              </a:lnSpc>
              <a:buFont typeface="+mj-lt"/>
              <a:buAutoNum type="arabicPeriod"/>
            </a:pPr>
            <a:r>
              <a:rPr lang="zh-CN" sz="2000" dirty="0">
                <a:latin typeface="微软雅黑" panose="020B0503020204020204" charset="-122"/>
                <a:ea typeface="微软雅黑" panose="020B0503020204020204" charset="-122"/>
              </a:rPr>
              <a:t>搭建</a:t>
            </a:r>
            <a:r>
              <a:rPr altLang="zh-CN" sz="2000" dirty="0">
                <a:latin typeface="微软雅黑" panose="020B0503020204020204" charset="-122"/>
                <a:ea typeface="微软雅黑" panose="020B0503020204020204" charset="-122"/>
              </a:rPr>
              <a:t>前台界面，与后台算法与数据库进行交互，形成完整系统。</a:t>
            </a:r>
          </a:p>
          <a:p>
            <a:pPr indent="304800" algn="just">
              <a:lnSpc>
                <a:spcPct val="150000"/>
              </a:lnSpc>
              <a:spcAft>
                <a:spcPts val="0"/>
              </a:spcAft>
            </a:pPr>
            <a:endParaRPr lang="zh-CN" sz="2000" dirty="0">
              <a:latin typeface="宋体" panose="02010600030101010101" pitchFamily="2" charset="-122"/>
              <a:ea typeface="宋体" panose="02010600030101010101" pitchFamily="2" charset="-122"/>
              <a:cs typeface="宋体" panose="02010600030101010101" pitchFamily="2" charset="-122"/>
            </a:endParaRPr>
          </a:p>
        </p:txBody>
      </p:sp>
      <p:sp>
        <p:nvSpPr>
          <p:cNvPr id="4" name="标题 1"/>
          <p:cNvSpPr>
            <a:spLocks noGrp="1"/>
          </p:cNvSpPr>
          <p:nvPr/>
        </p:nvSpPr>
        <p:spPr>
          <a:xfrm>
            <a:off x="457200" y="337220"/>
            <a:ext cx="8229600" cy="571500"/>
          </a:xfrm>
          <a:prstGeom prst="rect">
            <a:avLst/>
          </a:prstGeom>
        </p:spPr>
        <p:txBody>
          <a:bodyPr/>
          <a:lstStyle>
            <a:lvl1pPr algn="ctr" defTabSz="914400" rtl="0" eaLnBrk="1" latinLnBrk="0" hangingPunct="1">
              <a:spcBef>
                <a:spcPct val="0"/>
              </a:spcBef>
              <a:buNone/>
              <a:defRPr lang="zh-CN" altLang="en-US" sz="2800" b="1" kern="1200" dirty="0">
                <a:solidFill>
                  <a:srgbClr val="072063"/>
                </a:solidFill>
                <a:latin typeface="+mn-lt"/>
                <a:ea typeface="+mn-ea"/>
                <a:cs typeface="+mn-cs"/>
              </a:defRPr>
            </a:lvl1pPr>
          </a:lstStyle>
          <a:p>
            <a:r>
              <a:rPr lang="zh-CN" altLang="en-US" dirty="0"/>
              <a:t>预期研究成果</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p:cNvPicPr>
            <a:picLocks noChangeAspect="1" noChangeArrowheads="1"/>
          </p:cNvPicPr>
          <p:nvPr/>
        </p:nvPicPr>
        <p:blipFill rotWithShape="1">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767" r="7205" b="57679"/>
          <a:stretch>
            <a:fillRect/>
          </a:stretch>
        </p:blipFill>
        <p:spPr bwMode="auto">
          <a:xfrm rot="10800000">
            <a:off x="971600" y="4221088"/>
            <a:ext cx="7272808" cy="469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3"/>
          <p:cNvPicPr>
            <a:picLocks noChangeAspect="1" noChangeArrowheads="1"/>
          </p:cNvPicPr>
          <p:nvPr/>
        </p:nvPicPr>
        <p:blipFill rotWithShape="1">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767" r="7205" b="57679"/>
          <a:stretch>
            <a:fillRect/>
          </a:stretch>
        </p:blipFill>
        <p:spPr bwMode="auto">
          <a:xfrm rot="10800000" flipV="1">
            <a:off x="957113" y="2132856"/>
            <a:ext cx="7272808" cy="469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TextBox 17"/>
          <p:cNvSpPr txBox="1"/>
          <p:nvPr/>
        </p:nvSpPr>
        <p:spPr>
          <a:xfrm>
            <a:off x="3491879" y="3166165"/>
            <a:ext cx="2880321" cy="584775"/>
          </a:xfrm>
          <a:prstGeom prst="rect">
            <a:avLst/>
          </a:prstGeom>
          <a:noFill/>
        </p:spPr>
        <p:txBody>
          <a:bodyPr wrap="square" rtlCol="0">
            <a:spAutoFit/>
          </a:bodyPr>
          <a:lstStyle/>
          <a:p>
            <a:pPr algn="ctr"/>
            <a:r>
              <a:rPr lang="zh-CN" altLang="en-US" sz="3200" b="1" dirty="0">
                <a:solidFill>
                  <a:srgbClr val="072063"/>
                </a:solidFill>
              </a:rPr>
              <a:t>总结</a:t>
            </a:r>
          </a:p>
        </p:txBody>
      </p:sp>
      <p:grpSp>
        <p:nvGrpSpPr>
          <p:cNvPr id="2" name="组合 1"/>
          <p:cNvGrpSpPr/>
          <p:nvPr/>
        </p:nvGrpSpPr>
        <p:grpSpPr>
          <a:xfrm>
            <a:off x="2195736" y="2826386"/>
            <a:ext cx="1224137" cy="1247042"/>
            <a:chOff x="2195736" y="2826386"/>
            <a:chExt cx="1224137" cy="1247042"/>
          </a:xfrm>
        </p:grpSpPr>
        <p:sp>
          <p:nvSpPr>
            <p:cNvPr id="19" name="椭圆 18"/>
            <p:cNvSpPr/>
            <p:nvPr/>
          </p:nvSpPr>
          <p:spPr>
            <a:xfrm>
              <a:off x="2195736" y="3683124"/>
              <a:ext cx="1224137" cy="390304"/>
            </a:xfrm>
            <a:prstGeom prst="ellipse">
              <a:avLst/>
            </a:prstGeom>
            <a:gradFill flip="none" rotWithShape="1">
              <a:gsLst>
                <a:gs pos="0">
                  <a:schemeClr val="tx1">
                    <a:alpha val="68000"/>
                  </a:schemeClr>
                </a:gs>
                <a:gs pos="100000">
                  <a:schemeClr val="tx1">
                    <a:lumMod val="65000"/>
                    <a:lumOff val="35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nvGrpSpPr>
            <p:cNvPr id="20" name="组合 19"/>
            <p:cNvGrpSpPr/>
            <p:nvPr/>
          </p:nvGrpSpPr>
          <p:grpSpPr>
            <a:xfrm>
              <a:off x="2277269" y="2826386"/>
              <a:ext cx="1089990" cy="1089990"/>
              <a:chOff x="2627784" y="4109017"/>
              <a:chExt cx="605681" cy="605681"/>
            </a:xfrm>
          </p:grpSpPr>
          <p:sp>
            <p:nvSpPr>
              <p:cNvPr id="21" name="椭圆 20"/>
              <p:cNvSpPr/>
              <p:nvPr/>
            </p:nvSpPr>
            <p:spPr>
              <a:xfrm>
                <a:off x="2627784" y="4109017"/>
                <a:ext cx="605681" cy="605681"/>
              </a:xfrm>
              <a:prstGeom prst="ellipse">
                <a:avLst/>
              </a:prstGeom>
              <a:solidFill>
                <a:srgbClr val="0720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lumMod val="65000"/>
                      <a:lumOff val="35000"/>
                    </a:schemeClr>
                  </a:solidFill>
                </a:endParaRPr>
              </a:p>
            </p:txBody>
          </p:sp>
          <p:grpSp>
            <p:nvGrpSpPr>
              <p:cNvPr id="22" name="Group 44"/>
              <p:cNvGrpSpPr>
                <a:grpSpLocks noChangeAspect="1"/>
              </p:cNvGrpSpPr>
              <p:nvPr/>
            </p:nvGrpSpPr>
            <p:grpSpPr bwMode="auto">
              <a:xfrm>
                <a:off x="2778843" y="4259646"/>
                <a:ext cx="303562" cy="304422"/>
                <a:chOff x="199" y="871"/>
                <a:chExt cx="707" cy="709"/>
              </a:xfrm>
            </p:grpSpPr>
            <p:sp>
              <p:nvSpPr>
                <p:cNvPr id="23" name="Freeform 45"/>
                <p:cNvSpPr>
                  <a:spLocks noEditPoints="1"/>
                </p:cNvSpPr>
                <p:nvPr/>
              </p:nvSpPr>
              <p:spPr bwMode="auto">
                <a:xfrm>
                  <a:off x="240" y="1247"/>
                  <a:ext cx="635" cy="333"/>
                </a:xfrm>
                <a:custGeom>
                  <a:avLst/>
                  <a:gdLst>
                    <a:gd name="T0" fmla="*/ 269 w 269"/>
                    <a:gd name="T1" fmla="*/ 0 h 141"/>
                    <a:gd name="T2" fmla="*/ 269 w 269"/>
                    <a:gd name="T3" fmla="*/ 109 h 141"/>
                    <a:gd name="T4" fmla="*/ 237 w 269"/>
                    <a:gd name="T5" fmla="*/ 141 h 141"/>
                    <a:gd name="T6" fmla="*/ 32 w 269"/>
                    <a:gd name="T7" fmla="*/ 141 h 141"/>
                    <a:gd name="T8" fmla="*/ 0 w 269"/>
                    <a:gd name="T9" fmla="*/ 109 h 141"/>
                    <a:gd name="T10" fmla="*/ 0 w 269"/>
                    <a:gd name="T11" fmla="*/ 0 h 141"/>
                    <a:gd name="T12" fmla="*/ 269 w 269"/>
                    <a:gd name="T13" fmla="*/ 0 h 141"/>
                    <a:gd name="T14" fmla="*/ 255 w 269"/>
                    <a:gd name="T15" fmla="*/ 13 h 141"/>
                    <a:gd name="T16" fmla="*/ 14 w 269"/>
                    <a:gd name="T17" fmla="*/ 13 h 141"/>
                    <a:gd name="T18" fmla="*/ 14 w 269"/>
                    <a:gd name="T19" fmla="*/ 108 h 141"/>
                    <a:gd name="T20" fmla="*/ 34 w 269"/>
                    <a:gd name="T21" fmla="*/ 128 h 141"/>
                    <a:gd name="T22" fmla="*/ 235 w 269"/>
                    <a:gd name="T23" fmla="*/ 128 h 141"/>
                    <a:gd name="T24" fmla="*/ 255 w 269"/>
                    <a:gd name="T25" fmla="*/ 108 h 141"/>
                    <a:gd name="T26" fmla="*/ 255 w 269"/>
                    <a:gd name="T27" fmla="*/ 13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9" h="141">
                      <a:moveTo>
                        <a:pt x="269" y="0"/>
                      </a:moveTo>
                      <a:cubicBezTo>
                        <a:pt x="269" y="109"/>
                        <a:pt x="269" y="109"/>
                        <a:pt x="269" y="109"/>
                      </a:cubicBezTo>
                      <a:cubicBezTo>
                        <a:pt x="269" y="127"/>
                        <a:pt x="254" y="141"/>
                        <a:pt x="237" y="141"/>
                      </a:cubicBezTo>
                      <a:cubicBezTo>
                        <a:pt x="32" y="141"/>
                        <a:pt x="32" y="141"/>
                        <a:pt x="32" y="141"/>
                      </a:cubicBezTo>
                      <a:cubicBezTo>
                        <a:pt x="15" y="141"/>
                        <a:pt x="0" y="127"/>
                        <a:pt x="0" y="109"/>
                      </a:cubicBezTo>
                      <a:cubicBezTo>
                        <a:pt x="0" y="0"/>
                        <a:pt x="0" y="0"/>
                        <a:pt x="0" y="0"/>
                      </a:cubicBezTo>
                      <a:cubicBezTo>
                        <a:pt x="269" y="0"/>
                        <a:pt x="269" y="0"/>
                        <a:pt x="269" y="0"/>
                      </a:cubicBezTo>
                      <a:moveTo>
                        <a:pt x="255" y="13"/>
                      </a:moveTo>
                      <a:cubicBezTo>
                        <a:pt x="14" y="13"/>
                        <a:pt x="14" y="13"/>
                        <a:pt x="14" y="13"/>
                      </a:cubicBezTo>
                      <a:cubicBezTo>
                        <a:pt x="14" y="108"/>
                        <a:pt x="14" y="108"/>
                        <a:pt x="14" y="108"/>
                      </a:cubicBezTo>
                      <a:cubicBezTo>
                        <a:pt x="14" y="119"/>
                        <a:pt x="23" y="128"/>
                        <a:pt x="34" y="128"/>
                      </a:cubicBezTo>
                      <a:cubicBezTo>
                        <a:pt x="235" y="128"/>
                        <a:pt x="235" y="128"/>
                        <a:pt x="235" y="128"/>
                      </a:cubicBezTo>
                      <a:cubicBezTo>
                        <a:pt x="246" y="128"/>
                        <a:pt x="255" y="119"/>
                        <a:pt x="255" y="108"/>
                      </a:cubicBezTo>
                      <a:cubicBezTo>
                        <a:pt x="255" y="13"/>
                        <a:pt x="255" y="13"/>
                        <a:pt x="255" y="1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46"/>
                <p:cNvSpPr/>
                <p:nvPr/>
              </p:nvSpPr>
              <p:spPr bwMode="auto">
                <a:xfrm>
                  <a:off x="240" y="1136"/>
                  <a:ext cx="635" cy="97"/>
                </a:xfrm>
                <a:custGeom>
                  <a:avLst/>
                  <a:gdLst>
                    <a:gd name="T0" fmla="*/ 269 w 269"/>
                    <a:gd name="T1" fmla="*/ 41 h 41"/>
                    <a:gd name="T2" fmla="*/ 269 w 269"/>
                    <a:gd name="T3" fmla="*/ 32 h 41"/>
                    <a:gd name="T4" fmla="*/ 237 w 269"/>
                    <a:gd name="T5" fmla="*/ 0 h 41"/>
                    <a:gd name="T6" fmla="*/ 32 w 269"/>
                    <a:gd name="T7" fmla="*/ 0 h 41"/>
                    <a:gd name="T8" fmla="*/ 0 w 269"/>
                    <a:gd name="T9" fmla="*/ 32 h 41"/>
                    <a:gd name="T10" fmla="*/ 0 w 269"/>
                    <a:gd name="T11" fmla="*/ 41 h 41"/>
                    <a:gd name="T12" fmla="*/ 269 w 269"/>
                    <a:gd name="T13" fmla="*/ 41 h 41"/>
                  </a:gdLst>
                  <a:ahLst/>
                  <a:cxnLst>
                    <a:cxn ang="0">
                      <a:pos x="T0" y="T1"/>
                    </a:cxn>
                    <a:cxn ang="0">
                      <a:pos x="T2" y="T3"/>
                    </a:cxn>
                    <a:cxn ang="0">
                      <a:pos x="T4" y="T5"/>
                    </a:cxn>
                    <a:cxn ang="0">
                      <a:pos x="T6" y="T7"/>
                    </a:cxn>
                    <a:cxn ang="0">
                      <a:pos x="T8" y="T9"/>
                    </a:cxn>
                    <a:cxn ang="0">
                      <a:pos x="T10" y="T11"/>
                    </a:cxn>
                    <a:cxn ang="0">
                      <a:pos x="T12" y="T13"/>
                    </a:cxn>
                  </a:cxnLst>
                  <a:rect l="0" t="0" r="r" b="b"/>
                  <a:pathLst>
                    <a:path w="269" h="41">
                      <a:moveTo>
                        <a:pt x="269" y="41"/>
                      </a:moveTo>
                      <a:cubicBezTo>
                        <a:pt x="269" y="32"/>
                        <a:pt x="269" y="32"/>
                        <a:pt x="269" y="32"/>
                      </a:cubicBezTo>
                      <a:cubicBezTo>
                        <a:pt x="269" y="14"/>
                        <a:pt x="254" y="0"/>
                        <a:pt x="237" y="0"/>
                      </a:cubicBezTo>
                      <a:cubicBezTo>
                        <a:pt x="32" y="0"/>
                        <a:pt x="32" y="0"/>
                        <a:pt x="32" y="0"/>
                      </a:cubicBezTo>
                      <a:cubicBezTo>
                        <a:pt x="15" y="0"/>
                        <a:pt x="0" y="14"/>
                        <a:pt x="0" y="32"/>
                      </a:cubicBezTo>
                      <a:cubicBezTo>
                        <a:pt x="0" y="41"/>
                        <a:pt x="0" y="41"/>
                        <a:pt x="0" y="41"/>
                      </a:cubicBezTo>
                      <a:lnTo>
                        <a:pt x="269" y="4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47"/>
                <p:cNvSpPr/>
                <p:nvPr/>
              </p:nvSpPr>
              <p:spPr bwMode="auto">
                <a:xfrm>
                  <a:off x="199" y="871"/>
                  <a:ext cx="213" cy="210"/>
                </a:xfrm>
                <a:custGeom>
                  <a:avLst/>
                  <a:gdLst>
                    <a:gd name="T0" fmla="*/ 39 w 90"/>
                    <a:gd name="T1" fmla="*/ 2 h 89"/>
                    <a:gd name="T2" fmla="*/ 56 w 90"/>
                    <a:gd name="T3" fmla="*/ 35 h 89"/>
                    <a:gd name="T4" fmla="*/ 47 w 90"/>
                    <a:gd name="T5" fmla="*/ 50 h 89"/>
                    <a:gd name="T6" fmla="*/ 30 w 90"/>
                    <a:gd name="T7" fmla="*/ 49 h 89"/>
                    <a:gd name="T8" fmla="*/ 13 w 90"/>
                    <a:gd name="T9" fmla="*/ 16 h 89"/>
                    <a:gd name="T10" fmla="*/ 8 w 90"/>
                    <a:gd name="T11" fmla="*/ 62 h 89"/>
                    <a:gd name="T12" fmla="*/ 62 w 90"/>
                    <a:gd name="T13" fmla="*/ 78 h 89"/>
                    <a:gd name="T14" fmla="*/ 79 w 90"/>
                    <a:gd name="T15" fmla="*/ 23 h 89"/>
                    <a:gd name="T16" fmla="*/ 39 w 90"/>
                    <a:gd name="T17" fmla="*/ 2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89">
                      <a:moveTo>
                        <a:pt x="39" y="2"/>
                      </a:moveTo>
                      <a:cubicBezTo>
                        <a:pt x="56" y="35"/>
                        <a:pt x="56" y="35"/>
                        <a:pt x="56" y="35"/>
                      </a:cubicBezTo>
                      <a:cubicBezTo>
                        <a:pt x="47" y="50"/>
                        <a:pt x="47" y="50"/>
                        <a:pt x="47" y="50"/>
                      </a:cubicBezTo>
                      <a:cubicBezTo>
                        <a:pt x="30" y="49"/>
                        <a:pt x="30" y="49"/>
                        <a:pt x="30" y="49"/>
                      </a:cubicBezTo>
                      <a:cubicBezTo>
                        <a:pt x="13" y="16"/>
                        <a:pt x="13" y="16"/>
                        <a:pt x="13" y="16"/>
                      </a:cubicBezTo>
                      <a:cubicBezTo>
                        <a:pt x="2" y="28"/>
                        <a:pt x="0" y="46"/>
                        <a:pt x="8" y="62"/>
                      </a:cubicBezTo>
                      <a:cubicBezTo>
                        <a:pt x="18" y="81"/>
                        <a:pt x="43" y="89"/>
                        <a:pt x="62" y="78"/>
                      </a:cubicBezTo>
                      <a:cubicBezTo>
                        <a:pt x="82" y="68"/>
                        <a:pt x="90" y="43"/>
                        <a:pt x="79" y="23"/>
                      </a:cubicBezTo>
                      <a:cubicBezTo>
                        <a:pt x="71" y="8"/>
                        <a:pt x="55" y="0"/>
                        <a:pt x="39" y="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48"/>
                <p:cNvSpPr/>
                <p:nvPr/>
              </p:nvSpPr>
              <p:spPr bwMode="auto">
                <a:xfrm>
                  <a:off x="303" y="1018"/>
                  <a:ext cx="123" cy="108"/>
                </a:xfrm>
                <a:custGeom>
                  <a:avLst/>
                  <a:gdLst>
                    <a:gd name="T0" fmla="*/ 123 w 123"/>
                    <a:gd name="T1" fmla="*/ 108 h 108"/>
                    <a:gd name="T2" fmla="*/ 64 w 123"/>
                    <a:gd name="T3" fmla="*/ 0 h 108"/>
                    <a:gd name="T4" fmla="*/ 0 w 123"/>
                    <a:gd name="T5" fmla="*/ 33 h 108"/>
                    <a:gd name="T6" fmla="*/ 41 w 123"/>
                    <a:gd name="T7" fmla="*/ 108 h 108"/>
                    <a:gd name="T8" fmla="*/ 123 w 123"/>
                    <a:gd name="T9" fmla="*/ 108 h 108"/>
                  </a:gdLst>
                  <a:ahLst/>
                  <a:cxnLst>
                    <a:cxn ang="0">
                      <a:pos x="T0" y="T1"/>
                    </a:cxn>
                    <a:cxn ang="0">
                      <a:pos x="T2" y="T3"/>
                    </a:cxn>
                    <a:cxn ang="0">
                      <a:pos x="T4" y="T5"/>
                    </a:cxn>
                    <a:cxn ang="0">
                      <a:pos x="T6" y="T7"/>
                    </a:cxn>
                    <a:cxn ang="0">
                      <a:pos x="T8" y="T9"/>
                    </a:cxn>
                  </a:cxnLst>
                  <a:rect l="0" t="0" r="r" b="b"/>
                  <a:pathLst>
                    <a:path w="123" h="108">
                      <a:moveTo>
                        <a:pt x="123" y="108"/>
                      </a:moveTo>
                      <a:lnTo>
                        <a:pt x="64" y="0"/>
                      </a:lnTo>
                      <a:lnTo>
                        <a:pt x="0" y="33"/>
                      </a:lnTo>
                      <a:lnTo>
                        <a:pt x="41" y="108"/>
                      </a:lnTo>
                      <a:lnTo>
                        <a:pt x="123" y="10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49"/>
                <p:cNvSpPr/>
                <p:nvPr/>
              </p:nvSpPr>
              <p:spPr bwMode="auto">
                <a:xfrm>
                  <a:off x="476" y="975"/>
                  <a:ext cx="184" cy="151"/>
                </a:xfrm>
                <a:custGeom>
                  <a:avLst/>
                  <a:gdLst>
                    <a:gd name="T0" fmla="*/ 71 w 78"/>
                    <a:gd name="T1" fmla="*/ 25 h 64"/>
                    <a:gd name="T2" fmla="*/ 24 w 78"/>
                    <a:gd name="T3" fmla="*/ 8 h 64"/>
                    <a:gd name="T4" fmla="*/ 8 w 78"/>
                    <a:gd name="T5" fmla="*/ 55 h 64"/>
                    <a:gd name="T6" fmla="*/ 14 w 78"/>
                    <a:gd name="T7" fmla="*/ 64 h 64"/>
                    <a:gd name="T8" fmla="*/ 31 w 78"/>
                    <a:gd name="T9" fmla="*/ 64 h 64"/>
                    <a:gd name="T10" fmla="*/ 16 w 78"/>
                    <a:gd name="T11" fmla="*/ 51 h 64"/>
                    <a:gd name="T12" fmla="*/ 28 w 78"/>
                    <a:gd name="T13" fmla="*/ 17 h 64"/>
                    <a:gd name="T14" fmla="*/ 63 w 78"/>
                    <a:gd name="T15" fmla="*/ 29 h 64"/>
                    <a:gd name="T16" fmla="*/ 51 w 78"/>
                    <a:gd name="T17" fmla="*/ 63 h 64"/>
                    <a:gd name="T18" fmla="*/ 48 w 78"/>
                    <a:gd name="T19" fmla="*/ 64 h 64"/>
                    <a:gd name="T20" fmla="*/ 65 w 78"/>
                    <a:gd name="T21" fmla="*/ 64 h 64"/>
                    <a:gd name="T22" fmla="*/ 71 w 78"/>
                    <a:gd name="T23" fmla="*/ 25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8" h="64">
                      <a:moveTo>
                        <a:pt x="71" y="25"/>
                      </a:moveTo>
                      <a:cubicBezTo>
                        <a:pt x="63" y="7"/>
                        <a:pt x="42" y="0"/>
                        <a:pt x="24" y="8"/>
                      </a:cubicBezTo>
                      <a:cubicBezTo>
                        <a:pt x="7" y="17"/>
                        <a:pt x="0" y="38"/>
                        <a:pt x="8" y="55"/>
                      </a:cubicBezTo>
                      <a:cubicBezTo>
                        <a:pt x="10" y="58"/>
                        <a:pt x="12" y="61"/>
                        <a:pt x="14" y="64"/>
                      </a:cubicBezTo>
                      <a:cubicBezTo>
                        <a:pt x="31" y="64"/>
                        <a:pt x="31" y="64"/>
                        <a:pt x="31" y="64"/>
                      </a:cubicBezTo>
                      <a:cubicBezTo>
                        <a:pt x="25" y="62"/>
                        <a:pt x="19" y="57"/>
                        <a:pt x="16" y="51"/>
                      </a:cubicBezTo>
                      <a:cubicBezTo>
                        <a:pt x="10" y="38"/>
                        <a:pt x="16" y="23"/>
                        <a:pt x="28" y="17"/>
                      </a:cubicBezTo>
                      <a:cubicBezTo>
                        <a:pt x="41" y="10"/>
                        <a:pt x="56" y="16"/>
                        <a:pt x="63" y="29"/>
                      </a:cubicBezTo>
                      <a:cubicBezTo>
                        <a:pt x="69" y="41"/>
                        <a:pt x="63" y="57"/>
                        <a:pt x="51" y="63"/>
                      </a:cubicBezTo>
                      <a:cubicBezTo>
                        <a:pt x="50" y="63"/>
                        <a:pt x="49" y="64"/>
                        <a:pt x="48" y="64"/>
                      </a:cubicBezTo>
                      <a:cubicBezTo>
                        <a:pt x="65" y="64"/>
                        <a:pt x="65" y="64"/>
                        <a:pt x="65" y="64"/>
                      </a:cubicBezTo>
                      <a:cubicBezTo>
                        <a:pt x="75" y="54"/>
                        <a:pt x="78" y="38"/>
                        <a:pt x="71" y="2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50"/>
                <p:cNvSpPr/>
                <p:nvPr/>
              </p:nvSpPr>
              <p:spPr bwMode="auto">
                <a:xfrm>
                  <a:off x="388" y="881"/>
                  <a:ext cx="369" cy="245"/>
                </a:xfrm>
                <a:custGeom>
                  <a:avLst/>
                  <a:gdLst>
                    <a:gd name="T0" fmla="*/ 153 w 156"/>
                    <a:gd name="T1" fmla="*/ 92 h 104"/>
                    <a:gd name="T2" fmla="*/ 134 w 156"/>
                    <a:gd name="T3" fmla="*/ 82 h 104"/>
                    <a:gd name="T4" fmla="*/ 133 w 156"/>
                    <a:gd name="T5" fmla="*/ 71 h 104"/>
                    <a:gd name="T6" fmla="*/ 151 w 156"/>
                    <a:gd name="T7" fmla="*/ 59 h 104"/>
                    <a:gd name="T8" fmla="*/ 153 w 156"/>
                    <a:gd name="T9" fmla="*/ 54 h 104"/>
                    <a:gd name="T10" fmla="*/ 145 w 156"/>
                    <a:gd name="T11" fmla="*/ 36 h 104"/>
                    <a:gd name="T12" fmla="*/ 139 w 156"/>
                    <a:gd name="T13" fmla="*/ 34 h 104"/>
                    <a:gd name="T14" fmla="*/ 119 w 156"/>
                    <a:gd name="T15" fmla="*/ 41 h 104"/>
                    <a:gd name="T16" fmla="*/ 110 w 156"/>
                    <a:gd name="T17" fmla="*/ 33 h 104"/>
                    <a:gd name="T18" fmla="*/ 115 w 156"/>
                    <a:gd name="T19" fmla="*/ 12 h 104"/>
                    <a:gd name="T20" fmla="*/ 112 w 156"/>
                    <a:gd name="T21" fmla="*/ 7 h 104"/>
                    <a:gd name="T22" fmla="*/ 94 w 156"/>
                    <a:gd name="T23" fmla="*/ 1 h 104"/>
                    <a:gd name="T24" fmla="*/ 89 w 156"/>
                    <a:gd name="T25" fmla="*/ 3 h 104"/>
                    <a:gd name="T26" fmla="*/ 79 w 156"/>
                    <a:gd name="T27" fmla="*/ 22 h 104"/>
                    <a:gd name="T28" fmla="*/ 68 w 156"/>
                    <a:gd name="T29" fmla="*/ 23 h 104"/>
                    <a:gd name="T30" fmla="*/ 56 w 156"/>
                    <a:gd name="T31" fmla="*/ 5 h 104"/>
                    <a:gd name="T32" fmla="*/ 50 w 156"/>
                    <a:gd name="T33" fmla="*/ 3 h 104"/>
                    <a:gd name="T34" fmla="*/ 33 w 156"/>
                    <a:gd name="T35" fmla="*/ 12 h 104"/>
                    <a:gd name="T36" fmla="*/ 31 w 156"/>
                    <a:gd name="T37" fmla="*/ 17 h 104"/>
                    <a:gd name="T38" fmla="*/ 38 w 156"/>
                    <a:gd name="T39" fmla="*/ 37 h 104"/>
                    <a:gd name="T40" fmla="*/ 30 w 156"/>
                    <a:gd name="T41" fmla="*/ 46 h 104"/>
                    <a:gd name="T42" fmla="*/ 10 w 156"/>
                    <a:gd name="T43" fmla="*/ 42 h 104"/>
                    <a:gd name="T44" fmla="*/ 0 w 156"/>
                    <a:gd name="T45" fmla="*/ 67 h 104"/>
                    <a:gd name="T46" fmla="*/ 1 w 156"/>
                    <a:gd name="T47" fmla="*/ 68 h 104"/>
                    <a:gd name="T48" fmla="*/ 19 w 156"/>
                    <a:gd name="T49" fmla="*/ 77 h 104"/>
                    <a:gd name="T50" fmla="*/ 20 w 156"/>
                    <a:gd name="T51" fmla="*/ 89 h 104"/>
                    <a:gd name="T52" fmla="*/ 14 w 156"/>
                    <a:gd name="T53" fmla="*/ 93 h 104"/>
                    <a:gd name="T54" fmla="*/ 20 w 156"/>
                    <a:gd name="T55" fmla="*/ 104 h 104"/>
                    <a:gd name="T56" fmla="*/ 47 w 156"/>
                    <a:gd name="T57" fmla="*/ 104 h 104"/>
                    <a:gd name="T58" fmla="*/ 42 w 156"/>
                    <a:gd name="T59" fmla="*/ 96 h 104"/>
                    <a:gd name="T60" fmla="*/ 60 w 156"/>
                    <a:gd name="T61" fmla="*/ 45 h 104"/>
                    <a:gd name="T62" fmla="*/ 111 w 156"/>
                    <a:gd name="T63" fmla="*/ 63 h 104"/>
                    <a:gd name="T64" fmla="*/ 106 w 156"/>
                    <a:gd name="T65" fmla="*/ 104 h 104"/>
                    <a:gd name="T66" fmla="*/ 153 w 156"/>
                    <a:gd name="T67" fmla="*/ 104 h 104"/>
                    <a:gd name="T68" fmla="*/ 155 w 156"/>
                    <a:gd name="T69" fmla="*/ 97 h 104"/>
                    <a:gd name="T70" fmla="*/ 153 w 156"/>
                    <a:gd name="T71" fmla="*/ 9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6" h="104">
                      <a:moveTo>
                        <a:pt x="153" y="92"/>
                      </a:moveTo>
                      <a:cubicBezTo>
                        <a:pt x="134" y="82"/>
                        <a:pt x="134" y="82"/>
                        <a:pt x="134" y="82"/>
                      </a:cubicBezTo>
                      <a:cubicBezTo>
                        <a:pt x="134" y="78"/>
                        <a:pt x="134" y="75"/>
                        <a:pt x="133" y="71"/>
                      </a:cubicBezTo>
                      <a:cubicBezTo>
                        <a:pt x="151" y="59"/>
                        <a:pt x="151" y="59"/>
                        <a:pt x="151" y="59"/>
                      </a:cubicBezTo>
                      <a:cubicBezTo>
                        <a:pt x="153" y="58"/>
                        <a:pt x="154" y="56"/>
                        <a:pt x="153" y="54"/>
                      </a:cubicBezTo>
                      <a:cubicBezTo>
                        <a:pt x="145" y="36"/>
                        <a:pt x="145" y="36"/>
                        <a:pt x="145" y="36"/>
                      </a:cubicBezTo>
                      <a:cubicBezTo>
                        <a:pt x="144" y="35"/>
                        <a:pt x="141" y="33"/>
                        <a:pt x="139" y="34"/>
                      </a:cubicBezTo>
                      <a:cubicBezTo>
                        <a:pt x="119" y="41"/>
                        <a:pt x="119" y="41"/>
                        <a:pt x="119" y="41"/>
                      </a:cubicBezTo>
                      <a:cubicBezTo>
                        <a:pt x="116" y="38"/>
                        <a:pt x="113" y="36"/>
                        <a:pt x="110" y="33"/>
                      </a:cubicBezTo>
                      <a:cubicBezTo>
                        <a:pt x="115" y="12"/>
                        <a:pt x="115" y="12"/>
                        <a:pt x="115" y="12"/>
                      </a:cubicBezTo>
                      <a:cubicBezTo>
                        <a:pt x="115" y="10"/>
                        <a:pt x="114" y="8"/>
                        <a:pt x="112" y="7"/>
                      </a:cubicBezTo>
                      <a:cubicBezTo>
                        <a:pt x="94" y="1"/>
                        <a:pt x="94" y="1"/>
                        <a:pt x="94" y="1"/>
                      </a:cubicBezTo>
                      <a:cubicBezTo>
                        <a:pt x="92" y="0"/>
                        <a:pt x="90" y="1"/>
                        <a:pt x="89" y="3"/>
                      </a:cubicBezTo>
                      <a:cubicBezTo>
                        <a:pt x="79" y="22"/>
                        <a:pt x="79" y="22"/>
                        <a:pt x="79" y="22"/>
                      </a:cubicBezTo>
                      <a:cubicBezTo>
                        <a:pt x="75" y="22"/>
                        <a:pt x="71" y="22"/>
                        <a:pt x="68" y="23"/>
                      </a:cubicBezTo>
                      <a:cubicBezTo>
                        <a:pt x="56" y="5"/>
                        <a:pt x="56" y="5"/>
                        <a:pt x="56" y="5"/>
                      </a:cubicBezTo>
                      <a:cubicBezTo>
                        <a:pt x="55" y="3"/>
                        <a:pt x="52" y="3"/>
                        <a:pt x="50" y="3"/>
                      </a:cubicBezTo>
                      <a:cubicBezTo>
                        <a:pt x="33" y="12"/>
                        <a:pt x="33" y="12"/>
                        <a:pt x="33" y="12"/>
                      </a:cubicBezTo>
                      <a:cubicBezTo>
                        <a:pt x="31" y="13"/>
                        <a:pt x="30" y="15"/>
                        <a:pt x="31" y="17"/>
                      </a:cubicBezTo>
                      <a:cubicBezTo>
                        <a:pt x="38" y="37"/>
                        <a:pt x="38" y="37"/>
                        <a:pt x="38" y="37"/>
                      </a:cubicBezTo>
                      <a:cubicBezTo>
                        <a:pt x="35" y="40"/>
                        <a:pt x="32" y="43"/>
                        <a:pt x="30" y="46"/>
                      </a:cubicBezTo>
                      <a:cubicBezTo>
                        <a:pt x="10" y="42"/>
                        <a:pt x="10" y="42"/>
                        <a:pt x="10" y="42"/>
                      </a:cubicBezTo>
                      <a:cubicBezTo>
                        <a:pt x="10" y="51"/>
                        <a:pt x="6" y="60"/>
                        <a:pt x="0" y="67"/>
                      </a:cubicBezTo>
                      <a:cubicBezTo>
                        <a:pt x="1" y="68"/>
                        <a:pt x="1" y="68"/>
                        <a:pt x="1" y="68"/>
                      </a:cubicBezTo>
                      <a:cubicBezTo>
                        <a:pt x="19" y="77"/>
                        <a:pt x="19" y="77"/>
                        <a:pt x="19" y="77"/>
                      </a:cubicBezTo>
                      <a:cubicBezTo>
                        <a:pt x="19" y="81"/>
                        <a:pt x="19" y="85"/>
                        <a:pt x="20" y="89"/>
                      </a:cubicBezTo>
                      <a:cubicBezTo>
                        <a:pt x="14" y="93"/>
                        <a:pt x="14" y="93"/>
                        <a:pt x="14" y="93"/>
                      </a:cubicBezTo>
                      <a:cubicBezTo>
                        <a:pt x="20" y="104"/>
                        <a:pt x="20" y="104"/>
                        <a:pt x="20" y="104"/>
                      </a:cubicBezTo>
                      <a:cubicBezTo>
                        <a:pt x="47" y="104"/>
                        <a:pt x="47" y="104"/>
                        <a:pt x="47" y="104"/>
                      </a:cubicBezTo>
                      <a:cubicBezTo>
                        <a:pt x="45" y="102"/>
                        <a:pt x="43" y="99"/>
                        <a:pt x="42" y="96"/>
                      </a:cubicBezTo>
                      <a:cubicBezTo>
                        <a:pt x="33" y="77"/>
                        <a:pt x="41" y="54"/>
                        <a:pt x="60" y="45"/>
                      </a:cubicBezTo>
                      <a:cubicBezTo>
                        <a:pt x="79" y="36"/>
                        <a:pt x="102" y="44"/>
                        <a:pt x="111" y="63"/>
                      </a:cubicBezTo>
                      <a:cubicBezTo>
                        <a:pt x="118" y="77"/>
                        <a:pt x="115" y="93"/>
                        <a:pt x="106" y="104"/>
                      </a:cubicBezTo>
                      <a:cubicBezTo>
                        <a:pt x="153" y="104"/>
                        <a:pt x="153" y="104"/>
                        <a:pt x="153" y="104"/>
                      </a:cubicBezTo>
                      <a:cubicBezTo>
                        <a:pt x="155" y="97"/>
                        <a:pt x="155" y="97"/>
                        <a:pt x="155" y="97"/>
                      </a:cubicBezTo>
                      <a:cubicBezTo>
                        <a:pt x="156" y="95"/>
                        <a:pt x="155" y="93"/>
                        <a:pt x="153" y="9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51"/>
                <p:cNvSpPr/>
                <p:nvPr/>
              </p:nvSpPr>
              <p:spPr bwMode="auto">
                <a:xfrm>
                  <a:off x="741" y="876"/>
                  <a:ext cx="165" cy="250"/>
                </a:xfrm>
                <a:custGeom>
                  <a:avLst/>
                  <a:gdLst>
                    <a:gd name="T0" fmla="*/ 68 w 70"/>
                    <a:gd name="T1" fmla="*/ 4 h 106"/>
                    <a:gd name="T2" fmla="*/ 63 w 70"/>
                    <a:gd name="T3" fmla="*/ 1 h 106"/>
                    <a:gd name="T4" fmla="*/ 60 w 70"/>
                    <a:gd name="T5" fmla="*/ 1 h 106"/>
                    <a:gd name="T6" fmla="*/ 49 w 70"/>
                    <a:gd name="T7" fmla="*/ 18 h 106"/>
                    <a:gd name="T8" fmla="*/ 49 w 70"/>
                    <a:gd name="T9" fmla="*/ 20 h 106"/>
                    <a:gd name="T10" fmla="*/ 50 w 70"/>
                    <a:gd name="T11" fmla="*/ 21 h 106"/>
                    <a:gd name="T12" fmla="*/ 22 w 70"/>
                    <a:gd name="T13" fmla="*/ 70 h 106"/>
                    <a:gd name="T14" fmla="*/ 22 w 70"/>
                    <a:gd name="T15" fmla="*/ 69 h 106"/>
                    <a:gd name="T16" fmla="*/ 10 w 70"/>
                    <a:gd name="T17" fmla="*/ 73 h 106"/>
                    <a:gd name="T18" fmla="*/ 0 w 70"/>
                    <a:gd name="T19" fmla="*/ 90 h 106"/>
                    <a:gd name="T20" fmla="*/ 7 w 70"/>
                    <a:gd name="T21" fmla="*/ 93 h 106"/>
                    <a:gd name="T22" fmla="*/ 9 w 70"/>
                    <a:gd name="T23" fmla="*/ 99 h 106"/>
                    <a:gd name="T24" fmla="*/ 7 w 70"/>
                    <a:gd name="T25" fmla="*/ 106 h 106"/>
                    <a:gd name="T26" fmla="*/ 21 w 70"/>
                    <a:gd name="T27" fmla="*/ 106 h 106"/>
                    <a:gd name="T28" fmla="*/ 32 w 70"/>
                    <a:gd name="T29" fmla="*/ 86 h 106"/>
                    <a:gd name="T30" fmla="*/ 29 w 70"/>
                    <a:gd name="T31" fmla="*/ 74 h 106"/>
                    <a:gd name="T32" fmla="*/ 29 w 70"/>
                    <a:gd name="T33" fmla="*/ 73 h 106"/>
                    <a:gd name="T34" fmla="*/ 57 w 70"/>
                    <a:gd name="T35" fmla="*/ 25 h 106"/>
                    <a:gd name="T36" fmla="*/ 58 w 70"/>
                    <a:gd name="T37" fmla="*/ 26 h 106"/>
                    <a:gd name="T38" fmla="*/ 61 w 70"/>
                    <a:gd name="T39" fmla="*/ 25 h 106"/>
                    <a:gd name="T40" fmla="*/ 69 w 70"/>
                    <a:gd name="T41" fmla="*/ 6 h 106"/>
                    <a:gd name="T42" fmla="*/ 68 w 70"/>
                    <a:gd name="T43" fmla="*/ 4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0" h="106">
                      <a:moveTo>
                        <a:pt x="68" y="4"/>
                      </a:moveTo>
                      <a:cubicBezTo>
                        <a:pt x="63" y="1"/>
                        <a:pt x="63" y="1"/>
                        <a:pt x="63" y="1"/>
                      </a:cubicBezTo>
                      <a:cubicBezTo>
                        <a:pt x="62" y="0"/>
                        <a:pt x="61" y="0"/>
                        <a:pt x="60" y="1"/>
                      </a:cubicBezTo>
                      <a:cubicBezTo>
                        <a:pt x="49" y="18"/>
                        <a:pt x="49" y="18"/>
                        <a:pt x="49" y="18"/>
                      </a:cubicBezTo>
                      <a:cubicBezTo>
                        <a:pt x="48" y="19"/>
                        <a:pt x="48" y="20"/>
                        <a:pt x="49" y="20"/>
                      </a:cubicBezTo>
                      <a:cubicBezTo>
                        <a:pt x="50" y="21"/>
                        <a:pt x="50" y="21"/>
                        <a:pt x="50" y="21"/>
                      </a:cubicBezTo>
                      <a:cubicBezTo>
                        <a:pt x="22" y="70"/>
                        <a:pt x="22" y="70"/>
                        <a:pt x="22" y="70"/>
                      </a:cubicBezTo>
                      <a:cubicBezTo>
                        <a:pt x="22" y="69"/>
                        <a:pt x="22" y="69"/>
                        <a:pt x="22" y="69"/>
                      </a:cubicBezTo>
                      <a:cubicBezTo>
                        <a:pt x="18" y="67"/>
                        <a:pt x="12" y="68"/>
                        <a:pt x="10" y="73"/>
                      </a:cubicBezTo>
                      <a:cubicBezTo>
                        <a:pt x="0" y="90"/>
                        <a:pt x="0" y="90"/>
                        <a:pt x="0" y="90"/>
                      </a:cubicBezTo>
                      <a:cubicBezTo>
                        <a:pt x="7" y="93"/>
                        <a:pt x="7" y="93"/>
                        <a:pt x="7" y="93"/>
                      </a:cubicBezTo>
                      <a:cubicBezTo>
                        <a:pt x="9" y="94"/>
                        <a:pt x="10" y="97"/>
                        <a:pt x="9" y="99"/>
                      </a:cubicBezTo>
                      <a:cubicBezTo>
                        <a:pt x="7" y="106"/>
                        <a:pt x="7" y="106"/>
                        <a:pt x="7" y="106"/>
                      </a:cubicBezTo>
                      <a:cubicBezTo>
                        <a:pt x="21" y="106"/>
                        <a:pt x="21" y="106"/>
                        <a:pt x="21" y="106"/>
                      </a:cubicBezTo>
                      <a:cubicBezTo>
                        <a:pt x="32" y="86"/>
                        <a:pt x="32" y="86"/>
                        <a:pt x="32" y="86"/>
                      </a:cubicBezTo>
                      <a:cubicBezTo>
                        <a:pt x="35" y="82"/>
                        <a:pt x="33" y="76"/>
                        <a:pt x="29" y="74"/>
                      </a:cubicBezTo>
                      <a:cubicBezTo>
                        <a:pt x="29" y="73"/>
                        <a:pt x="29" y="73"/>
                        <a:pt x="29" y="73"/>
                      </a:cubicBezTo>
                      <a:cubicBezTo>
                        <a:pt x="57" y="25"/>
                        <a:pt x="57" y="25"/>
                        <a:pt x="57" y="25"/>
                      </a:cubicBezTo>
                      <a:cubicBezTo>
                        <a:pt x="58" y="26"/>
                        <a:pt x="58" y="26"/>
                        <a:pt x="58" y="26"/>
                      </a:cubicBezTo>
                      <a:cubicBezTo>
                        <a:pt x="59" y="26"/>
                        <a:pt x="60" y="26"/>
                        <a:pt x="61" y="25"/>
                      </a:cubicBezTo>
                      <a:cubicBezTo>
                        <a:pt x="69" y="6"/>
                        <a:pt x="69" y="6"/>
                        <a:pt x="69" y="6"/>
                      </a:cubicBezTo>
                      <a:cubicBezTo>
                        <a:pt x="70" y="5"/>
                        <a:pt x="69" y="4"/>
                        <a:pt x="68" y="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23215" y="1124585"/>
            <a:ext cx="8568690" cy="3494405"/>
            <a:chOff x="509" y="1771"/>
            <a:chExt cx="13494" cy="5503"/>
          </a:xfrm>
        </p:grpSpPr>
        <p:sp>
          <p:nvSpPr>
            <p:cNvPr id="3" name="矩形 2"/>
            <p:cNvSpPr/>
            <p:nvPr/>
          </p:nvSpPr>
          <p:spPr>
            <a:xfrm>
              <a:off x="509" y="3132"/>
              <a:ext cx="13494" cy="4142"/>
            </a:xfrm>
            <a:prstGeom prst="rect">
              <a:avLst/>
            </a:prstGeom>
          </p:spPr>
          <p:txBody>
            <a:bodyPr wrap="square">
              <a:spAutoFit/>
            </a:bodyPr>
            <a:lstStyle/>
            <a:p>
              <a:pPr eaLnBrk="1" hangingPunct="1">
                <a:lnSpc>
                  <a:spcPct val="150000"/>
                </a:lnSpc>
              </a:pPr>
              <a:r>
                <a:rPr lang="zh-CN" altLang="zh-CN" sz="2200" dirty="0">
                  <a:ea typeface="楷体_GB2312" pitchFamily="49" charset="-122"/>
                </a:rPr>
                <a:t>（</a:t>
              </a:r>
              <a:r>
                <a:rPr lang="en-US" altLang="zh-CN" sz="2200" dirty="0">
                  <a:ea typeface="楷体_GB2312" pitchFamily="49" charset="-122"/>
                </a:rPr>
                <a:t>1</a:t>
              </a:r>
              <a:r>
                <a:rPr lang="zh-CN" altLang="zh-CN" sz="2200" dirty="0">
                  <a:ea typeface="楷体_GB2312" pitchFamily="49" charset="-122"/>
                </a:rPr>
                <a:t>）</a:t>
              </a:r>
              <a:r>
                <a:rPr lang="zh-CN" altLang="en-US" sz="2200" dirty="0">
                  <a:ea typeface="楷体_GB2312" pitchFamily="49" charset="-122"/>
                </a:rPr>
                <a:t>通过专业课的学习与项目实践等，为今后的课题研究奠定基础。</a:t>
              </a:r>
              <a:endParaRPr lang="en-US" altLang="zh-CN" sz="2200" dirty="0">
                <a:ea typeface="楷体_GB2312" pitchFamily="49" charset="-122"/>
              </a:endParaRPr>
            </a:p>
            <a:p>
              <a:pPr algn="l">
                <a:lnSpc>
                  <a:spcPct val="150000"/>
                </a:lnSpc>
              </a:pPr>
              <a:r>
                <a:rPr lang="zh-CN" altLang="zh-CN" sz="2200" dirty="0">
                  <a:ea typeface="楷体_GB2312" pitchFamily="49" charset="-122"/>
                </a:rPr>
                <a:t>（</a:t>
              </a:r>
              <a:r>
                <a:rPr lang="en-US" altLang="zh-CN" sz="2200" dirty="0">
                  <a:ea typeface="楷体_GB2312" pitchFamily="49" charset="-122"/>
                </a:rPr>
                <a:t>2</a:t>
              </a:r>
              <a:r>
                <a:rPr lang="zh-CN" altLang="zh-CN" sz="2200" dirty="0">
                  <a:ea typeface="楷体_GB2312" pitchFamily="49" charset="-122"/>
                </a:rPr>
                <a:t>）</a:t>
              </a:r>
              <a:r>
                <a:rPr lang="zh-CN" altLang="en-US" sz="2200" dirty="0">
                  <a:ea typeface="楷体_GB2312"/>
                </a:rPr>
                <a:t>在上海宝信软件公司参与国家重点研发计划项目“长型材智能          化设备”项目，迅速提升自己在编程和研究能力。</a:t>
              </a:r>
              <a:endParaRPr lang="en-US" altLang="zh-CN" sz="2200" dirty="0">
                <a:ea typeface="楷体_GB2312"/>
              </a:endParaRPr>
            </a:p>
            <a:p>
              <a:pPr>
                <a:lnSpc>
                  <a:spcPct val="150000"/>
                </a:lnSpc>
              </a:pPr>
              <a:r>
                <a:rPr lang="zh-CN" altLang="en-US" sz="2200" dirty="0">
                  <a:ea typeface="楷体_GB2312" pitchFamily="49" charset="-122"/>
                </a:rPr>
                <a:t>（</a:t>
              </a:r>
              <a:r>
                <a:rPr lang="en-US" altLang="zh-CN" sz="2200" dirty="0">
                  <a:ea typeface="楷体_GB2312" pitchFamily="49" charset="-122"/>
                </a:rPr>
                <a:t>3</a:t>
              </a:r>
              <a:r>
                <a:rPr lang="zh-CN" altLang="en-US" sz="2200" dirty="0">
                  <a:ea typeface="楷体_GB2312" pitchFamily="49" charset="-122"/>
                </a:rPr>
                <a:t>）选题开题阶段，围绕研究课题，明确以排程优化为项目关键点。</a:t>
              </a:r>
              <a:endParaRPr lang="en-US" altLang="zh-CN" sz="2200" dirty="0">
                <a:ea typeface="楷体_GB2312" pitchFamily="49" charset="-122"/>
              </a:endParaRPr>
            </a:p>
            <a:p>
              <a:pPr eaLnBrk="1" hangingPunct="1">
                <a:lnSpc>
                  <a:spcPct val="150000"/>
                </a:lnSpc>
              </a:pPr>
              <a:r>
                <a:rPr lang="zh-CN" altLang="en-US" sz="2200" dirty="0">
                  <a:ea typeface="楷体_GB2312" pitchFamily="49" charset="-122"/>
                </a:rPr>
                <a:t>（</a:t>
              </a:r>
              <a:r>
                <a:rPr lang="en-US" altLang="zh-CN" sz="2200" dirty="0">
                  <a:ea typeface="楷体_GB2312" pitchFamily="49" charset="-122"/>
                </a:rPr>
                <a:t>4</a:t>
              </a:r>
              <a:r>
                <a:rPr lang="zh-CN" altLang="en-US" sz="2200" dirty="0">
                  <a:ea typeface="楷体_GB2312" pitchFamily="49" charset="-122"/>
                </a:rPr>
                <a:t>）构建了解决该问题的整体思路</a:t>
              </a:r>
              <a:r>
                <a:rPr lang="zh-CN" altLang="en-US" sz="2200" b="1" dirty="0">
                  <a:ea typeface="楷体_GB2312" pitchFamily="49" charset="-122"/>
                </a:rPr>
                <a:t>。</a:t>
              </a:r>
              <a:endParaRPr lang="zh-CN" altLang="zh-CN" sz="2200" b="1" dirty="0">
                <a:ea typeface="楷体_GB2312" pitchFamily="49" charset="-122"/>
              </a:endParaRPr>
            </a:p>
          </p:txBody>
        </p:sp>
        <p:sp>
          <p:nvSpPr>
            <p:cNvPr id="5" name="矩形 4"/>
            <p:cNvSpPr/>
            <p:nvPr/>
          </p:nvSpPr>
          <p:spPr>
            <a:xfrm>
              <a:off x="509" y="1771"/>
              <a:ext cx="2477" cy="1018"/>
            </a:xfrm>
            <a:prstGeom prst="rect">
              <a:avLst/>
            </a:prstGeom>
          </p:spPr>
          <p:txBody>
            <a:bodyPr wrap="none">
              <a:spAutoFit/>
            </a:bodyPr>
            <a:lstStyle/>
            <a:p>
              <a:r>
                <a:rPr lang="zh-CN" altLang="en-US" sz="3600" b="1" dirty="0">
                  <a:latin typeface="黑体" panose="02010609060101010101" pitchFamily="49" charset="-122"/>
                  <a:ea typeface="黑体" panose="02010609060101010101" pitchFamily="49" charset="-122"/>
                </a:rPr>
                <a:t>总结</a:t>
              </a:r>
              <a:r>
                <a:rPr lang="zh-CN" altLang="en-US" sz="3600" b="1" dirty="0">
                  <a:latin typeface="黑体" panose="02010609060101010101" pitchFamily="49" charset="-122"/>
                  <a:ea typeface="楷体_GB2312"/>
                </a:rPr>
                <a:t>：</a:t>
              </a:r>
              <a:endParaRPr lang="zh-CN" altLang="en-US" sz="3600" dirty="0">
                <a:ea typeface="楷体_GB2312"/>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工作计划</a:t>
            </a:r>
          </a:p>
        </p:txBody>
      </p:sp>
      <p:sp>
        <p:nvSpPr>
          <p:cNvPr id="5" name="Rectangle 1"/>
          <p:cNvSpPr>
            <a:spLocks noChangeArrowheads="1"/>
          </p:cNvSpPr>
          <p:nvPr/>
        </p:nvSpPr>
        <p:spPr bwMode="auto">
          <a:xfrm>
            <a:off x="2470150" y="1823392"/>
            <a:ext cx="45397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pPr>
            <a:endParaRPr kumimoji="0" lang="zh-CN" altLang="zh-CN" sz="600" b="0" i="0" u="none" strike="noStrike" cap="none" normalizeH="0" baseline="0" dirty="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4" name="表格 3"/>
          <p:cNvGraphicFramePr>
            <a:graphicFrameLocks noGrp="1"/>
          </p:cNvGraphicFramePr>
          <p:nvPr/>
        </p:nvGraphicFramePr>
        <p:xfrm>
          <a:off x="534380" y="1268760"/>
          <a:ext cx="8075240" cy="5040560"/>
        </p:xfrm>
        <a:graphic>
          <a:graphicData uri="http://schemas.openxmlformats.org/drawingml/2006/table">
            <a:tbl>
              <a:tblPr firstRow="1" bandRow="1">
                <a:tableStyleId>{5C22544A-7EE6-4342-B048-85BDC9FD1C3A}</a:tableStyleId>
              </a:tblPr>
              <a:tblGrid>
                <a:gridCol w="728094">
                  <a:extLst>
                    <a:ext uri="{9D8B030D-6E8A-4147-A177-3AD203B41FA5}">
                      <a16:colId xmlns:a16="http://schemas.microsoft.com/office/drawing/2014/main" val="20000"/>
                    </a:ext>
                  </a:extLst>
                </a:gridCol>
                <a:gridCol w="2515238">
                  <a:extLst>
                    <a:ext uri="{9D8B030D-6E8A-4147-A177-3AD203B41FA5}">
                      <a16:colId xmlns:a16="http://schemas.microsoft.com/office/drawing/2014/main" val="20001"/>
                    </a:ext>
                  </a:extLst>
                </a:gridCol>
                <a:gridCol w="1593850">
                  <a:extLst>
                    <a:ext uri="{9D8B030D-6E8A-4147-A177-3AD203B41FA5}">
                      <a16:colId xmlns:a16="http://schemas.microsoft.com/office/drawing/2014/main" val="20002"/>
                    </a:ext>
                  </a:extLst>
                </a:gridCol>
                <a:gridCol w="3238058">
                  <a:extLst>
                    <a:ext uri="{9D8B030D-6E8A-4147-A177-3AD203B41FA5}">
                      <a16:colId xmlns:a16="http://schemas.microsoft.com/office/drawing/2014/main" val="20003"/>
                    </a:ext>
                  </a:extLst>
                </a:gridCol>
              </a:tblGrid>
              <a:tr h="413125">
                <a:tc>
                  <a:txBody>
                    <a:bodyPr/>
                    <a:lstStyle/>
                    <a:p>
                      <a:pPr marL="0" algn="ctr" defTabSz="914400" rtl="0" eaLnBrk="1" latinLnBrk="0" hangingPunct="1">
                        <a:spcAft>
                          <a:spcPts val="0"/>
                        </a:spcAft>
                      </a:pPr>
                      <a:r>
                        <a:rPr lang="zh-CN" altLang="en-US" sz="1800" b="1" kern="1200" dirty="0">
                          <a:solidFill>
                            <a:schemeClr val="lt1"/>
                          </a:solidFill>
                          <a:latin typeface="微软雅黑" panose="020B0503020204020204" charset="-122"/>
                          <a:ea typeface="微软雅黑" panose="020B0503020204020204" charset="-122"/>
                          <a:cs typeface="+mn-cs"/>
                        </a:rPr>
                        <a:t>序号</a:t>
                      </a:r>
                    </a:p>
                  </a:txBody>
                  <a:tcPr/>
                </a:tc>
                <a:tc>
                  <a:txBody>
                    <a:bodyPr/>
                    <a:lstStyle/>
                    <a:p>
                      <a:pPr marL="0" algn="ctr" defTabSz="914400" rtl="0" eaLnBrk="1" latinLnBrk="0" hangingPunct="1">
                        <a:spcAft>
                          <a:spcPts val="0"/>
                        </a:spcAft>
                      </a:pPr>
                      <a:r>
                        <a:rPr lang="zh-CN" altLang="en-US" sz="1800" b="1" kern="1200" dirty="0">
                          <a:solidFill>
                            <a:schemeClr val="lt1"/>
                          </a:solidFill>
                          <a:latin typeface="微软雅黑" panose="020B0503020204020204" charset="-122"/>
                          <a:ea typeface="微软雅黑" panose="020B0503020204020204" charset="-122"/>
                          <a:cs typeface="+mn-cs"/>
                        </a:rPr>
                        <a:t>阶段及内容</a:t>
                      </a:r>
                    </a:p>
                  </a:txBody>
                  <a:tcPr/>
                </a:tc>
                <a:tc>
                  <a:txBody>
                    <a:bodyPr/>
                    <a:lstStyle/>
                    <a:p>
                      <a:pPr algn="ctr"/>
                      <a:r>
                        <a:rPr lang="zh-CN" altLang="en-US" sz="1800" b="1" kern="1200" dirty="0">
                          <a:solidFill>
                            <a:schemeClr val="lt1"/>
                          </a:solidFill>
                          <a:latin typeface="微软雅黑" panose="020B0503020204020204" charset="-122"/>
                          <a:ea typeface="微软雅黑" panose="020B0503020204020204" charset="-122"/>
                          <a:cs typeface="+mn-cs"/>
                        </a:rPr>
                        <a:t>起止时间</a:t>
                      </a:r>
                    </a:p>
                  </a:txBody>
                  <a:tcPr/>
                </a:tc>
                <a:tc>
                  <a:txBody>
                    <a:bodyPr/>
                    <a:lstStyle/>
                    <a:p>
                      <a:pPr algn="ctr"/>
                      <a:r>
                        <a:rPr lang="zh-CN" altLang="en-US" sz="1800" b="1" kern="1200" dirty="0">
                          <a:solidFill>
                            <a:schemeClr val="lt1"/>
                          </a:solidFill>
                          <a:latin typeface="微软雅黑" panose="020B0503020204020204" charset="-122"/>
                          <a:ea typeface="微软雅黑" panose="020B0503020204020204" charset="-122"/>
                          <a:cs typeface="+mn-cs"/>
                        </a:rPr>
                        <a:t>阶段成果</a:t>
                      </a:r>
                    </a:p>
                  </a:txBody>
                  <a:tcPr/>
                </a:tc>
                <a:extLst>
                  <a:ext uri="{0D108BD9-81ED-4DB2-BD59-A6C34878D82A}">
                    <a16:rowId xmlns:a16="http://schemas.microsoft.com/office/drawing/2014/main" val="10000"/>
                  </a:ext>
                </a:extLst>
              </a:tr>
              <a:tr h="450971">
                <a:tc>
                  <a:txBody>
                    <a:bodyPr/>
                    <a:lstStyle/>
                    <a:p>
                      <a:pPr marL="0" algn="ctr" defTabSz="914400" rtl="0" eaLnBrk="1" latinLnBrk="0" hangingPunct="1">
                        <a:spcAft>
                          <a:spcPts val="0"/>
                        </a:spcAft>
                      </a:pPr>
                      <a:r>
                        <a:rPr lang="en-US" altLang="zh-CN" sz="1400" kern="100" dirty="0">
                          <a:solidFill>
                            <a:srgbClr val="000000"/>
                          </a:solidFill>
                          <a:effectLst/>
                          <a:latin typeface="微软雅黑" panose="020B0503020204020204" charset="-122"/>
                          <a:ea typeface="微软雅黑" panose="020B0503020204020204" charset="-122"/>
                          <a:cs typeface="+mn-cs"/>
                        </a:rPr>
                        <a:t>1</a:t>
                      </a:r>
                    </a:p>
                  </a:txBody>
                  <a:tcPr/>
                </a:tc>
                <a:tc>
                  <a:txBody>
                    <a:bodyPr/>
                    <a:lstStyle/>
                    <a:p>
                      <a:pPr marL="0" algn="ctr" defTabSz="914400" rtl="0" eaLnBrk="1" latinLnBrk="0" hangingPunct="1">
                        <a:spcAft>
                          <a:spcPts val="0"/>
                        </a:spcAft>
                      </a:pPr>
                      <a:r>
                        <a:rPr lang="zh-CN" altLang="zh-CN" sz="1400" kern="100" dirty="0">
                          <a:solidFill>
                            <a:srgbClr val="000000"/>
                          </a:solidFill>
                          <a:effectLst/>
                          <a:latin typeface="微软雅黑" panose="020B0503020204020204" charset="-122"/>
                          <a:ea typeface="微软雅黑" panose="020B0503020204020204" charset="-122"/>
                          <a:cs typeface="+mn-cs"/>
                        </a:rPr>
                        <a:t>文献研读（查找文献、研读、问题分析、理论研究）</a:t>
                      </a:r>
                    </a:p>
                  </a:txBody>
                  <a:tcPr marL="91439" marR="91439"/>
                </a:tc>
                <a:tc>
                  <a:txBody>
                    <a:bodyPr/>
                    <a:lstStyle/>
                    <a:p>
                      <a:pPr marL="0" algn="ctr" defTabSz="914400" rtl="0" eaLnBrk="1" latinLnBrk="0" hangingPunct="1">
                        <a:spcAft>
                          <a:spcPts val="0"/>
                        </a:spcAft>
                      </a:pPr>
                      <a:r>
                        <a:rPr lang="en-US" sz="1400" kern="100" dirty="0">
                          <a:solidFill>
                            <a:srgbClr val="000000"/>
                          </a:solidFill>
                          <a:effectLst/>
                          <a:latin typeface="微软雅黑" panose="020B0503020204020204" charset="-122"/>
                          <a:ea typeface="微软雅黑" panose="020B0503020204020204" charset="-122"/>
                          <a:cs typeface="+mn-cs"/>
                        </a:rPr>
                        <a:t>2019</a:t>
                      </a:r>
                      <a:r>
                        <a:rPr lang="en-US" altLang="zh-CN" sz="1400" kern="100" dirty="0">
                          <a:solidFill>
                            <a:srgbClr val="000000"/>
                          </a:solidFill>
                          <a:effectLst/>
                          <a:latin typeface="微软雅黑" panose="020B0503020204020204" charset="-122"/>
                          <a:ea typeface="微软雅黑" panose="020B0503020204020204" charset="-122"/>
                          <a:cs typeface="+mn-cs"/>
                        </a:rPr>
                        <a:t>.</a:t>
                      </a:r>
                      <a:r>
                        <a:rPr lang="en-US" sz="1400" kern="100" dirty="0">
                          <a:solidFill>
                            <a:srgbClr val="000000"/>
                          </a:solidFill>
                          <a:effectLst/>
                          <a:latin typeface="微软雅黑" panose="020B0503020204020204" charset="-122"/>
                          <a:ea typeface="微软雅黑" panose="020B0503020204020204" charset="-122"/>
                          <a:cs typeface="+mn-cs"/>
                        </a:rPr>
                        <a:t>3-2019</a:t>
                      </a:r>
                      <a:r>
                        <a:rPr lang="en-US" altLang="zh-CN" sz="1400" kern="100" dirty="0">
                          <a:solidFill>
                            <a:srgbClr val="000000"/>
                          </a:solidFill>
                          <a:effectLst/>
                          <a:latin typeface="微软雅黑" panose="020B0503020204020204" charset="-122"/>
                          <a:ea typeface="微软雅黑" panose="020B0503020204020204" charset="-122"/>
                          <a:cs typeface="+mn-cs"/>
                        </a:rPr>
                        <a:t>.5</a:t>
                      </a:r>
                      <a:endParaRPr lang="zh-CN" sz="1400" kern="100" dirty="0">
                        <a:solidFill>
                          <a:srgbClr val="000000"/>
                        </a:solidFill>
                        <a:effectLst/>
                        <a:latin typeface="微软雅黑" panose="020B0503020204020204" charset="-122"/>
                        <a:ea typeface="微软雅黑" panose="020B0503020204020204" charset="-122"/>
                        <a:cs typeface="+mn-cs"/>
                      </a:endParaRPr>
                    </a:p>
                  </a:txBody>
                  <a:tcPr marL="68580" marR="68580" marT="0" marB="0" anchor="ctr"/>
                </a:tc>
                <a:tc>
                  <a:txBody>
                    <a:bodyPr/>
                    <a:lstStyle/>
                    <a:p>
                      <a:pPr algn="ctr">
                        <a:spcAft>
                          <a:spcPts val="0"/>
                        </a:spcAft>
                      </a:pPr>
                      <a:r>
                        <a:rPr lang="zh-CN" sz="1400" kern="100" dirty="0">
                          <a:solidFill>
                            <a:srgbClr val="000000"/>
                          </a:solidFill>
                          <a:effectLst/>
                          <a:latin typeface="微软雅黑" panose="020B0503020204020204" charset="-122"/>
                          <a:ea typeface="微软雅黑" panose="020B0503020204020204" charset="-122"/>
                          <a:cs typeface="+mn-cs"/>
                        </a:rPr>
                        <a:t>热轧文献综述</a:t>
                      </a:r>
                    </a:p>
                  </a:txBody>
                  <a:tcPr marL="68580" marR="68580" marT="0" marB="0" anchor="ctr"/>
                </a:tc>
                <a:extLst>
                  <a:ext uri="{0D108BD9-81ED-4DB2-BD59-A6C34878D82A}">
                    <a16:rowId xmlns:a16="http://schemas.microsoft.com/office/drawing/2014/main" val="10001"/>
                  </a:ext>
                </a:extLst>
              </a:tr>
              <a:tr h="504056">
                <a:tc>
                  <a:txBody>
                    <a:bodyPr/>
                    <a:lstStyle/>
                    <a:p>
                      <a:pPr marL="0" algn="ctr" defTabSz="914400" rtl="0" eaLnBrk="1" latinLnBrk="0" hangingPunct="1">
                        <a:spcAft>
                          <a:spcPts val="0"/>
                        </a:spcAft>
                      </a:pPr>
                      <a:r>
                        <a:rPr lang="en-US" altLang="zh-CN" sz="1400" kern="100" dirty="0">
                          <a:solidFill>
                            <a:srgbClr val="000000"/>
                          </a:solidFill>
                          <a:effectLst/>
                          <a:latin typeface="微软雅黑" panose="020B0503020204020204" charset="-122"/>
                          <a:ea typeface="微软雅黑" panose="020B0503020204020204" charset="-122"/>
                          <a:cs typeface="+mn-cs"/>
                        </a:rPr>
                        <a:t>2</a:t>
                      </a:r>
                    </a:p>
                  </a:txBody>
                  <a:tcPr/>
                </a:tc>
                <a:tc>
                  <a:txBody>
                    <a:bodyPr/>
                    <a:lstStyle/>
                    <a:p>
                      <a:pPr marL="0" algn="ctr" defTabSz="914400" rtl="0" eaLnBrk="1" latinLnBrk="0" hangingPunct="1">
                        <a:spcAft>
                          <a:spcPts val="0"/>
                        </a:spcAft>
                      </a:pPr>
                      <a:r>
                        <a:rPr lang="zh-CN" altLang="zh-CN" sz="1400" kern="100" dirty="0">
                          <a:solidFill>
                            <a:srgbClr val="000000"/>
                          </a:solidFill>
                          <a:effectLst/>
                          <a:latin typeface="微软雅黑" panose="020B0503020204020204" charset="-122"/>
                          <a:ea typeface="微软雅黑" panose="020B0503020204020204" charset="-122"/>
                          <a:cs typeface="+mn-cs"/>
                        </a:rPr>
                        <a:t>开题阶段（确定研究方向、撰写开题报告）</a:t>
                      </a:r>
                    </a:p>
                  </a:txBody>
                  <a:tcPr marL="91439" marR="91439"/>
                </a:tc>
                <a:tc>
                  <a:txBody>
                    <a:bodyPr/>
                    <a:lstStyle/>
                    <a:p>
                      <a:pPr marL="0" algn="ctr" defTabSz="914400" rtl="0" eaLnBrk="1" latinLnBrk="0" hangingPunct="1">
                        <a:spcAft>
                          <a:spcPts val="0"/>
                        </a:spcAft>
                      </a:pPr>
                      <a:r>
                        <a:rPr lang="en-US" sz="1400" kern="100" dirty="0">
                          <a:solidFill>
                            <a:srgbClr val="000000"/>
                          </a:solidFill>
                          <a:effectLst/>
                          <a:latin typeface="微软雅黑" panose="020B0503020204020204" charset="-122"/>
                          <a:ea typeface="微软雅黑" panose="020B0503020204020204" charset="-122"/>
                          <a:cs typeface="+mn-cs"/>
                        </a:rPr>
                        <a:t>2019</a:t>
                      </a:r>
                      <a:r>
                        <a:rPr lang="en-US" altLang="zh-CN" sz="1400" kern="100" dirty="0">
                          <a:solidFill>
                            <a:srgbClr val="000000"/>
                          </a:solidFill>
                          <a:effectLst/>
                          <a:latin typeface="微软雅黑" panose="020B0503020204020204" charset="-122"/>
                          <a:ea typeface="微软雅黑" panose="020B0503020204020204" charset="-122"/>
                          <a:cs typeface="+mn-cs"/>
                        </a:rPr>
                        <a:t>.5-</a:t>
                      </a:r>
                      <a:r>
                        <a:rPr lang="en-US" sz="1400" kern="100" dirty="0">
                          <a:solidFill>
                            <a:srgbClr val="000000"/>
                          </a:solidFill>
                          <a:effectLst/>
                          <a:latin typeface="微软雅黑" panose="020B0503020204020204" charset="-122"/>
                          <a:ea typeface="微软雅黑" panose="020B0503020204020204" charset="-122"/>
                          <a:cs typeface="+mn-cs"/>
                        </a:rPr>
                        <a:t>2019</a:t>
                      </a:r>
                      <a:r>
                        <a:rPr lang="en-US" altLang="zh-CN" sz="1400" kern="100" dirty="0">
                          <a:solidFill>
                            <a:srgbClr val="000000"/>
                          </a:solidFill>
                          <a:effectLst/>
                          <a:latin typeface="微软雅黑" panose="020B0503020204020204" charset="-122"/>
                          <a:ea typeface="微软雅黑" panose="020B0503020204020204" charset="-122"/>
                          <a:cs typeface="+mn-cs"/>
                        </a:rPr>
                        <a:t>.7</a:t>
                      </a:r>
                      <a:endParaRPr lang="zh-CN" sz="1400" kern="100" dirty="0">
                        <a:solidFill>
                          <a:srgbClr val="000000"/>
                        </a:solidFill>
                        <a:effectLst/>
                        <a:latin typeface="微软雅黑" panose="020B0503020204020204" charset="-122"/>
                        <a:ea typeface="微软雅黑" panose="020B0503020204020204" charset="-122"/>
                        <a:cs typeface="+mn-cs"/>
                      </a:endParaRPr>
                    </a:p>
                  </a:txBody>
                  <a:tcPr marL="68580" marR="68580" marT="0" marB="0" anchor="ctr"/>
                </a:tc>
                <a:tc>
                  <a:txBody>
                    <a:bodyPr/>
                    <a:lstStyle/>
                    <a:p>
                      <a:pPr algn="ctr">
                        <a:spcAft>
                          <a:spcPts val="0"/>
                        </a:spcAft>
                      </a:pPr>
                      <a:r>
                        <a:rPr lang="zh-CN" sz="1400" kern="100" dirty="0">
                          <a:solidFill>
                            <a:srgbClr val="000000"/>
                          </a:solidFill>
                          <a:effectLst/>
                          <a:latin typeface="微软雅黑" panose="020B0503020204020204" charset="-122"/>
                          <a:ea typeface="微软雅黑" panose="020B0503020204020204" charset="-122"/>
                          <a:cs typeface="+mn-cs"/>
                        </a:rPr>
                        <a:t>开题报告</a:t>
                      </a:r>
                    </a:p>
                  </a:txBody>
                  <a:tcPr marL="68580" marR="68580" marT="0" marB="0" anchor="ctr"/>
                </a:tc>
                <a:extLst>
                  <a:ext uri="{0D108BD9-81ED-4DB2-BD59-A6C34878D82A}">
                    <a16:rowId xmlns:a16="http://schemas.microsoft.com/office/drawing/2014/main" val="10002"/>
                  </a:ext>
                </a:extLst>
              </a:tr>
              <a:tr h="561960">
                <a:tc>
                  <a:txBody>
                    <a:bodyPr/>
                    <a:lstStyle/>
                    <a:p>
                      <a:pPr algn="ctr"/>
                      <a:r>
                        <a:rPr lang="en-US" altLang="zh-CN" sz="1400" kern="100" dirty="0">
                          <a:solidFill>
                            <a:srgbClr val="000000"/>
                          </a:solidFill>
                          <a:effectLst/>
                          <a:latin typeface="微软雅黑" panose="020B0503020204020204" charset="-122"/>
                          <a:ea typeface="微软雅黑" panose="020B0503020204020204" charset="-122"/>
                          <a:cs typeface="+mn-cs"/>
                        </a:rPr>
                        <a:t>3</a:t>
                      </a:r>
                    </a:p>
                  </a:txBody>
                  <a:tcPr/>
                </a:tc>
                <a:tc>
                  <a:txBody>
                    <a:bodyPr/>
                    <a:lstStyle/>
                    <a:p>
                      <a:pPr algn="ctr">
                        <a:spcAft>
                          <a:spcPts val="0"/>
                        </a:spcAft>
                      </a:pPr>
                      <a:r>
                        <a:rPr lang="zh-CN" sz="1400" kern="100" dirty="0">
                          <a:solidFill>
                            <a:srgbClr val="000000"/>
                          </a:solidFill>
                          <a:effectLst/>
                          <a:latin typeface="微软雅黑" panose="020B0503020204020204" charset="-122"/>
                          <a:ea typeface="微软雅黑" panose="020B0503020204020204" charset="-122"/>
                          <a:cs typeface="+mn-cs"/>
                        </a:rPr>
                        <a:t>建立热轧排程计划设计初始解</a:t>
                      </a:r>
                    </a:p>
                  </a:txBody>
                  <a:tcPr marL="68580" marR="68580" marT="0" marB="0" anchor="ctr"/>
                </a:tc>
                <a:tc>
                  <a:txBody>
                    <a:bodyPr/>
                    <a:lstStyle/>
                    <a:p>
                      <a:pPr marL="0" algn="ctr" defTabSz="914400" rtl="0" eaLnBrk="1" latinLnBrk="0" hangingPunct="1">
                        <a:spcAft>
                          <a:spcPts val="0"/>
                        </a:spcAft>
                      </a:pPr>
                      <a:r>
                        <a:rPr lang="en-US" sz="1400" kern="100" dirty="0">
                          <a:solidFill>
                            <a:srgbClr val="000000"/>
                          </a:solidFill>
                          <a:effectLst/>
                          <a:latin typeface="微软雅黑" panose="020B0503020204020204" charset="-122"/>
                          <a:ea typeface="微软雅黑" panose="020B0503020204020204" charset="-122"/>
                          <a:cs typeface="+mn-cs"/>
                        </a:rPr>
                        <a:t>2019</a:t>
                      </a:r>
                      <a:r>
                        <a:rPr lang="en-US" altLang="zh-CN" sz="1400" kern="100" dirty="0">
                          <a:solidFill>
                            <a:srgbClr val="000000"/>
                          </a:solidFill>
                          <a:effectLst/>
                          <a:latin typeface="微软雅黑" panose="020B0503020204020204" charset="-122"/>
                          <a:ea typeface="微软雅黑" panose="020B0503020204020204" charset="-122"/>
                          <a:cs typeface="+mn-cs"/>
                        </a:rPr>
                        <a:t>.</a:t>
                      </a:r>
                      <a:r>
                        <a:rPr lang="en-US" sz="1400" kern="100" dirty="0">
                          <a:solidFill>
                            <a:srgbClr val="000000"/>
                          </a:solidFill>
                          <a:effectLst/>
                          <a:latin typeface="微软雅黑" panose="020B0503020204020204" charset="-122"/>
                          <a:ea typeface="微软雅黑" panose="020B0503020204020204" charset="-122"/>
                          <a:cs typeface="+mn-cs"/>
                        </a:rPr>
                        <a:t>7</a:t>
                      </a:r>
                      <a:r>
                        <a:rPr lang="en-US" altLang="zh-CN" sz="1400" kern="100" dirty="0">
                          <a:solidFill>
                            <a:srgbClr val="000000"/>
                          </a:solidFill>
                          <a:effectLst/>
                          <a:latin typeface="微软雅黑" panose="020B0503020204020204" charset="-122"/>
                          <a:ea typeface="微软雅黑" panose="020B0503020204020204" charset="-122"/>
                          <a:cs typeface="+mn-cs"/>
                        </a:rPr>
                        <a:t>-</a:t>
                      </a:r>
                      <a:r>
                        <a:rPr lang="en-US" sz="1400" kern="100" dirty="0">
                          <a:solidFill>
                            <a:srgbClr val="000000"/>
                          </a:solidFill>
                          <a:effectLst/>
                          <a:latin typeface="微软雅黑" panose="020B0503020204020204" charset="-122"/>
                          <a:ea typeface="微软雅黑" panose="020B0503020204020204" charset="-122"/>
                          <a:cs typeface="+mn-cs"/>
                        </a:rPr>
                        <a:t>2019</a:t>
                      </a:r>
                      <a:r>
                        <a:rPr lang="en-US" altLang="zh-CN" sz="1400" kern="100" dirty="0">
                          <a:solidFill>
                            <a:srgbClr val="000000"/>
                          </a:solidFill>
                          <a:effectLst/>
                          <a:latin typeface="微软雅黑" panose="020B0503020204020204" charset="-122"/>
                          <a:ea typeface="微软雅黑" panose="020B0503020204020204" charset="-122"/>
                          <a:cs typeface="+mn-cs"/>
                        </a:rPr>
                        <a:t>.9</a:t>
                      </a:r>
                      <a:endParaRPr lang="zh-CN" sz="1400" kern="100" dirty="0">
                        <a:solidFill>
                          <a:srgbClr val="000000"/>
                        </a:solidFill>
                        <a:effectLst/>
                        <a:latin typeface="微软雅黑" panose="020B0503020204020204" charset="-122"/>
                        <a:ea typeface="微软雅黑" panose="020B0503020204020204" charset="-122"/>
                        <a:cs typeface="+mn-cs"/>
                      </a:endParaRPr>
                    </a:p>
                  </a:txBody>
                  <a:tcPr marL="68580" marR="68580" marT="0" marB="0" anchor="ctr"/>
                </a:tc>
                <a:tc>
                  <a:txBody>
                    <a:bodyPr/>
                    <a:lstStyle/>
                    <a:p>
                      <a:pPr algn="ctr">
                        <a:spcAft>
                          <a:spcPts val="0"/>
                        </a:spcAft>
                      </a:pPr>
                      <a:r>
                        <a:rPr lang="zh-CN" sz="1400" kern="100" dirty="0">
                          <a:solidFill>
                            <a:srgbClr val="000000"/>
                          </a:solidFill>
                          <a:effectLst/>
                          <a:latin typeface="微软雅黑" panose="020B0503020204020204" charset="-122"/>
                          <a:ea typeface="微软雅黑" panose="020B0503020204020204" charset="-122"/>
                          <a:cs typeface="+mn-cs"/>
                        </a:rPr>
                        <a:t>初始解生成</a:t>
                      </a:r>
                    </a:p>
                  </a:txBody>
                  <a:tcPr marL="68580" marR="68580" marT="0" marB="0" anchor="ctr"/>
                </a:tc>
                <a:extLst>
                  <a:ext uri="{0D108BD9-81ED-4DB2-BD59-A6C34878D82A}">
                    <a16:rowId xmlns:a16="http://schemas.microsoft.com/office/drawing/2014/main" val="10003"/>
                  </a:ext>
                </a:extLst>
              </a:tr>
              <a:tr h="508875">
                <a:tc>
                  <a:txBody>
                    <a:bodyPr/>
                    <a:lstStyle/>
                    <a:p>
                      <a:pPr algn="ctr"/>
                      <a:r>
                        <a:rPr lang="en-US" altLang="zh-CN" sz="1400" kern="100" dirty="0">
                          <a:solidFill>
                            <a:srgbClr val="000000"/>
                          </a:solidFill>
                          <a:effectLst/>
                          <a:latin typeface="微软雅黑" panose="020B0503020204020204" charset="-122"/>
                          <a:ea typeface="微软雅黑" panose="020B0503020204020204" charset="-122"/>
                          <a:cs typeface="+mn-cs"/>
                        </a:rPr>
                        <a:t>4</a:t>
                      </a:r>
                    </a:p>
                  </a:txBody>
                  <a:tcPr/>
                </a:tc>
                <a:tc>
                  <a:txBody>
                    <a:bodyPr/>
                    <a:lstStyle/>
                    <a:p>
                      <a:pPr algn="ctr">
                        <a:spcAft>
                          <a:spcPts val="0"/>
                        </a:spcAft>
                      </a:pPr>
                      <a:r>
                        <a:rPr lang="zh-CN" sz="1400" kern="100" dirty="0">
                          <a:solidFill>
                            <a:srgbClr val="000000"/>
                          </a:solidFill>
                          <a:effectLst/>
                          <a:latin typeface="微软雅黑" panose="020B0503020204020204" charset="-122"/>
                          <a:ea typeface="微软雅黑" panose="020B0503020204020204" charset="-122"/>
                          <a:cs typeface="+mn-cs"/>
                        </a:rPr>
                        <a:t>验证初始解的可行性与合理性</a:t>
                      </a:r>
                    </a:p>
                  </a:txBody>
                  <a:tcPr marL="68580" marR="68580" marT="0" marB="0" anchor="ctr"/>
                </a:tc>
                <a:tc>
                  <a:txBody>
                    <a:bodyPr/>
                    <a:lstStyle/>
                    <a:p>
                      <a:pPr marL="0" algn="ctr" defTabSz="914400" rtl="0" eaLnBrk="1" latinLnBrk="0" hangingPunct="1">
                        <a:spcAft>
                          <a:spcPts val="0"/>
                        </a:spcAft>
                      </a:pPr>
                      <a:r>
                        <a:rPr lang="en-US" sz="1400" kern="100" dirty="0">
                          <a:solidFill>
                            <a:srgbClr val="000000"/>
                          </a:solidFill>
                          <a:effectLst/>
                          <a:latin typeface="微软雅黑" panose="020B0503020204020204" charset="-122"/>
                          <a:ea typeface="微软雅黑" panose="020B0503020204020204" charset="-122"/>
                          <a:cs typeface="+mn-cs"/>
                        </a:rPr>
                        <a:t>2019</a:t>
                      </a:r>
                      <a:r>
                        <a:rPr lang="en-US" altLang="zh-CN" sz="1400" kern="100" dirty="0">
                          <a:solidFill>
                            <a:srgbClr val="000000"/>
                          </a:solidFill>
                          <a:effectLst/>
                          <a:latin typeface="微软雅黑" panose="020B0503020204020204" charset="-122"/>
                          <a:ea typeface="微软雅黑" panose="020B0503020204020204" charset="-122"/>
                          <a:cs typeface="+mn-cs"/>
                        </a:rPr>
                        <a:t>.9-</a:t>
                      </a:r>
                      <a:r>
                        <a:rPr lang="en-US" sz="1400" kern="100" dirty="0">
                          <a:solidFill>
                            <a:srgbClr val="000000"/>
                          </a:solidFill>
                          <a:effectLst/>
                          <a:latin typeface="微软雅黑" panose="020B0503020204020204" charset="-122"/>
                          <a:ea typeface="微软雅黑" panose="020B0503020204020204" charset="-122"/>
                          <a:cs typeface="+mn-cs"/>
                        </a:rPr>
                        <a:t>2019</a:t>
                      </a:r>
                      <a:r>
                        <a:rPr lang="en-US" altLang="zh-CN" sz="1400" kern="100" dirty="0">
                          <a:solidFill>
                            <a:srgbClr val="000000"/>
                          </a:solidFill>
                          <a:effectLst/>
                          <a:latin typeface="微软雅黑" panose="020B0503020204020204" charset="-122"/>
                          <a:ea typeface="微软雅黑" panose="020B0503020204020204" charset="-122"/>
                          <a:cs typeface="+mn-cs"/>
                        </a:rPr>
                        <a:t>.10</a:t>
                      </a:r>
                      <a:endParaRPr lang="zh-CN" sz="1400" kern="100" dirty="0">
                        <a:solidFill>
                          <a:srgbClr val="000000"/>
                        </a:solidFill>
                        <a:effectLst/>
                        <a:latin typeface="微软雅黑" panose="020B0503020204020204" charset="-122"/>
                        <a:ea typeface="微软雅黑" panose="020B0503020204020204" charset="-122"/>
                        <a:cs typeface="+mn-cs"/>
                      </a:endParaRPr>
                    </a:p>
                  </a:txBody>
                  <a:tcPr marL="68580" marR="68580" marT="0" marB="0" anchor="ctr"/>
                </a:tc>
                <a:tc>
                  <a:txBody>
                    <a:bodyPr/>
                    <a:lstStyle/>
                    <a:p>
                      <a:pPr algn="ctr">
                        <a:spcAft>
                          <a:spcPts val="0"/>
                        </a:spcAft>
                      </a:pPr>
                      <a:r>
                        <a:rPr lang="zh-CN" sz="1400" kern="100" dirty="0">
                          <a:solidFill>
                            <a:srgbClr val="000000"/>
                          </a:solidFill>
                          <a:effectLst/>
                          <a:latin typeface="微软雅黑" panose="020B0503020204020204" charset="-122"/>
                          <a:ea typeface="微软雅黑" panose="020B0503020204020204" charset="-122"/>
                          <a:cs typeface="+mn-cs"/>
                        </a:rPr>
                        <a:t>验证初始解可行性</a:t>
                      </a:r>
                    </a:p>
                  </a:txBody>
                  <a:tcPr marL="68580" marR="68580" marT="0" marB="0" anchor="ctr"/>
                </a:tc>
                <a:extLst>
                  <a:ext uri="{0D108BD9-81ED-4DB2-BD59-A6C34878D82A}">
                    <a16:rowId xmlns:a16="http://schemas.microsoft.com/office/drawing/2014/main" val="10004"/>
                  </a:ext>
                </a:extLst>
              </a:tr>
              <a:tr h="504056">
                <a:tc>
                  <a:txBody>
                    <a:bodyPr/>
                    <a:lstStyle/>
                    <a:p>
                      <a:pPr algn="ctr"/>
                      <a:r>
                        <a:rPr lang="en-US" altLang="zh-CN" sz="1400" kern="100" dirty="0">
                          <a:solidFill>
                            <a:srgbClr val="000000"/>
                          </a:solidFill>
                          <a:effectLst/>
                          <a:latin typeface="微软雅黑" panose="020B0503020204020204" charset="-122"/>
                          <a:ea typeface="微软雅黑" panose="020B0503020204020204" charset="-122"/>
                          <a:cs typeface="+mn-cs"/>
                        </a:rPr>
                        <a:t>5</a:t>
                      </a:r>
                    </a:p>
                  </a:txBody>
                  <a:tcPr/>
                </a:tc>
                <a:tc>
                  <a:txBody>
                    <a:bodyPr/>
                    <a:lstStyle/>
                    <a:p>
                      <a:pPr algn="ctr">
                        <a:spcAft>
                          <a:spcPts val="0"/>
                        </a:spcAft>
                      </a:pPr>
                      <a:r>
                        <a:rPr lang="zh-CN" sz="1400" kern="100">
                          <a:solidFill>
                            <a:srgbClr val="000000"/>
                          </a:solidFill>
                          <a:effectLst/>
                          <a:latin typeface="微软雅黑" panose="020B0503020204020204" charset="-122"/>
                          <a:ea typeface="微软雅黑" panose="020B0503020204020204" charset="-122"/>
                          <a:cs typeface="+mn-cs"/>
                        </a:rPr>
                        <a:t>寻找大规模初始解的优化方法</a:t>
                      </a:r>
                    </a:p>
                  </a:txBody>
                  <a:tcPr marL="68580" marR="68580" marT="0" marB="0" anchor="ctr"/>
                </a:tc>
                <a:tc>
                  <a:txBody>
                    <a:bodyPr/>
                    <a:lstStyle/>
                    <a:p>
                      <a:pPr marL="0" algn="ctr" defTabSz="914400" rtl="0" eaLnBrk="1" latinLnBrk="0" hangingPunct="1">
                        <a:spcAft>
                          <a:spcPts val="0"/>
                        </a:spcAft>
                      </a:pPr>
                      <a:r>
                        <a:rPr lang="en-US" sz="1400" kern="100" dirty="0">
                          <a:solidFill>
                            <a:srgbClr val="000000"/>
                          </a:solidFill>
                          <a:effectLst/>
                          <a:latin typeface="微软雅黑" panose="020B0503020204020204" charset="-122"/>
                          <a:ea typeface="微软雅黑" panose="020B0503020204020204" charset="-122"/>
                          <a:cs typeface="+mn-cs"/>
                        </a:rPr>
                        <a:t>2019</a:t>
                      </a:r>
                      <a:r>
                        <a:rPr lang="en-US" altLang="zh-CN" sz="1400" kern="100" dirty="0">
                          <a:solidFill>
                            <a:srgbClr val="000000"/>
                          </a:solidFill>
                          <a:effectLst/>
                          <a:latin typeface="微软雅黑" panose="020B0503020204020204" charset="-122"/>
                          <a:ea typeface="微软雅黑" panose="020B0503020204020204" charset="-122"/>
                          <a:cs typeface="+mn-cs"/>
                        </a:rPr>
                        <a:t>.11-</a:t>
                      </a:r>
                      <a:r>
                        <a:rPr lang="en-US" sz="1400" kern="100" dirty="0">
                          <a:solidFill>
                            <a:srgbClr val="000000"/>
                          </a:solidFill>
                          <a:effectLst/>
                          <a:latin typeface="微软雅黑" panose="020B0503020204020204" charset="-122"/>
                          <a:ea typeface="微软雅黑" panose="020B0503020204020204" charset="-122"/>
                          <a:cs typeface="+mn-cs"/>
                        </a:rPr>
                        <a:t>2020.2</a:t>
                      </a:r>
                      <a:endParaRPr lang="zh-CN" sz="1400" kern="100" dirty="0">
                        <a:solidFill>
                          <a:srgbClr val="000000"/>
                        </a:solidFill>
                        <a:effectLst/>
                        <a:latin typeface="微软雅黑" panose="020B0503020204020204" charset="-122"/>
                        <a:ea typeface="微软雅黑" panose="020B0503020204020204" charset="-122"/>
                        <a:cs typeface="+mn-cs"/>
                      </a:endParaRPr>
                    </a:p>
                  </a:txBody>
                  <a:tcPr marL="68580" marR="68580" marT="0" marB="0" anchor="ctr"/>
                </a:tc>
                <a:tc>
                  <a:txBody>
                    <a:bodyPr/>
                    <a:lstStyle/>
                    <a:p>
                      <a:pPr algn="ctr">
                        <a:spcAft>
                          <a:spcPts val="0"/>
                        </a:spcAft>
                      </a:pPr>
                      <a:r>
                        <a:rPr lang="zh-CN" sz="1400" kern="100" dirty="0">
                          <a:solidFill>
                            <a:srgbClr val="000000"/>
                          </a:solidFill>
                          <a:effectLst/>
                          <a:latin typeface="微软雅黑" panose="020B0503020204020204" charset="-122"/>
                          <a:ea typeface="微软雅黑" panose="020B0503020204020204" charset="-122"/>
                          <a:cs typeface="+mn-cs"/>
                        </a:rPr>
                        <a:t>寻找优化方法</a:t>
                      </a:r>
                    </a:p>
                  </a:txBody>
                  <a:tcPr marL="68580" marR="68580" marT="0" marB="0" anchor="ctr"/>
                </a:tc>
                <a:extLst>
                  <a:ext uri="{0D108BD9-81ED-4DB2-BD59-A6C34878D82A}">
                    <a16:rowId xmlns:a16="http://schemas.microsoft.com/office/drawing/2014/main" val="10005"/>
                  </a:ext>
                </a:extLst>
              </a:tr>
              <a:tr h="504056">
                <a:tc>
                  <a:txBody>
                    <a:bodyPr/>
                    <a:lstStyle/>
                    <a:p>
                      <a:pPr algn="ctr"/>
                      <a:r>
                        <a:rPr lang="en-US" altLang="zh-CN" sz="1400" kern="100" dirty="0">
                          <a:solidFill>
                            <a:srgbClr val="000000"/>
                          </a:solidFill>
                          <a:effectLst/>
                          <a:latin typeface="微软雅黑" panose="020B0503020204020204" charset="-122"/>
                          <a:ea typeface="微软雅黑" panose="020B0503020204020204" charset="-122"/>
                          <a:cs typeface="+mn-cs"/>
                        </a:rPr>
                        <a:t>6</a:t>
                      </a:r>
                    </a:p>
                  </a:txBody>
                  <a:tcPr/>
                </a:tc>
                <a:tc>
                  <a:txBody>
                    <a:bodyPr/>
                    <a:lstStyle/>
                    <a:p>
                      <a:pPr algn="ctr">
                        <a:spcAft>
                          <a:spcPts val="0"/>
                        </a:spcAft>
                      </a:pPr>
                      <a:r>
                        <a:rPr lang="zh-CN" sz="1400" kern="100" dirty="0">
                          <a:solidFill>
                            <a:srgbClr val="000000"/>
                          </a:solidFill>
                          <a:effectLst/>
                          <a:latin typeface="微软雅黑" panose="020B0503020204020204" charset="-122"/>
                          <a:ea typeface="微软雅黑" panose="020B0503020204020204" charset="-122"/>
                          <a:cs typeface="+mn-cs"/>
                        </a:rPr>
                        <a:t>验证优化算法可行性</a:t>
                      </a:r>
                    </a:p>
                  </a:txBody>
                  <a:tcPr marL="68580" marR="68580" marT="0" marB="0" anchor="ctr"/>
                </a:tc>
                <a:tc>
                  <a:txBody>
                    <a:bodyPr/>
                    <a:lstStyle/>
                    <a:p>
                      <a:pPr marL="0" algn="ctr" defTabSz="914400" rtl="0" eaLnBrk="1" latinLnBrk="0" hangingPunct="1">
                        <a:spcAft>
                          <a:spcPts val="0"/>
                        </a:spcAft>
                      </a:pPr>
                      <a:r>
                        <a:rPr lang="en-US" sz="1400" kern="100" dirty="0">
                          <a:solidFill>
                            <a:srgbClr val="000000"/>
                          </a:solidFill>
                          <a:effectLst/>
                          <a:latin typeface="微软雅黑" panose="020B0503020204020204" charset="-122"/>
                          <a:ea typeface="微软雅黑" panose="020B0503020204020204" charset="-122"/>
                          <a:sym typeface="+mn-ea"/>
                        </a:rPr>
                        <a:t>2020</a:t>
                      </a:r>
                      <a:r>
                        <a:rPr lang="en-US" altLang="zh-CN" sz="1400" kern="100" dirty="0">
                          <a:solidFill>
                            <a:srgbClr val="000000"/>
                          </a:solidFill>
                          <a:effectLst/>
                          <a:latin typeface="微软雅黑" panose="020B0503020204020204" charset="-122"/>
                          <a:ea typeface="微软雅黑" panose="020B0503020204020204" charset="-122"/>
                          <a:sym typeface="+mn-ea"/>
                        </a:rPr>
                        <a:t>.3-</a:t>
                      </a:r>
                      <a:r>
                        <a:rPr lang="en-US" sz="1400" kern="100" dirty="0">
                          <a:solidFill>
                            <a:srgbClr val="000000"/>
                          </a:solidFill>
                          <a:effectLst/>
                          <a:latin typeface="微软雅黑" panose="020B0503020204020204" charset="-122"/>
                          <a:ea typeface="微软雅黑" panose="020B0503020204020204" charset="-122"/>
                          <a:sym typeface="+mn-ea"/>
                        </a:rPr>
                        <a:t>2020.4</a:t>
                      </a:r>
                      <a:endParaRPr lang="zh-CN" sz="1400" kern="100" dirty="0">
                        <a:solidFill>
                          <a:srgbClr val="000000"/>
                        </a:solidFill>
                        <a:effectLst/>
                        <a:latin typeface="微软雅黑" panose="020B0503020204020204" charset="-122"/>
                        <a:ea typeface="微软雅黑" panose="020B0503020204020204" charset="-122"/>
                        <a:cs typeface="+mn-cs"/>
                      </a:endParaRPr>
                    </a:p>
                  </a:txBody>
                  <a:tcPr marL="68580" marR="68580" marT="0" marB="0" anchor="ctr"/>
                </a:tc>
                <a:tc>
                  <a:txBody>
                    <a:bodyPr/>
                    <a:lstStyle/>
                    <a:p>
                      <a:pPr algn="ctr">
                        <a:spcAft>
                          <a:spcPts val="0"/>
                        </a:spcAft>
                      </a:pPr>
                      <a:r>
                        <a:rPr lang="zh-CN" sz="1400" kern="100" dirty="0">
                          <a:solidFill>
                            <a:srgbClr val="000000"/>
                          </a:solidFill>
                          <a:effectLst/>
                          <a:latin typeface="微软雅黑" panose="020B0503020204020204" charset="-122"/>
                          <a:ea typeface="微软雅黑" panose="020B0503020204020204" charset="-122"/>
                          <a:cs typeface="+mn-cs"/>
                        </a:rPr>
                        <a:t>验证优化算法可行性</a:t>
                      </a:r>
                    </a:p>
                  </a:txBody>
                  <a:tcPr marL="68580" marR="68580" marT="0" marB="0" anchor="ctr"/>
                </a:tc>
                <a:extLst>
                  <a:ext uri="{0D108BD9-81ED-4DB2-BD59-A6C34878D82A}">
                    <a16:rowId xmlns:a16="http://schemas.microsoft.com/office/drawing/2014/main" val="10006"/>
                  </a:ext>
                </a:extLst>
              </a:tr>
              <a:tr h="504056">
                <a:tc>
                  <a:txBody>
                    <a:bodyPr/>
                    <a:lstStyle/>
                    <a:p>
                      <a:pPr algn="ctr"/>
                      <a:r>
                        <a:rPr lang="en-US" altLang="zh-CN" sz="1400" kern="100" dirty="0">
                          <a:solidFill>
                            <a:srgbClr val="000000"/>
                          </a:solidFill>
                          <a:effectLst/>
                          <a:latin typeface="微软雅黑" panose="020B0503020204020204" charset="-122"/>
                          <a:ea typeface="微软雅黑" panose="020B0503020204020204" charset="-122"/>
                          <a:cs typeface="+mn-cs"/>
                        </a:rPr>
                        <a:t>7</a:t>
                      </a:r>
                    </a:p>
                  </a:txBody>
                  <a:tcPr/>
                </a:tc>
                <a:tc>
                  <a:txBody>
                    <a:bodyPr/>
                    <a:lstStyle/>
                    <a:p>
                      <a:pPr algn="ctr">
                        <a:spcAft>
                          <a:spcPts val="0"/>
                        </a:spcAft>
                      </a:pPr>
                      <a:r>
                        <a:rPr lang="zh-CN" sz="1400" kern="100" dirty="0">
                          <a:solidFill>
                            <a:srgbClr val="000000"/>
                          </a:solidFill>
                          <a:effectLst/>
                          <a:latin typeface="微软雅黑" panose="020B0503020204020204" charset="-122"/>
                          <a:ea typeface="微软雅黑" panose="020B0503020204020204" charset="-122"/>
                          <a:cs typeface="+mn-cs"/>
                        </a:rPr>
                        <a:t>搭建前台界面并实现前后交互</a:t>
                      </a:r>
                    </a:p>
                  </a:txBody>
                  <a:tcPr marL="68580" marR="68580" marT="0" marB="0" anchor="ctr"/>
                </a:tc>
                <a:tc>
                  <a:txBody>
                    <a:bodyPr/>
                    <a:lstStyle/>
                    <a:p>
                      <a:pPr algn="ctr">
                        <a:spcAft>
                          <a:spcPts val="0"/>
                        </a:spcAft>
                      </a:pPr>
                      <a:r>
                        <a:rPr lang="en-US" sz="1400" kern="100" dirty="0">
                          <a:solidFill>
                            <a:srgbClr val="000000"/>
                          </a:solidFill>
                          <a:effectLst/>
                          <a:latin typeface="微软雅黑" panose="020B0503020204020204" charset="-122"/>
                          <a:ea typeface="微软雅黑" panose="020B0503020204020204" charset="-122"/>
                          <a:cs typeface="+mn-cs"/>
                        </a:rPr>
                        <a:t>2020.</a:t>
                      </a:r>
                      <a:r>
                        <a:rPr lang="en-US" altLang="zh-CN" sz="1400" kern="100" dirty="0">
                          <a:solidFill>
                            <a:srgbClr val="000000"/>
                          </a:solidFill>
                          <a:effectLst/>
                          <a:latin typeface="微软雅黑" panose="020B0503020204020204" charset="-122"/>
                          <a:ea typeface="微软雅黑" panose="020B0503020204020204" charset="-122"/>
                          <a:cs typeface="+mn-cs"/>
                        </a:rPr>
                        <a:t>5-</a:t>
                      </a:r>
                      <a:r>
                        <a:rPr lang="en-US" sz="1400" kern="100" dirty="0">
                          <a:solidFill>
                            <a:srgbClr val="000000"/>
                          </a:solidFill>
                          <a:effectLst/>
                          <a:latin typeface="微软雅黑" panose="020B0503020204020204" charset="-122"/>
                          <a:ea typeface="微软雅黑" panose="020B0503020204020204" charset="-122"/>
                          <a:cs typeface="+mn-cs"/>
                        </a:rPr>
                        <a:t>2020.7</a:t>
                      </a:r>
                      <a:endParaRPr lang="zh-CN" sz="1400" kern="100" dirty="0">
                        <a:solidFill>
                          <a:srgbClr val="000000"/>
                        </a:solidFill>
                        <a:effectLst/>
                        <a:latin typeface="微软雅黑" panose="020B0503020204020204" charset="-122"/>
                        <a:ea typeface="微软雅黑" panose="020B0503020204020204" charset="-122"/>
                        <a:cs typeface="+mn-cs"/>
                      </a:endParaRPr>
                    </a:p>
                  </a:txBody>
                  <a:tcPr marL="68580" marR="68580" marT="0" marB="0" anchor="ctr"/>
                </a:tc>
                <a:tc>
                  <a:txBody>
                    <a:bodyPr/>
                    <a:lstStyle/>
                    <a:p>
                      <a:pPr algn="ctr">
                        <a:spcAft>
                          <a:spcPts val="0"/>
                        </a:spcAft>
                      </a:pPr>
                      <a:r>
                        <a:rPr lang="zh-CN" sz="1400" kern="100" dirty="0">
                          <a:solidFill>
                            <a:srgbClr val="000000"/>
                          </a:solidFill>
                          <a:effectLst/>
                          <a:latin typeface="微软雅黑" panose="020B0503020204020204" charset="-122"/>
                          <a:ea typeface="微软雅黑" panose="020B0503020204020204" charset="-122"/>
                          <a:cs typeface="+mn-cs"/>
                        </a:rPr>
                        <a:t>实现前后台交互</a:t>
                      </a:r>
                    </a:p>
                  </a:txBody>
                  <a:tcPr marL="68580" marR="68580" marT="0" marB="0" anchor="ctr"/>
                </a:tc>
                <a:extLst>
                  <a:ext uri="{0D108BD9-81ED-4DB2-BD59-A6C34878D82A}">
                    <a16:rowId xmlns:a16="http://schemas.microsoft.com/office/drawing/2014/main" val="10007"/>
                  </a:ext>
                </a:extLst>
              </a:tr>
              <a:tr h="504056">
                <a:tc>
                  <a:txBody>
                    <a:bodyPr/>
                    <a:lstStyle/>
                    <a:p>
                      <a:pPr marL="0" algn="ctr" defTabSz="914400" rtl="0" eaLnBrk="1" latinLnBrk="0" hangingPunct="1">
                        <a:spcAft>
                          <a:spcPts val="0"/>
                        </a:spcAft>
                      </a:pPr>
                      <a:r>
                        <a:rPr lang="en-US" altLang="zh-CN" sz="1400" kern="100" dirty="0">
                          <a:solidFill>
                            <a:srgbClr val="000000"/>
                          </a:solidFill>
                          <a:effectLst/>
                          <a:latin typeface="微软雅黑" panose="020B0503020204020204" charset="-122"/>
                          <a:ea typeface="微软雅黑" panose="020B0503020204020204" charset="-122"/>
                          <a:cs typeface="+mn-cs"/>
                        </a:rPr>
                        <a:t>8</a:t>
                      </a:r>
                    </a:p>
                  </a:txBody>
                  <a:tcPr/>
                </a:tc>
                <a:tc>
                  <a:txBody>
                    <a:bodyPr/>
                    <a:lstStyle/>
                    <a:p>
                      <a:pPr marL="0" algn="ctr" defTabSz="914400" rtl="0" eaLnBrk="1" latinLnBrk="0" hangingPunct="1">
                        <a:spcAft>
                          <a:spcPts val="0"/>
                        </a:spcAft>
                      </a:pPr>
                      <a:r>
                        <a:rPr lang="zh-CN" sz="1400" kern="100" dirty="0">
                          <a:solidFill>
                            <a:srgbClr val="000000"/>
                          </a:solidFill>
                          <a:effectLst/>
                          <a:latin typeface="微软雅黑" panose="020B0503020204020204" charset="-122"/>
                          <a:ea typeface="微软雅黑" panose="020B0503020204020204" charset="-122"/>
                          <a:cs typeface="+mn-cs"/>
                        </a:rPr>
                        <a:t>论文初稿</a:t>
                      </a:r>
                    </a:p>
                  </a:txBody>
                  <a:tcPr marL="68580" marR="68580" marT="0" marB="0" anchor="ctr"/>
                </a:tc>
                <a:tc>
                  <a:txBody>
                    <a:bodyPr/>
                    <a:lstStyle/>
                    <a:p>
                      <a:pPr marL="0" algn="ctr" defTabSz="914400" rtl="0" eaLnBrk="1" latinLnBrk="0" hangingPunct="1">
                        <a:spcAft>
                          <a:spcPts val="0"/>
                        </a:spcAft>
                      </a:pPr>
                      <a:r>
                        <a:rPr lang="en-US" sz="1400" kern="100" dirty="0">
                          <a:solidFill>
                            <a:srgbClr val="000000"/>
                          </a:solidFill>
                          <a:effectLst/>
                          <a:latin typeface="微软雅黑" panose="020B0503020204020204" charset="-122"/>
                          <a:ea typeface="微软雅黑" panose="020B0503020204020204" charset="-122"/>
                          <a:cs typeface="+mn-cs"/>
                        </a:rPr>
                        <a:t>2020</a:t>
                      </a:r>
                      <a:r>
                        <a:rPr lang="en-US" altLang="zh-CN" sz="1400" kern="100" dirty="0">
                          <a:solidFill>
                            <a:srgbClr val="000000"/>
                          </a:solidFill>
                          <a:effectLst/>
                          <a:latin typeface="微软雅黑" panose="020B0503020204020204" charset="-122"/>
                          <a:ea typeface="微软雅黑" panose="020B0503020204020204" charset="-122"/>
                          <a:cs typeface="+mn-cs"/>
                        </a:rPr>
                        <a:t>.8</a:t>
                      </a:r>
                      <a:endParaRPr lang="zh-CN" sz="1400" kern="100" dirty="0">
                        <a:solidFill>
                          <a:srgbClr val="000000"/>
                        </a:solidFill>
                        <a:effectLst/>
                        <a:latin typeface="微软雅黑" panose="020B0503020204020204" charset="-122"/>
                        <a:ea typeface="微软雅黑" panose="020B0503020204020204" charset="-122"/>
                        <a:cs typeface="+mn-cs"/>
                      </a:endParaRPr>
                    </a:p>
                  </a:txBody>
                  <a:tcPr marL="68580" marR="68580" marT="0" marB="0" anchor="ctr"/>
                </a:tc>
                <a:tc>
                  <a:txBody>
                    <a:bodyPr/>
                    <a:lstStyle/>
                    <a:p>
                      <a:pPr marL="0" algn="ctr" defTabSz="914400" rtl="0" eaLnBrk="1" latinLnBrk="0" hangingPunct="1">
                        <a:spcAft>
                          <a:spcPts val="0"/>
                        </a:spcAft>
                      </a:pPr>
                      <a:r>
                        <a:rPr lang="zh-CN" sz="1400" kern="100" dirty="0">
                          <a:solidFill>
                            <a:srgbClr val="000000"/>
                          </a:solidFill>
                          <a:effectLst/>
                          <a:latin typeface="微软雅黑" panose="020B0503020204020204" charset="-122"/>
                          <a:ea typeface="微软雅黑" panose="020B0503020204020204" charset="-122"/>
                          <a:cs typeface="+mn-cs"/>
                        </a:rPr>
                        <a:t>撰写论文初稿</a:t>
                      </a:r>
                    </a:p>
                  </a:txBody>
                  <a:tcPr marL="68580" marR="68580" marT="0" marB="0" anchor="ctr"/>
                </a:tc>
                <a:extLst>
                  <a:ext uri="{0D108BD9-81ED-4DB2-BD59-A6C34878D82A}">
                    <a16:rowId xmlns:a16="http://schemas.microsoft.com/office/drawing/2014/main" val="10008"/>
                  </a:ext>
                </a:extLst>
              </a:tr>
              <a:tr h="504056">
                <a:tc>
                  <a:txBody>
                    <a:bodyPr/>
                    <a:lstStyle/>
                    <a:p>
                      <a:pPr marL="0" algn="ctr" defTabSz="914400" rtl="0" eaLnBrk="1" latinLnBrk="0" hangingPunct="1">
                        <a:spcAft>
                          <a:spcPts val="0"/>
                        </a:spcAft>
                      </a:pPr>
                      <a:r>
                        <a:rPr lang="en-US" altLang="zh-CN" sz="1400" kern="100" dirty="0">
                          <a:solidFill>
                            <a:srgbClr val="000000"/>
                          </a:solidFill>
                          <a:effectLst/>
                          <a:latin typeface="微软雅黑" panose="020B0503020204020204" charset="-122"/>
                          <a:ea typeface="微软雅黑" panose="020B0503020204020204" charset="-122"/>
                          <a:cs typeface="+mn-cs"/>
                        </a:rPr>
                        <a:t>9</a:t>
                      </a:r>
                    </a:p>
                  </a:txBody>
                  <a:tcPr/>
                </a:tc>
                <a:tc>
                  <a:txBody>
                    <a:bodyPr/>
                    <a:lstStyle/>
                    <a:p>
                      <a:pPr marL="0" algn="ctr" defTabSz="914400" rtl="0" eaLnBrk="1" latinLnBrk="0" hangingPunct="1">
                        <a:spcAft>
                          <a:spcPts val="0"/>
                        </a:spcAft>
                      </a:pPr>
                      <a:r>
                        <a:rPr lang="zh-CN" altLang="zh-CN" sz="1400" kern="100" dirty="0">
                          <a:solidFill>
                            <a:srgbClr val="000000"/>
                          </a:solidFill>
                          <a:effectLst/>
                          <a:latin typeface="微软雅黑" panose="020B0503020204020204" charset="-122"/>
                          <a:ea typeface="微软雅黑" panose="020B0503020204020204" charset="-122"/>
                          <a:cs typeface="+mn-cs"/>
                        </a:rPr>
                        <a:t>论文定稿</a:t>
                      </a:r>
                    </a:p>
                  </a:txBody>
                  <a:tcPr marL="68580" marR="68580" marT="0" marB="0" anchor="ctr"/>
                </a:tc>
                <a:tc>
                  <a:txBody>
                    <a:bodyPr/>
                    <a:lstStyle/>
                    <a:p>
                      <a:pPr marL="0" algn="ctr" defTabSz="914400" rtl="0" eaLnBrk="1" latinLnBrk="0" hangingPunct="1">
                        <a:spcAft>
                          <a:spcPts val="0"/>
                        </a:spcAft>
                      </a:pPr>
                      <a:r>
                        <a:rPr lang="en-US" sz="1400" kern="100" dirty="0">
                          <a:solidFill>
                            <a:srgbClr val="000000"/>
                          </a:solidFill>
                          <a:effectLst/>
                          <a:latin typeface="微软雅黑" panose="020B0503020204020204" charset="-122"/>
                          <a:ea typeface="微软雅黑" panose="020B0503020204020204" charset="-122"/>
                          <a:sym typeface="+mn-ea"/>
                        </a:rPr>
                        <a:t>2020</a:t>
                      </a:r>
                      <a:r>
                        <a:rPr lang="en-US" altLang="zh-CN" sz="1400" kern="100" dirty="0">
                          <a:solidFill>
                            <a:srgbClr val="000000"/>
                          </a:solidFill>
                          <a:effectLst/>
                          <a:latin typeface="微软雅黑" panose="020B0503020204020204" charset="-122"/>
                          <a:ea typeface="微软雅黑" panose="020B0503020204020204" charset="-122"/>
                          <a:sym typeface="+mn-ea"/>
                        </a:rPr>
                        <a:t>.8-</a:t>
                      </a:r>
                      <a:r>
                        <a:rPr lang="en-US" sz="1400" kern="100" dirty="0">
                          <a:solidFill>
                            <a:srgbClr val="000000"/>
                          </a:solidFill>
                          <a:effectLst/>
                          <a:latin typeface="微软雅黑" panose="020B0503020204020204" charset="-122"/>
                          <a:ea typeface="微软雅黑" panose="020B0503020204020204" charset="-122"/>
                          <a:sym typeface="+mn-ea"/>
                        </a:rPr>
                        <a:t>2020.11</a:t>
                      </a:r>
                      <a:endParaRPr lang="zh-CN" sz="1400" kern="100" dirty="0">
                        <a:solidFill>
                          <a:srgbClr val="000000"/>
                        </a:solidFill>
                        <a:effectLst/>
                        <a:latin typeface="微软雅黑" panose="020B0503020204020204" charset="-122"/>
                        <a:ea typeface="微软雅黑" panose="020B0503020204020204" charset="-122"/>
                        <a:cs typeface="+mn-cs"/>
                      </a:endParaRPr>
                    </a:p>
                  </a:txBody>
                  <a:tcPr marL="68580" marR="68580" marT="0" marB="0" anchor="ctr"/>
                </a:tc>
                <a:tc>
                  <a:txBody>
                    <a:bodyPr/>
                    <a:lstStyle/>
                    <a:p>
                      <a:pPr marL="0" algn="ctr" defTabSz="914400" rtl="0" eaLnBrk="1" latinLnBrk="0" hangingPunct="1">
                        <a:spcAft>
                          <a:spcPts val="0"/>
                        </a:spcAft>
                      </a:pPr>
                      <a:r>
                        <a:rPr lang="zh-CN" sz="1400" kern="100" dirty="0">
                          <a:solidFill>
                            <a:srgbClr val="000000"/>
                          </a:solidFill>
                          <a:effectLst/>
                          <a:latin typeface="微软雅黑" panose="020B0503020204020204" charset="-122"/>
                          <a:ea typeface="微软雅黑" panose="020B0503020204020204" charset="-122"/>
                          <a:cs typeface="+mn-cs"/>
                        </a:rPr>
                        <a:t>论文完成</a:t>
                      </a:r>
                    </a:p>
                  </a:txBody>
                  <a:tcPr marL="68580" marR="68580" marT="0" marB="0" anchor="ct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noChangeArrowheads="1"/>
          </p:cNvPicPr>
          <p:nvPr/>
        </p:nvPicPr>
        <p:blipFill rotWithShape="1">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767" r="7205" b="57679"/>
          <a:stretch>
            <a:fillRect/>
          </a:stretch>
        </p:blipFill>
        <p:spPr bwMode="auto">
          <a:xfrm rot="10800000">
            <a:off x="935596" y="3816916"/>
            <a:ext cx="7272808" cy="469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直角三角形 4"/>
          <p:cNvSpPr/>
          <p:nvPr/>
        </p:nvSpPr>
        <p:spPr>
          <a:xfrm flipH="1">
            <a:off x="4969788" y="2999384"/>
            <a:ext cx="4043850" cy="3679104"/>
          </a:xfrm>
          <a:custGeom>
            <a:avLst/>
            <a:gdLst>
              <a:gd name="connsiteX0" fmla="*/ 0 w 5233726"/>
              <a:gd name="connsiteY0" fmla="*/ 6489848 h 6489848"/>
              <a:gd name="connsiteX1" fmla="*/ 0 w 5233726"/>
              <a:gd name="connsiteY1" fmla="*/ 0 h 6489848"/>
              <a:gd name="connsiteX2" fmla="*/ 5233726 w 5233726"/>
              <a:gd name="connsiteY2" fmla="*/ 6489848 h 6489848"/>
              <a:gd name="connsiteX3" fmla="*/ 0 w 5233726"/>
              <a:gd name="connsiteY3" fmla="*/ 6489848 h 6489848"/>
              <a:gd name="connsiteX0-1" fmla="*/ 0 w 5233726"/>
              <a:gd name="connsiteY0-2" fmla="*/ 6489848 h 6489848"/>
              <a:gd name="connsiteX1-3" fmla="*/ 0 w 5233726"/>
              <a:gd name="connsiteY1-4" fmla="*/ 0 h 6489848"/>
              <a:gd name="connsiteX2-5" fmla="*/ 5233726 w 5233726"/>
              <a:gd name="connsiteY2-6" fmla="*/ 6489848 h 6489848"/>
              <a:gd name="connsiteX3-7" fmla="*/ 0 w 5233726"/>
              <a:gd name="connsiteY3-8" fmla="*/ 6489848 h 6489848"/>
              <a:gd name="connsiteX0-9" fmla="*/ 0 w 5233726"/>
              <a:gd name="connsiteY0-10" fmla="*/ 6489848 h 6489848"/>
              <a:gd name="connsiteX1-11" fmla="*/ 0 w 5233726"/>
              <a:gd name="connsiteY1-12" fmla="*/ 0 h 6489848"/>
              <a:gd name="connsiteX2-13" fmla="*/ 5233726 w 5233726"/>
              <a:gd name="connsiteY2-14" fmla="*/ 6489848 h 6489848"/>
              <a:gd name="connsiteX3-15" fmla="*/ 0 w 5233726"/>
              <a:gd name="connsiteY3-16" fmla="*/ 6489848 h 6489848"/>
              <a:gd name="connsiteX0-17" fmla="*/ 0 w 5233726"/>
              <a:gd name="connsiteY0-18" fmla="*/ 6489848 h 6489848"/>
              <a:gd name="connsiteX1-19" fmla="*/ 0 w 5233726"/>
              <a:gd name="connsiteY1-20" fmla="*/ 0 h 6489848"/>
              <a:gd name="connsiteX2-21" fmla="*/ 5233726 w 5233726"/>
              <a:gd name="connsiteY2-22" fmla="*/ 6489848 h 6489848"/>
              <a:gd name="connsiteX3-23" fmla="*/ 0 w 5233726"/>
              <a:gd name="connsiteY3-24" fmla="*/ 6489848 h 6489848"/>
            </a:gdLst>
            <a:ahLst/>
            <a:cxnLst>
              <a:cxn ang="0">
                <a:pos x="connsiteX0-1" y="connsiteY0-2"/>
              </a:cxn>
              <a:cxn ang="0">
                <a:pos x="connsiteX1-3" y="connsiteY1-4"/>
              </a:cxn>
              <a:cxn ang="0">
                <a:pos x="connsiteX2-5" y="connsiteY2-6"/>
              </a:cxn>
              <a:cxn ang="0">
                <a:pos x="connsiteX3-7" y="connsiteY3-8"/>
              </a:cxn>
            </a:cxnLst>
            <a:rect l="l" t="t" r="r" b="b"/>
            <a:pathLst>
              <a:path w="5233726" h="6489848">
                <a:moveTo>
                  <a:pt x="0" y="6489848"/>
                </a:moveTo>
                <a:lnTo>
                  <a:pt x="0" y="0"/>
                </a:lnTo>
                <a:cubicBezTo>
                  <a:pt x="4675" y="2201383"/>
                  <a:pt x="2866851" y="6485565"/>
                  <a:pt x="5233726" y="6489848"/>
                </a:cubicBezTo>
                <a:lnTo>
                  <a:pt x="0" y="6489848"/>
                </a:lnTo>
                <a:close/>
              </a:path>
            </a:pathLst>
          </a:custGeom>
          <a:solidFill>
            <a:srgbClr val="07206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5956517" y="4941168"/>
            <a:ext cx="2935963" cy="1545834"/>
            <a:chOff x="5940152" y="4941168"/>
            <a:chExt cx="2935963" cy="1545834"/>
          </a:xfrm>
        </p:grpSpPr>
        <p:sp>
          <p:nvSpPr>
            <p:cNvPr id="9" name="椭圆 8"/>
            <p:cNvSpPr/>
            <p:nvPr/>
          </p:nvSpPr>
          <p:spPr>
            <a:xfrm>
              <a:off x="5940152" y="5517232"/>
              <a:ext cx="2935963" cy="936104"/>
            </a:xfrm>
            <a:prstGeom prst="ellipse">
              <a:avLst/>
            </a:prstGeom>
            <a:gradFill flip="none" rotWithShape="1">
              <a:gsLst>
                <a:gs pos="0">
                  <a:schemeClr val="tx1">
                    <a:alpha val="68000"/>
                  </a:schemeClr>
                </a:gs>
                <a:gs pos="100000">
                  <a:schemeClr val="tx1">
                    <a:lumMod val="65000"/>
                    <a:lumOff val="35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pic>
          <p:nvPicPr>
            <p:cNvPr id="10" name="Picture 5" descr="C:\Users\ABC\Desktop\Nipic_11005352_20140416191438596132.png"/>
            <p:cNvPicPr>
              <a:picLocks noChangeAspect="1" noChangeArrowheads="1"/>
            </p:cNvPicPr>
            <p:nvPr/>
          </p:nvPicPr>
          <p:blipFill>
            <a:blip r:embed="rId4" cstate="print">
              <a:grayscl/>
              <a:extLst>
                <a:ext uri="{28A0092B-C50C-407E-A947-70E740481C1C}">
                  <a14:useLocalDpi xmlns:a14="http://schemas.microsoft.com/office/drawing/2010/main" val="0"/>
                </a:ext>
              </a:extLst>
            </a:blip>
            <a:srcRect/>
            <a:stretch>
              <a:fillRect/>
            </a:stretch>
          </p:blipFill>
          <p:spPr bwMode="auto">
            <a:xfrm>
              <a:off x="6336172" y="4941168"/>
              <a:ext cx="2274444" cy="1545834"/>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直角三角形 4"/>
          <p:cNvSpPr/>
          <p:nvPr/>
        </p:nvSpPr>
        <p:spPr>
          <a:xfrm rot="16200000" flipH="1" flipV="1">
            <a:off x="53053" y="287474"/>
            <a:ext cx="2021925" cy="1839552"/>
          </a:xfrm>
          <a:custGeom>
            <a:avLst/>
            <a:gdLst>
              <a:gd name="connsiteX0" fmla="*/ 0 w 5233726"/>
              <a:gd name="connsiteY0" fmla="*/ 6489848 h 6489848"/>
              <a:gd name="connsiteX1" fmla="*/ 0 w 5233726"/>
              <a:gd name="connsiteY1" fmla="*/ 0 h 6489848"/>
              <a:gd name="connsiteX2" fmla="*/ 5233726 w 5233726"/>
              <a:gd name="connsiteY2" fmla="*/ 6489848 h 6489848"/>
              <a:gd name="connsiteX3" fmla="*/ 0 w 5233726"/>
              <a:gd name="connsiteY3" fmla="*/ 6489848 h 6489848"/>
              <a:gd name="connsiteX0-1" fmla="*/ 0 w 5233726"/>
              <a:gd name="connsiteY0-2" fmla="*/ 6489848 h 6489848"/>
              <a:gd name="connsiteX1-3" fmla="*/ 0 w 5233726"/>
              <a:gd name="connsiteY1-4" fmla="*/ 0 h 6489848"/>
              <a:gd name="connsiteX2-5" fmla="*/ 5233726 w 5233726"/>
              <a:gd name="connsiteY2-6" fmla="*/ 6489848 h 6489848"/>
              <a:gd name="connsiteX3-7" fmla="*/ 0 w 5233726"/>
              <a:gd name="connsiteY3-8" fmla="*/ 6489848 h 6489848"/>
              <a:gd name="connsiteX0-9" fmla="*/ 0 w 5233726"/>
              <a:gd name="connsiteY0-10" fmla="*/ 6489848 h 6489848"/>
              <a:gd name="connsiteX1-11" fmla="*/ 0 w 5233726"/>
              <a:gd name="connsiteY1-12" fmla="*/ 0 h 6489848"/>
              <a:gd name="connsiteX2-13" fmla="*/ 5233726 w 5233726"/>
              <a:gd name="connsiteY2-14" fmla="*/ 6489848 h 6489848"/>
              <a:gd name="connsiteX3-15" fmla="*/ 0 w 5233726"/>
              <a:gd name="connsiteY3-16" fmla="*/ 6489848 h 6489848"/>
              <a:gd name="connsiteX0-17" fmla="*/ 0 w 5233726"/>
              <a:gd name="connsiteY0-18" fmla="*/ 6489848 h 6489848"/>
              <a:gd name="connsiteX1-19" fmla="*/ 0 w 5233726"/>
              <a:gd name="connsiteY1-20" fmla="*/ 0 h 6489848"/>
              <a:gd name="connsiteX2-21" fmla="*/ 5233726 w 5233726"/>
              <a:gd name="connsiteY2-22" fmla="*/ 6489848 h 6489848"/>
              <a:gd name="connsiteX3-23" fmla="*/ 0 w 5233726"/>
              <a:gd name="connsiteY3-24" fmla="*/ 6489848 h 6489848"/>
            </a:gdLst>
            <a:ahLst/>
            <a:cxnLst>
              <a:cxn ang="0">
                <a:pos x="connsiteX0-1" y="connsiteY0-2"/>
              </a:cxn>
              <a:cxn ang="0">
                <a:pos x="connsiteX1-3" y="connsiteY1-4"/>
              </a:cxn>
              <a:cxn ang="0">
                <a:pos x="connsiteX2-5" y="connsiteY2-6"/>
              </a:cxn>
              <a:cxn ang="0">
                <a:pos x="connsiteX3-7" y="connsiteY3-8"/>
              </a:cxn>
            </a:cxnLst>
            <a:rect l="l" t="t" r="r" b="b"/>
            <a:pathLst>
              <a:path w="5233726" h="6489848">
                <a:moveTo>
                  <a:pt x="0" y="6489848"/>
                </a:moveTo>
                <a:lnTo>
                  <a:pt x="0" y="0"/>
                </a:lnTo>
                <a:cubicBezTo>
                  <a:pt x="4675" y="2201383"/>
                  <a:pt x="2866851" y="6485565"/>
                  <a:pt x="5233726" y="6489848"/>
                </a:cubicBezTo>
                <a:lnTo>
                  <a:pt x="0" y="6489848"/>
                </a:lnTo>
                <a:close/>
              </a:path>
            </a:pathLst>
          </a:custGeom>
          <a:solidFill>
            <a:srgbClr val="07206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331639" y="2727726"/>
            <a:ext cx="6480720" cy="829945"/>
          </a:xfrm>
          <a:prstGeom prst="rect">
            <a:avLst/>
          </a:prstGeom>
          <a:noFill/>
        </p:spPr>
        <p:txBody>
          <a:bodyPr wrap="square" rtlCol="0">
            <a:spAutoFit/>
          </a:bodyPr>
          <a:lstStyle/>
          <a:p>
            <a:pPr algn="ctr"/>
            <a:r>
              <a:rPr lang="zh-CN" altLang="en-US" sz="4800" b="1" dirty="0">
                <a:solidFill>
                  <a:srgbClr val="072063"/>
                </a:solidFill>
                <a:latin typeface="黑体" panose="02010609060101010101" pitchFamily="49" charset="-122"/>
                <a:ea typeface="黑体" panose="02010609060101010101" pitchFamily="49" charset="-122"/>
              </a:rPr>
              <a:t>谢谢各位老师</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1526</Words>
  <Application>Microsoft Office PowerPoint</Application>
  <PresentationFormat>全屏显示(4:3)</PresentationFormat>
  <Paragraphs>193</Paragraphs>
  <Slides>26</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26</vt:i4>
      </vt:variant>
    </vt:vector>
  </HeadingPairs>
  <TitlesOfParts>
    <vt:vector size="36" baseType="lpstr">
      <vt:lpstr>黑体</vt:lpstr>
      <vt:lpstr>楷体_GB2312</vt:lpstr>
      <vt:lpstr>宋体</vt:lpstr>
      <vt:lpstr>微软雅黑</vt:lpstr>
      <vt:lpstr>幼圆</vt:lpstr>
      <vt:lpstr>Arial</vt:lpstr>
      <vt:lpstr>Calibri</vt:lpstr>
      <vt:lpstr>Wingdings</vt:lpstr>
      <vt:lpstr>Office 主题</vt:lpstr>
      <vt:lpstr>Equation.KSEE3</vt:lpstr>
      <vt:lpstr>PowerPoint 演示文稿</vt:lpstr>
      <vt:lpstr>目录</vt:lpstr>
      <vt:lpstr>PowerPoint 演示文稿</vt:lpstr>
      <vt:lpstr>课程学习阶段</vt:lpstr>
      <vt:lpstr>选题开题阶段</vt:lpstr>
      <vt:lpstr>选题开题阶段</vt:lpstr>
      <vt:lpstr>PowerPoint 演示文稿</vt:lpstr>
      <vt:lpstr>选题背景及研究意义 </vt:lpstr>
      <vt:lpstr>PowerPoint 演示文稿</vt:lpstr>
      <vt:lpstr>PowerPoint 演示文稿</vt:lpstr>
      <vt:lpstr>PowerPoint 演示文稿</vt:lpstr>
      <vt:lpstr>PowerPoint 演示文稿</vt:lpstr>
      <vt:lpstr>PowerPoint 演示文稿</vt:lpstr>
      <vt:lpstr>一、精确算法</vt:lpstr>
      <vt:lpstr>二、启发式算法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工作计划</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ABC</dc:creator>
  <cp:lastModifiedBy>吴 思烜</cp:lastModifiedBy>
  <cp:revision>520</cp:revision>
  <cp:lastPrinted>2016-07-07T12:12:00Z</cp:lastPrinted>
  <dcterms:created xsi:type="dcterms:W3CDTF">2014-01-24T11:37:00Z</dcterms:created>
  <dcterms:modified xsi:type="dcterms:W3CDTF">2020-10-27T13:22:03Z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2052-11.8.2.8276</vt:lpwstr>
  </property>
  <property fmtid="{D5CDD505-2E9C-101B-9397-08002B2CF9AE}" pid="3" name="KSORubyTemplateID">
    <vt:lpwstr>8</vt:lpwstr>
  </property>
</Properties>
</file>