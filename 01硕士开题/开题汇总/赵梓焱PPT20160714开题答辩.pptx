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0" r:id="rId2"/>
    <p:sldId id="310" r:id="rId3"/>
    <p:sldId id="343" r:id="rId4"/>
    <p:sldId id="335" r:id="rId5"/>
    <p:sldId id="349" r:id="rId6"/>
    <p:sldId id="354" r:id="rId7"/>
    <p:sldId id="300" r:id="rId8"/>
    <p:sldId id="350" r:id="rId9"/>
    <p:sldId id="340" r:id="rId10"/>
    <p:sldId id="341" r:id="rId11"/>
    <p:sldId id="342" r:id="rId12"/>
    <p:sldId id="339" r:id="rId13"/>
    <p:sldId id="351" r:id="rId14"/>
    <p:sldId id="301" r:id="rId15"/>
    <p:sldId id="302" r:id="rId16"/>
    <p:sldId id="352" r:id="rId17"/>
    <p:sldId id="324" r:id="rId18"/>
    <p:sldId id="325" r:id="rId19"/>
    <p:sldId id="326" r:id="rId20"/>
    <p:sldId id="353" r:id="rId21"/>
    <p:sldId id="329" r:id="rId22"/>
    <p:sldId id="355" r:id="rId23"/>
    <p:sldId id="279" r:id="rId2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66FFFF"/>
    <a:srgbClr val="FFFF00"/>
    <a:srgbClr val="CCFF66"/>
    <a:srgbClr val="FF9900"/>
    <a:srgbClr val="996633"/>
    <a:srgbClr val="B49962"/>
    <a:srgbClr val="C1AA7D"/>
    <a:srgbClr val="CCCC00"/>
    <a:srgbClr val="FFD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6" autoAdjust="0"/>
    <p:restoredTop sz="86989" autoAdjust="0"/>
  </p:normalViewPr>
  <p:slideViewPr>
    <p:cSldViewPr>
      <p:cViewPr>
        <p:scale>
          <a:sx n="80" d="100"/>
          <a:sy n="80" d="100"/>
        </p:scale>
        <p:origin x="1296" y="-6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07A74-1219-45E8-A05B-3C1664AD1F4D}" type="datetimeFigureOut">
              <a:rPr lang="zh-CN" altLang="en-US" smtClean="0"/>
              <a:t>2016/7/15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14379-9AA5-4B71-872D-05C2A73895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79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asdfjskjdflkadsjfakjdsfsadfs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400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704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2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59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187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09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981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424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311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185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283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497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785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24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923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1526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9141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09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9543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427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7111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针对此课题，我将从以上六个部分来进行说明。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3460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14379-9AA5-4B71-872D-05C2A738958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11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422043-42C6-44D2-AC91-6A8FCF365AA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0CA936-51EE-484A-A2B5-0A7EAA17800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77D9DD-8396-44B6-BB8D-52E055354F7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366822-853F-4C78-9CB8-55E46DC5AEA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4C1989-F8AE-4CC3-9649-1D887E630CB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A102B-F031-41B8-958E-9678B243ACA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F0BB9E-0658-47FF-B535-BA8C4CCDDF1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C12664-8234-492F-9074-32CD7A16DCC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02C199-CFD2-4FFB-A8E4-21C780F2A93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CB7869-F1D9-45A9-87DD-2D51971F522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10048A-4519-4E69-90F7-063304CD34C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95C5B83-1E09-4C45-821E-59B46CFBE43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446C367-865F-4C84-938D-069FB8667E3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4" name="圆角矩形 6"/>
          <p:cNvSpPr/>
          <p:nvPr/>
        </p:nvSpPr>
        <p:spPr>
          <a:xfrm>
            <a:off x="251520" y="1474767"/>
            <a:ext cx="8568952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基于数学规划的堆栈式仓储运作优化研究</a:t>
            </a:r>
          </a:p>
        </p:txBody>
      </p:sp>
      <p:sp>
        <p:nvSpPr>
          <p:cNvPr id="6" name="矩形 5"/>
          <p:cNvSpPr/>
          <p:nvPr/>
        </p:nvSpPr>
        <p:spPr>
          <a:xfrm>
            <a:off x="3033019" y="2544869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2015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级硕士学位论文开题答辩</a:t>
            </a:r>
          </a:p>
        </p:txBody>
      </p:sp>
      <p:sp>
        <p:nvSpPr>
          <p:cNvPr id="7" name="圆角矩形 12"/>
          <p:cNvSpPr/>
          <p:nvPr/>
        </p:nvSpPr>
        <p:spPr>
          <a:xfrm>
            <a:off x="3033019" y="3645024"/>
            <a:ext cx="3332548" cy="1498709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姓    名：赵梓焱</a:t>
            </a:r>
            <a:endParaRPr lang="en-US" altLang="zh-CN" dirty="0">
              <a:solidFill>
                <a:srgbClr val="FFFFFF"/>
              </a:solidFill>
              <a:latin typeface="黑体" pitchFamily="49" charset="-122"/>
              <a:ea typeface="黑体" pitchFamily="49" charset="-122"/>
            </a:endParaRPr>
          </a:p>
          <a:p>
            <a:pPr>
              <a:defRPr/>
            </a:pPr>
            <a:r>
              <a:rPr lang="zh-CN" altLang="en-US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学</a:t>
            </a:r>
            <a:r>
              <a:rPr lang="en-US" altLang="zh-CN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号：</a:t>
            </a:r>
            <a:r>
              <a:rPr lang="en-US" altLang="zh-CN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1501170</a:t>
            </a:r>
          </a:p>
          <a:p>
            <a:pPr>
              <a:defRPr/>
            </a:pPr>
            <a:r>
              <a:rPr lang="zh-CN" altLang="en-US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导    师：刘士新（教授）</a:t>
            </a:r>
            <a:endParaRPr lang="en-US" altLang="zh-CN" dirty="0">
              <a:solidFill>
                <a:srgbClr val="FFFFFF"/>
              </a:solidFill>
              <a:latin typeface="黑体" pitchFamily="49" charset="-122"/>
              <a:ea typeface="黑体" pitchFamily="49" charset="-122"/>
            </a:endParaRPr>
          </a:p>
          <a:p>
            <a:pPr>
              <a:defRPr/>
            </a:pPr>
            <a:r>
              <a:rPr lang="zh-CN" altLang="en-US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专    业：系统工程</a:t>
            </a:r>
          </a:p>
        </p:txBody>
      </p:sp>
    </p:spTree>
    <p:extLst>
      <p:ext uri="{BB962C8B-B14F-4D97-AF65-F5344CB8AC3E}">
        <p14:creationId xmlns:p14="http://schemas.microsoft.com/office/powerpoint/2010/main" val="70631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     目录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298729" y="1447464"/>
            <a:ext cx="4576510" cy="613386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前期工作总结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2289175" y="220231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选题背景及意义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298729" y="3678657"/>
            <a:ext cx="4576510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研究内容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89175" y="4437114"/>
            <a:ext cx="4586064" cy="612031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289175" y="5229200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预期成果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2343546" y="1514799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289175" y="292494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文献综述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338732" y="2272256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2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338733" y="2985367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3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343547" y="3735143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4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338735" y="450782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5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343548" y="528348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776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     目录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298729" y="1447464"/>
            <a:ext cx="4576510" cy="613386"/>
          </a:xfrm>
          <a:prstGeom prst="roundRect">
            <a:avLst/>
          </a:prstGeom>
          <a:solidFill>
            <a:srgbClr val="00B050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前期工作总结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2289175" y="220231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选题背景及意义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298729" y="3678657"/>
            <a:ext cx="4576510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研究内容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89175" y="4437114"/>
            <a:ext cx="4586064" cy="612031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289175" y="5229200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预期成果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2343546" y="1514799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289175" y="292494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文献综述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338732" y="2272256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2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338733" y="2985367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3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343547" y="3735143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4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338735" y="450782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5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343548" y="528348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9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376425"/>
              </p:ext>
            </p:extLst>
          </p:nvPr>
        </p:nvGraphicFramePr>
        <p:xfrm>
          <a:off x="952500" y="1340768"/>
          <a:ext cx="7239000" cy="414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Visio" r:id="rId4" imgW="7238965" imgH="4143511" progId="Visio.Drawing.15">
                  <p:embed/>
                </p:oleObj>
              </mc:Choice>
              <mc:Fallback>
                <p:oleObj name="Visio" r:id="rId4" imgW="7238965" imgH="4143511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52500" y="1340768"/>
                        <a:ext cx="7239000" cy="414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3"/>
          <p:cNvSpPr txBox="1">
            <a:spLocks noChangeArrowheads="1"/>
          </p:cNvSpPr>
          <p:nvPr/>
        </p:nvSpPr>
        <p:spPr bwMode="auto">
          <a:xfrm>
            <a:off x="6084168" y="97608"/>
            <a:ext cx="25554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+mn-ea"/>
                <a:ea typeface="+mn-ea"/>
              </a:rPr>
              <a:t>1</a:t>
            </a:r>
            <a:r>
              <a:rPr lang="zh-CN" altLang="en-US" sz="2400" b="1" kern="0" dirty="0">
                <a:solidFill>
                  <a:prstClr val="white"/>
                </a:solidFill>
                <a:latin typeface="+mn-ea"/>
                <a:ea typeface="+mn-ea"/>
              </a:rPr>
              <a:t>、前期工作总结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0592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     目录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298729" y="1447464"/>
            <a:ext cx="4576510" cy="613386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前期工作总结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2289175" y="2202316"/>
            <a:ext cx="4586064" cy="612000"/>
          </a:xfrm>
          <a:prstGeom prst="roundRect">
            <a:avLst/>
          </a:prstGeom>
          <a:solidFill>
            <a:srgbClr val="00B050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选题背景及意义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298729" y="3678657"/>
            <a:ext cx="4576510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研究内容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89175" y="4437114"/>
            <a:ext cx="4586064" cy="612031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289175" y="5229200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预期成果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2343546" y="1514799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289175" y="292494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文献综述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338732" y="2272256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2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338733" y="2985367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3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343547" y="3735143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4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338735" y="450782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5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343548" y="528348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141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4" name="TextBox 18"/>
          <p:cNvSpPr txBox="1"/>
          <p:nvPr/>
        </p:nvSpPr>
        <p:spPr>
          <a:xfrm>
            <a:off x="755576" y="1198012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物流成本在一般的制造产业总成本中占很大比重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），作为物流的重要环节，</a:t>
            </a:r>
            <a:r>
              <a:rPr lang="zh-CN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仓储运作过程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进行系统优化能够大大的节约成本，提升效率，从而提高利润。</a:t>
            </a:r>
          </a:p>
        </p:txBody>
      </p:sp>
      <p:sp>
        <p:nvSpPr>
          <p:cNvPr id="5" name="矩形 4"/>
          <p:cNvSpPr/>
          <p:nvPr/>
        </p:nvSpPr>
        <p:spPr>
          <a:xfrm>
            <a:off x="755576" y="2697080"/>
            <a:ext cx="82058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堆栈式仓储：</a:t>
            </a:r>
            <a:r>
              <a:rPr lang="zh-CN" altLang="en-US" sz="2000" dirty="0"/>
              <a:t>以堆垛方式进行仓储管理，存取过程符合</a:t>
            </a:r>
            <a:r>
              <a:rPr lang="zh-CN" altLang="en-US" sz="2000" dirty="0">
                <a:solidFill>
                  <a:srgbClr val="FF0000"/>
                </a:solidFill>
              </a:rPr>
              <a:t>后入先出</a:t>
            </a:r>
            <a:r>
              <a:rPr lang="zh-CN" altLang="en-US" sz="2000" dirty="0"/>
              <a:t>原则。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5868144" y="97608"/>
            <a:ext cx="2952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、选题背景及意义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985616"/>
            <a:ext cx="8318500" cy="4914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947516"/>
            <a:ext cx="8318500" cy="4991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947516"/>
            <a:ext cx="8346503" cy="5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2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4" name="TextBox 18"/>
          <p:cNvSpPr txBox="1"/>
          <p:nvPr/>
        </p:nvSpPr>
        <p:spPr>
          <a:xfrm>
            <a:off x="755576" y="1198012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物流成本在一般的制造产业总成本中占很大比重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），作为物流的重要环节，</a:t>
            </a:r>
            <a:r>
              <a:rPr lang="zh-CN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仓储运作过程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进行系统优化能够大大的节约成本，提升效率，从而提高利润。</a:t>
            </a:r>
          </a:p>
        </p:txBody>
      </p:sp>
      <p:sp>
        <p:nvSpPr>
          <p:cNvPr id="5" name="矩形 4"/>
          <p:cNvSpPr/>
          <p:nvPr/>
        </p:nvSpPr>
        <p:spPr>
          <a:xfrm>
            <a:off x="755576" y="2697080"/>
            <a:ext cx="82058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堆栈式仓储：</a:t>
            </a:r>
            <a:r>
              <a:rPr lang="zh-CN" altLang="en-US" sz="2000" dirty="0"/>
              <a:t>以堆垛方式进行仓储管理，存取过程符合</a:t>
            </a:r>
            <a:r>
              <a:rPr lang="zh-CN" altLang="en-US" sz="2000" dirty="0">
                <a:solidFill>
                  <a:srgbClr val="FF0000"/>
                </a:solidFill>
              </a:rPr>
              <a:t>后入先出</a:t>
            </a:r>
            <a:r>
              <a:rPr lang="zh-CN" altLang="en-US" sz="2000" dirty="0"/>
              <a:t>原则。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8662" y="4705425"/>
            <a:ext cx="80510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latin typeface="+mn-ea"/>
                <a:ea typeface="+mn-ea"/>
              </a:rPr>
              <a:t>本课题选题：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基于数学规划的堆栈式仓储运作优化研究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。</a:t>
            </a:r>
            <a:endParaRPr lang="zh-CN" altLang="en-US" sz="20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5868144" y="97608"/>
            <a:ext cx="2952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、选题背景及意义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85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     目录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298729" y="1447464"/>
            <a:ext cx="4576510" cy="613386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前期工作总结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2289175" y="220231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选题背景及意义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298729" y="3678657"/>
            <a:ext cx="4576510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研究内容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89175" y="4437114"/>
            <a:ext cx="4586064" cy="612031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289175" y="5229200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预期成果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2343546" y="1514799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289175" y="2924946"/>
            <a:ext cx="4586064" cy="612000"/>
          </a:xfrm>
          <a:prstGeom prst="roundRect">
            <a:avLst/>
          </a:prstGeom>
          <a:solidFill>
            <a:srgbClr val="00B050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文献综述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338732" y="2272256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2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338733" y="2985367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3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343547" y="3735143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4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338735" y="450782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5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343548" y="528348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768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、文献综述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80272"/>
              </p:ext>
            </p:extLst>
          </p:nvPr>
        </p:nvGraphicFramePr>
        <p:xfrm>
          <a:off x="4881" y="1634842"/>
          <a:ext cx="9139119" cy="5159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21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6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7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年份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作者、文献名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主要内容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53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+mn-ea"/>
                          <a:ea typeface="+mn-ea"/>
                          <a:cs typeface="Times New Roman" pitchFamily="18" charset="0"/>
                        </a:rPr>
                        <a:t>2000</a:t>
                      </a:r>
                      <a:endParaRPr lang="zh-CN" altLang="en-US" sz="1800" b="0" dirty="0"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Kim K H, Park Y M,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Ryu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K R. Deriving decision rules to locate export containers in container yards[J]. European Journal of Operational Research, 2000, 124(1):89-101.</a:t>
                      </a:r>
                      <a:endParaRPr lang="zh-CN" alt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集装箱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码头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堆场的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出港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集装箱的入场堆垛问题，出入库的顺序和重量已知，以最小化出库时的倒垛次数为目标，并设计了动态规划算法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lang="zh-CN" altLang="en-US" sz="1800" b="0" dirty="0"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39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+mn-ea"/>
                          <a:ea typeface="+mn-ea"/>
                          <a:cs typeface="Times New Roman" pitchFamily="18" charset="0"/>
                        </a:rPr>
                        <a:t>2010</a:t>
                      </a:r>
                      <a:endParaRPr lang="zh-CN" altLang="en-US" sz="1800" b="0" dirty="0"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Kang J, Oh M S,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Ahn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 Y, et al. Planning for Intra-block Remarshalling in a Container Terminal[C]. International Conference on Advances in Applied Artificial Intelligence: Industrial, Engineering and Other Applications of Applied Intelligent Systems. Springer-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Verlag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2006:1211-1220.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研究了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2000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Kim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等人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相似的问题，在每个进站货物的重量信息不确定，只能根据以往经验得到一个概率分布的条件下，通过模拟退火方式寻找一个较好的堆垛策略。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2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+mn-ea"/>
                          <a:ea typeface="+mn-ea"/>
                          <a:cs typeface="Times New Roman" pitchFamily="18" charset="0"/>
                        </a:rPr>
                        <a:t>2016</a:t>
                      </a:r>
                      <a:endParaRPr lang="zh-CN" altLang="en-US" sz="1800" b="0" dirty="0"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Chao Lu,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Ruiyou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Zhang,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Shixin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Liu. A 0-1 integer programming model and solving strategies for the slab storage problem[J]. International Journal of Production Research, 2016, 54(8): 2366-2376.</a:t>
                      </a:r>
                      <a:endParaRPr lang="zh-CN" alt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研究了连铸板坯入库垛位推荐问题，以板坯出库倒垛次数的下界作为堆放方案的估算值，建立了该问题的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0-1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整数规划模型，并根据模型性质提出了多种优化求解策略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kumimoji="0" lang="zh-CN" altLang="en-US" sz="18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7564" y="1124744"/>
            <a:ext cx="78840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纯入库问题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96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881" y="1634842"/>
          <a:ext cx="9139119" cy="51802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21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9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5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年份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作者、文献名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主要内容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4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2006</a:t>
                      </a:r>
                      <a:endParaRPr lang="zh-CN" altLang="en-US" sz="1800" b="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Kim K H, Hong G P. A heuristic rule for relocating blocks[J]. Computers &amp; Operations Research, 2006, 33(4):940-954.</a:t>
                      </a:r>
                      <a:endParaRPr lang="zh-CN" alt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研究了出库顺序已知的条件下，以最小化倒垛次数为目标的堆栈式堆垛的出库问题，并设计了分支定界算法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lang="zh-CN" altLang="en-US" sz="1800" b="0" dirty="0"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13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2010</a:t>
                      </a:r>
                      <a:endParaRPr lang="zh-CN" altLang="en-US" sz="1800" b="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Tang L, Ren H. Modelling and a segmented dynamic programming-based heuristic approach for the slab stack shuffling problem[J]. Computers &amp; Operations Research, 2010, 37(2):368-375.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研究了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SSS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slab stack shuffling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）问题，解决如何从堆放在板坯库内的板坯中，为一个轧制计划的各个轧制位选择合适的板坯，使得整个轧制计划中的板坯出库时所需的总倒垛次数最少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23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2012</a:t>
                      </a:r>
                      <a:endParaRPr lang="zh-CN" altLang="en-US" sz="1800" b="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Ünlüyurt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T,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Cenk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Aydin. Improved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rehandling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strategies for the container retrieval process[J]. Journal of Advanced Transportation, 2012, 46(46):378-393.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改进了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Kim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Hong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2006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年提出的分支定界算法，并在最小化倒垛次数之外，增加了最小化转运费用的目标，对这两个目标设计了两个启发式方法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kumimoji="0" lang="zh-CN" altLang="en-US" sz="18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7564" y="1124744"/>
            <a:ext cx="78840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纯出库问题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、文献综述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16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881" y="1536347"/>
          <a:ext cx="9139119" cy="5369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21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3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3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5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年份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作者、文献名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itchFamily="18" charset="0"/>
                          <a:ea typeface="+mj-ea"/>
                          <a:cs typeface="Times New Roman" pitchFamily="18" charset="0"/>
                        </a:rPr>
                        <a:t>主要内容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4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2000</a:t>
                      </a:r>
                      <a:endParaRPr lang="zh-CN" altLang="en-US" sz="1800" b="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Avriel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M, Penn M,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Shpirer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N. Container ship stowage problem: complexity and connection to the coloring of circle graphs[J]. Discrete Applied Mathematics, 2000, 103(1–3):271-279.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研究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了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入库和出库的集装箱已知、顺序不限的出入库联合问题，在该问题中没有缓冲区，每个垛位的高度不限。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作者证明了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当垛位数不超过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时，能够在多项式时间内求解出无倒垛情况发生的解。</a:t>
                      </a:r>
                      <a:endParaRPr lang="zh-CN" altLang="en-US" sz="1800" b="0" dirty="0"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13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2012</a:t>
                      </a:r>
                      <a:endParaRPr lang="zh-CN" altLang="en-US" sz="1800" b="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Jiang X, Lee L H, Chew E P, et al. A container yard storage strategy for improving land utilization and operation efficiency in a transshipment hub port[J]. European Journal of Operational Research, 2012, 221(1):64-73.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研究了港口集装箱货轮之间的集装箱转运问题。这一过程中，集装箱堆场的出入库集装箱集合是已知的，作者研究了集装箱堆场内的集装箱出入库、优化堆场内的交通拥堵、保证各区域工作量均衡等问题，并提出了相应的求解算法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23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2014</a:t>
                      </a:r>
                      <a:endParaRPr lang="zh-CN" altLang="en-US" sz="1800" b="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Tierney K, Pacino D, Jensen R M. On the complexity of container stowage planning problems[J]. Discrete Applied Mathematics, 2014, 169(169):225–230.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研究了与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2000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Avriel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等人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类似的问题，证明了当垛位数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垛位的高度限制固定时，确定出入库集合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出入库联合问题，以最小化倒垛次数为目标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能够在多项式时间内通过动态规划方法求解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kumimoji="0" lang="zh-CN" altLang="en-US" sz="18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7564" y="1124744"/>
            <a:ext cx="78840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联合出入库问题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、文献综述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49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8" name="矩形 7"/>
          <p:cNvSpPr/>
          <p:nvPr/>
        </p:nvSpPr>
        <p:spPr>
          <a:xfrm>
            <a:off x="539552" y="1484784"/>
            <a:ext cx="820891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现有研究不足：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）现有研究多以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集装箱堆场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为背景，有关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板坯库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的研究非常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少。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）现有研究一般只研究出库问题或者只研究入库问题，对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出入库联合管理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问题研究较少。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）现有研究多采用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启发式算法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进行求解，不能保证全局最优性。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9552" y="3797635"/>
            <a:ext cx="8208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000" dirty="0" smtClean="0"/>
              <a:t>本课题：以</a:t>
            </a:r>
            <a:r>
              <a:rPr lang="zh-CN" altLang="en-US" sz="2000" dirty="0"/>
              <a:t>钢铁企业</a:t>
            </a:r>
            <a:r>
              <a:rPr lang="zh-CN" altLang="en-US" sz="2000" dirty="0">
                <a:solidFill>
                  <a:srgbClr val="FF0000"/>
                </a:solidFill>
              </a:rPr>
              <a:t>板坯库</a:t>
            </a:r>
            <a:r>
              <a:rPr lang="zh-CN" altLang="en-US" sz="2000" dirty="0"/>
              <a:t>为背景，研究</a:t>
            </a:r>
            <a:r>
              <a:rPr lang="zh-CN" altLang="en-US" sz="2000" dirty="0">
                <a:solidFill>
                  <a:srgbClr val="FF0000"/>
                </a:solidFill>
              </a:rPr>
              <a:t>堆栈式仓储运作优化</a:t>
            </a:r>
            <a:r>
              <a:rPr lang="zh-CN" altLang="en-US" sz="2000" dirty="0"/>
              <a:t>的</a:t>
            </a:r>
            <a:r>
              <a:rPr lang="zh-CN" altLang="en-US" sz="2000" dirty="0">
                <a:solidFill>
                  <a:srgbClr val="FF0000"/>
                </a:solidFill>
              </a:rPr>
              <a:t>联合出入库管理</a:t>
            </a:r>
            <a:r>
              <a:rPr lang="zh-CN" altLang="en-US" sz="2000" dirty="0"/>
              <a:t>问题。</a:t>
            </a:r>
            <a:endParaRPr lang="en-US" altLang="zh-CN" sz="2000" dirty="0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、文献综述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28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     目录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298729" y="1447464"/>
            <a:ext cx="4576510" cy="613386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前期工作总结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2289175" y="220231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选题背景及意义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298729" y="3678657"/>
            <a:ext cx="4576510" cy="612000"/>
          </a:xfrm>
          <a:prstGeom prst="roundRect">
            <a:avLst/>
          </a:prstGeom>
          <a:solidFill>
            <a:srgbClr val="00B050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研究内容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89175" y="4437114"/>
            <a:ext cx="4586064" cy="612031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289175" y="5229200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预期成果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2343546" y="1514799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289175" y="292494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文献综述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338732" y="2272256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2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338733" y="2985367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3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343547" y="3735143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4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338735" y="450782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5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343548" y="528348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036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6228184" y="97608"/>
            <a:ext cx="24114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400" b="1" kern="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研究内容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5" name="矩形 4"/>
          <p:cNvSpPr/>
          <p:nvPr/>
        </p:nvSpPr>
        <p:spPr>
          <a:xfrm>
            <a:off x="323528" y="148478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问题描述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108233"/>
              </p:ext>
            </p:extLst>
          </p:nvPr>
        </p:nvGraphicFramePr>
        <p:xfrm>
          <a:off x="1582738" y="765175"/>
          <a:ext cx="5976937" cy="532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Visio" r:id="rId4" imgW="5976708" imgH="5329948" progId="Visio.Drawing.11">
                  <p:embed/>
                </p:oleObj>
              </mc:Choice>
              <mc:Fallback>
                <p:oleObj name="Visio" r:id="rId4" imgW="5976708" imgH="5329948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2738" y="765175"/>
                        <a:ext cx="5976937" cy="5329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073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3" name="矩形 2"/>
          <p:cNvSpPr/>
          <p:nvPr/>
        </p:nvSpPr>
        <p:spPr>
          <a:xfrm>
            <a:off x="604846" y="1516142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问题概况</a:t>
            </a:r>
            <a:endParaRPr lang="zh-CN" altLang="en-US" dirty="0"/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6228184" y="97608"/>
            <a:ext cx="24114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400" b="1" kern="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研究内容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16585"/>
              </p:ext>
            </p:extLst>
          </p:nvPr>
        </p:nvGraphicFramePr>
        <p:xfrm>
          <a:off x="899592" y="2420888"/>
          <a:ext cx="6870796" cy="289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Visio" r:id="rId4" imgW="5838754" imgH="2457604" progId="Visio.Drawing.15">
                  <p:embed/>
                </p:oleObj>
              </mc:Choice>
              <mc:Fallback>
                <p:oleObj name="Visio" r:id="rId4" imgW="5838754" imgH="245760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9592" y="2420888"/>
                        <a:ext cx="6870796" cy="2891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48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     目录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298729" y="1447464"/>
            <a:ext cx="4576510" cy="613386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前期工作总结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2289175" y="220231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选题背景及意义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298729" y="3678657"/>
            <a:ext cx="4576510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研究内容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89175" y="4437114"/>
            <a:ext cx="4586064" cy="612031"/>
          </a:xfrm>
          <a:prstGeom prst="roundRect">
            <a:avLst/>
          </a:prstGeom>
          <a:solidFill>
            <a:srgbClr val="00B050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289175" y="5229200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预期成果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2343546" y="1514799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289175" y="292494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文献综述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338732" y="2272256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2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338733" y="2985367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3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343547" y="3735143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4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338735" y="450782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5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343548" y="528348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044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6228184" y="97608"/>
            <a:ext cx="24114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sz="2400" b="1" kern="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研究方法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8" y="1484784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建立数学规划模型</a:t>
            </a:r>
          </a:p>
        </p:txBody>
      </p:sp>
      <p:sp>
        <p:nvSpPr>
          <p:cNvPr id="4" name="矩形 3"/>
          <p:cNvSpPr/>
          <p:nvPr/>
        </p:nvSpPr>
        <p:spPr>
          <a:xfrm>
            <a:off x="3719884" y="2060848"/>
            <a:ext cx="4032448" cy="17281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489558" y="1677352"/>
            <a:ext cx="301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出入库联合调度模型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19884" y="4534930"/>
            <a:ext cx="4032448" cy="7556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489558" y="5405417"/>
            <a:ext cx="301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约束条件、目标函数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98971" y="2190700"/>
            <a:ext cx="1601087" cy="1526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706140" y="2740278"/>
            <a:ext cx="1198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决策变量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705692"/>
              </p:ext>
            </p:extLst>
          </p:nvPr>
        </p:nvGraphicFramePr>
        <p:xfrm>
          <a:off x="554756" y="2322506"/>
          <a:ext cx="6945302" cy="292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name="Visio" r:id="rId4" imgW="5838754" imgH="2457604" progId="Visio.Drawing.15">
                  <p:embed/>
                </p:oleObj>
              </mc:Choice>
              <mc:Fallback>
                <p:oleObj name="Visio" r:id="rId4" imgW="5838754" imgH="2457604" progId="Visio.Drawing.15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4756" y="2322506"/>
                        <a:ext cx="6945302" cy="2923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74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 animBg="1"/>
      <p:bldP spid="11" grpId="0"/>
      <p:bldP spid="12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6228184" y="97608"/>
            <a:ext cx="24114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sz="2400" b="1" kern="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研究方法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8" y="1484784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建立数学规划模型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212510"/>
              </p:ext>
            </p:extLst>
          </p:nvPr>
        </p:nvGraphicFramePr>
        <p:xfrm>
          <a:off x="785813" y="2233613"/>
          <a:ext cx="757237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Visio" r:id="rId4" imgW="7572187" imgH="2390895" progId="Visio.Drawing.15">
                  <p:embed/>
                </p:oleObj>
              </mc:Choice>
              <mc:Fallback>
                <p:oleObj name="Visio" r:id="rId4" imgW="7572187" imgH="239089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5813" y="2233613"/>
                        <a:ext cx="7572375" cy="2390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921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6228184" y="97608"/>
            <a:ext cx="24114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sz="2400" b="1" kern="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研究方法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8" y="1484784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设计算法求解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598673"/>
              </p:ext>
            </p:extLst>
          </p:nvPr>
        </p:nvGraphicFramePr>
        <p:xfrm>
          <a:off x="1841500" y="665163"/>
          <a:ext cx="5459413" cy="552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Visio" r:id="rId4" imgW="5458788" imgH="5528262" progId="Visio.Drawing.11">
                  <p:embed/>
                </p:oleObj>
              </mc:Choice>
              <mc:Fallback>
                <p:oleObj name="Visio" r:id="rId4" imgW="5458788" imgH="552826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41500" y="665163"/>
                        <a:ext cx="5459413" cy="552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225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6544087" y="97608"/>
            <a:ext cx="2095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     目录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298729" y="1447464"/>
            <a:ext cx="4576510" cy="613386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前期工作总结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2289175" y="220231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选题背景及意义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298729" y="3678657"/>
            <a:ext cx="4576510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研究内容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89175" y="4437114"/>
            <a:ext cx="4586064" cy="612031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289175" y="5229200"/>
            <a:ext cx="4586064" cy="612000"/>
          </a:xfrm>
          <a:prstGeom prst="roundRect">
            <a:avLst/>
          </a:prstGeom>
          <a:solidFill>
            <a:srgbClr val="00B050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预期成果</a:t>
            </a:r>
            <a:endParaRPr lang="zh-CN" altLang="en-US" sz="2400" b="1" dirty="0">
              <a:solidFill>
                <a:srgbClr val="FFFFFF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2343546" y="1514799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289175" y="2924946"/>
            <a:ext cx="4586064" cy="612000"/>
          </a:xfrm>
          <a:prstGeom prst="roundRect">
            <a:avLst/>
          </a:prstGeom>
          <a:gradFill>
            <a:gsLst>
              <a:gs pos="0">
                <a:srgbClr val="3A7CCB"/>
              </a:gs>
              <a:gs pos="100000">
                <a:srgbClr val="2C5D98"/>
              </a:gs>
            </a:gsLst>
            <a:lin ang="5400000" scaled="0"/>
          </a:gra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   文献综述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338732" y="2272256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2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338733" y="2985367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3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343547" y="3735143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4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338735" y="450782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5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343548" y="5283488"/>
            <a:ext cx="499243" cy="470602"/>
          </a:xfrm>
          <a:prstGeom prst="roundRect">
            <a:avLst/>
          </a:prstGeom>
          <a:solidFill>
            <a:schemeClr val="bg1"/>
          </a:solidFill>
          <a:ln w="28575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2C5D98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zh-CN" altLang="en-US" sz="2800" b="1" dirty="0">
              <a:solidFill>
                <a:srgbClr val="2C5D98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627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6228184" y="97608"/>
            <a:ext cx="24114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sz="2400" b="1" kern="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预期成果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47664" y="1916832"/>
            <a:ext cx="4455066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、建立出入库联合优化问题的数学模型。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>
                <a:latin typeface="+mn-ea"/>
                <a:ea typeface="+mn-ea"/>
              </a:rPr>
              <a:t>、设计精确算法进行模型求解。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3</a:t>
            </a:r>
            <a:r>
              <a:rPr lang="zh-CN" altLang="en-US" dirty="0" smtClean="0">
                <a:latin typeface="+mn-ea"/>
                <a:ea typeface="+mn-ea"/>
              </a:rPr>
              <a:t>、为实际问题提供全局优化策略。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094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4925" y="6418263"/>
            <a:ext cx="2254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系统工程研究所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6228184" y="97608"/>
            <a:ext cx="24114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kern="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总结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313323"/>
              </p:ext>
            </p:extLst>
          </p:nvPr>
        </p:nvGraphicFramePr>
        <p:xfrm>
          <a:off x="1904802" y="692696"/>
          <a:ext cx="6737409" cy="546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Visio" r:id="rId4" imgW="6943567" imgH="5629293" progId="Visio.Drawing.15">
                  <p:embed/>
                </p:oleObj>
              </mc:Choice>
              <mc:Fallback>
                <p:oleObj name="Visio" r:id="rId4" imgW="6943567" imgH="5629293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4802" y="692696"/>
                        <a:ext cx="6737409" cy="546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79512" y="1484784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主要研究过程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4393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79635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altLang="zh-CN" b="1" dirty="0"/>
          </a:p>
        </p:txBody>
      </p:sp>
      <p:sp>
        <p:nvSpPr>
          <p:cNvPr id="3" name="矩形 2"/>
          <p:cNvSpPr/>
          <p:nvPr/>
        </p:nvSpPr>
        <p:spPr>
          <a:xfrm>
            <a:off x="2591521" y="2812991"/>
            <a:ext cx="41456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/>
              <a:t>谢谢各位老师！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00744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400" dirty="0" smtClean="0"/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18675</TotalTime>
  <Words>1614</Words>
  <Application>Microsoft Office PowerPoint</Application>
  <PresentationFormat>全屏显示(4:3)</PresentationFormat>
  <Paragraphs>244</Paragraphs>
  <Slides>23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黑体</vt:lpstr>
      <vt:lpstr>楷体</vt:lpstr>
      <vt:lpstr>宋体</vt:lpstr>
      <vt:lpstr>微软雅黑</vt:lpstr>
      <vt:lpstr>Arial</vt:lpstr>
      <vt:lpstr>Calibri</vt:lpstr>
      <vt:lpstr>Times New Roman</vt:lpstr>
      <vt:lpstr>Wingdings</vt:lpstr>
      <vt:lpstr>默认设计模板</vt:lpstr>
      <vt:lpstr>Microsoft Visio 绘图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</dc:creator>
  <cp:lastModifiedBy>赵梓焱</cp:lastModifiedBy>
  <cp:revision>1357</cp:revision>
  <dcterms:created xsi:type="dcterms:W3CDTF">2005-09-12T16:20:09Z</dcterms:created>
  <dcterms:modified xsi:type="dcterms:W3CDTF">2016-07-15T04:05:13Z</dcterms:modified>
</cp:coreProperties>
</file>