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sdx" ContentType="application/vnd.ms-visio.drawing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27"/>
  </p:notesMasterIdLst>
  <p:sldIdLst>
    <p:sldId id="258" r:id="rId4"/>
    <p:sldId id="343" r:id="rId5"/>
    <p:sldId id="340" r:id="rId6"/>
    <p:sldId id="344" r:id="rId7"/>
    <p:sldId id="288" r:id="rId8"/>
    <p:sldId id="349" r:id="rId9"/>
    <p:sldId id="350" r:id="rId10"/>
    <p:sldId id="355" r:id="rId11"/>
    <p:sldId id="345" r:id="rId12"/>
    <p:sldId id="351" r:id="rId13"/>
    <p:sldId id="270" r:id="rId14"/>
    <p:sldId id="347" r:id="rId15"/>
    <p:sldId id="329" r:id="rId16"/>
    <p:sldId id="325" r:id="rId17"/>
    <p:sldId id="352" r:id="rId18"/>
    <p:sldId id="353" r:id="rId19"/>
    <p:sldId id="354" r:id="rId20"/>
    <p:sldId id="324" r:id="rId21"/>
    <p:sldId id="348" r:id="rId22"/>
    <p:sldId id="294" r:id="rId23"/>
    <p:sldId id="310" r:id="rId24"/>
    <p:sldId id="279" r:id="rId25"/>
    <p:sldId id="274" r:id="rId2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1785"/>
    <a:srgbClr val="0B0E91"/>
    <a:srgbClr val="0247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714" autoAdjust="0"/>
  </p:normalViewPr>
  <p:slideViewPr>
    <p:cSldViewPr>
      <p:cViewPr varScale="1">
        <p:scale>
          <a:sx n="60" d="100"/>
          <a:sy n="60" d="100"/>
        </p:scale>
        <p:origin x="146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EACF18-F545-4D3B-991F-DAF021B23AA4}" type="datetimeFigureOut">
              <a:rPr lang="zh-CN" altLang="en-US" smtClean="0"/>
              <a:pPr/>
              <a:t>2019/7/18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C0FFAD-6877-4B09-AC1D-6A3195B66F2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90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0FFAD-6877-4B09-AC1D-6A3195B66F28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900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0FFAD-6877-4B09-AC1D-6A3195B66F28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3226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0FFAD-6877-4B09-AC1D-6A3195B66F28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5290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0FFAD-6877-4B09-AC1D-6A3195B66F28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126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0FFAD-6877-4B09-AC1D-6A3195B66F28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6292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0FFAD-6877-4B09-AC1D-6A3195B66F28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695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0FFAD-6877-4B09-AC1D-6A3195B66F28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4032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0FFAD-6877-4B09-AC1D-6A3195B66F28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5771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0FFAD-6877-4B09-AC1D-6A3195B66F28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2343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0FFAD-6877-4B09-AC1D-6A3195B66F28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6323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0FFAD-6877-4B09-AC1D-6A3195B66F28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508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2019/7/18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2019/7/18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2019/7/18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2019/7/18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2019/7/18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2019/7/18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2019/7/18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2019/7/18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2019/7/18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2019/7/18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2019/7/18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2019/7/18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717"/>
    </mc:Choice>
    <mc:Fallback xmlns="">
      <p:transition spd="slow" advTm="5717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2019/7/18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717"/>
    </mc:Choice>
    <mc:Fallback xmlns="">
      <p:transition spd="slow" advTm="5717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44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8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2019/7/18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717"/>
    </mc:Choice>
    <mc:Fallback xmlns="">
      <p:transition spd="slow" advTm="5717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2019/7/18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717"/>
    </mc:Choice>
    <mc:Fallback xmlns="">
      <p:transition spd="slow" advTm="5717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7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2019/7/18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717"/>
    </mc:Choice>
    <mc:Fallback xmlns="">
      <p:transition spd="slow" advTm="5717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2019/7/18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717"/>
    </mc:Choice>
    <mc:Fallback xmlns="">
      <p:transition spd="slow" advTm="5717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2019/7/18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717"/>
    </mc:Choice>
    <mc:Fallback xmlns="">
      <p:transition spd="slow" advTm="5717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31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2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2019/7/18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717"/>
    </mc:Choice>
    <mc:Fallback xmlns="">
      <p:transition spd="slow" advTm="5717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31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2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2019/7/18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717"/>
    </mc:Choice>
    <mc:Fallback xmlns="">
      <p:transition spd="slow" advTm="5717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2019/7/18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717"/>
    </mc:Choice>
    <mc:Fallback xmlns="">
      <p:transition spd="slow" advTm="5717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6" y="365130"/>
            <a:ext cx="1971675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2" y="365130"/>
            <a:ext cx="5800725" cy="581183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2019/7/18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5717"/>
    </mc:Choice>
    <mc:Fallback xmlns="">
      <p:transition spd="slow" advTm="5717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2019/7/18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2019/7/18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2019/7/18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2019/7/18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2019/7/18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2019/7/18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2019/7/18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2019/7/18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2019/7/18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2019/7/18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2019/7/18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2019/7/18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9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3765"/>
            <a:fld id="{71AB7A37-B852-49AB-B2E2-96296AB21F6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913765"/>
              <a:t>2019/7/18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3765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3765"/>
            <a:fld id="{888F8D02-9041-4C59-BC62-13DE0E5C6713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 defTabSz="913765"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1600" advTm="5717"/>
    </mc:Choice>
    <mc:Fallback xmlns="">
      <p:transition spd="slow" advTm="5717"/>
    </mc:Fallback>
  </mc:AlternateContent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2019/7/18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Visio___1.vsdx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__2.vsdx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8.emf"/><Relationship Id="rId4" Type="http://schemas.openxmlformats.org/officeDocument/2006/relationships/package" Target="../embeddings/Microsoft_Visio___3.vsdx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9.emf"/><Relationship Id="rId4" Type="http://schemas.openxmlformats.org/officeDocument/2006/relationships/package" Target="../embeddings/Microsoft_Visio___4.vsdx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Visio___5.vsdx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Freeform 96"/>
          <p:cNvSpPr/>
          <p:nvPr/>
        </p:nvSpPr>
        <p:spPr bwMode="auto">
          <a:xfrm>
            <a:off x="8037476" y="4926395"/>
            <a:ext cx="557117" cy="716604"/>
          </a:xfrm>
          <a:custGeom>
            <a:avLst/>
            <a:gdLst>
              <a:gd name="T0" fmla="*/ 184 w 216"/>
              <a:gd name="T1" fmla="*/ 0 h 208"/>
              <a:gd name="T2" fmla="*/ 152 w 216"/>
              <a:gd name="T3" fmla="*/ 32 h 208"/>
              <a:gd name="T4" fmla="*/ 154 w 216"/>
              <a:gd name="T5" fmla="*/ 41 h 208"/>
              <a:gd name="T6" fmla="*/ 60 w 216"/>
              <a:gd name="T7" fmla="*/ 80 h 208"/>
              <a:gd name="T8" fmla="*/ 32 w 216"/>
              <a:gd name="T9" fmla="*/ 64 h 208"/>
              <a:gd name="T10" fmla="*/ 0 w 216"/>
              <a:gd name="T11" fmla="*/ 96 h 208"/>
              <a:gd name="T12" fmla="*/ 32 w 216"/>
              <a:gd name="T13" fmla="*/ 128 h 208"/>
              <a:gd name="T14" fmla="*/ 56 w 216"/>
              <a:gd name="T15" fmla="*/ 118 h 208"/>
              <a:gd name="T16" fmla="*/ 116 w 216"/>
              <a:gd name="T17" fmla="*/ 161 h 208"/>
              <a:gd name="T18" fmla="*/ 112 w 216"/>
              <a:gd name="T19" fmla="*/ 176 h 208"/>
              <a:gd name="T20" fmla="*/ 144 w 216"/>
              <a:gd name="T21" fmla="*/ 208 h 208"/>
              <a:gd name="T22" fmla="*/ 176 w 216"/>
              <a:gd name="T23" fmla="*/ 176 h 208"/>
              <a:gd name="T24" fmla="*/ 144 w 216"/>
              <a:gd name="T25" fmla="*/ 144 h 208"/>
              <a:gd name="T26" fmla="*/ 121 w 216"/>
              <a:gd name="T27" fmla="*/ 154 h 208"/>
              <a:gd name="T28" fmla="*/ 61 w 216"/>
              <a:gd name="T29" fmla="*/ 111 h 208"/>
              <a:gd name="T30" fmla="*/ 64 w 216"/>
              <a:gd name="T31" fmla="*/ 96 h 208"/>
              <a:gd name="T32" fmla="*/ 63 w 216"/>
              <a:gd name="T33" fmla="*/ 87 h 208"/>
              <a:gd name="T34" fmla="*/ 157 w 216"/>
              <a:gd name="T35" fmla="*/ 48 h 208"/>
              <a:gd name="T36" fmla="*/ 184 w 216"/>
              <a:gd name="T37" fmla="*/ 64 h 208"/>
              <a:gd name="T38" fmla="*/ 216 w 216"/>
              <a:gd name="T39" fmla="*/ 32 h 208"/>
              <a:gd name="T40" fmla="*/ 184 w 216"/>
              <a:gd name="T41" fmla="*/ 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6" h="208">
                <a:moveTo>
                  <a:pt x="184" y="0"/>
                </a:moveTo>
                <a:cubicBezTo>
                  <a:pt x="167" y="0"/>
                  <a:pt x="152" y="14"/>
                  <a:pt x="152" y="32"/>
                </a:cubicBezTo>
                <a:cubicBezTo>
                  <a:pt x="152" y="35"/>
                  <a:pt x="153" y="38"/>
                  <a:pt x="154" y="41"/>
                </a:cubicBezTo>
                <a:cubicBezTo>
                  <a:pt x="60" y="80"/>
                  <a:pt x="60" y="80"/>
                  <a:pt x="60" y="80"/>
                </a:cubicBezTo>
                <a:cubicBezTo>
                  <a:pt x="55" y="70"/>
                  <a:pt x="44" y="64"/>
                  <a:pt x="32" y="64"/>
                </a:cubicBezTo>
                <a:cubicBezTo>
                  <a:pt x="15" y="64"/>
                  <a:pt x="0" y="78"/>
                  <a:pt x="0" y="96"/>
                </a:cubicBezTo>
                <a:cubicBezTo>
                  <a:pt x="0" y="113"/>
                  <a:pt x="15" y="128"/>
                  <a:pt x="32" y="128"/>
                </a:cubicBezTo>
                <a:cubicBezTo>
                  <a:pt x="42" y="128"/>
                  <a:pt x="50" y="124"/>
                  <a:pt x="56" y="118"/>
                </a:cubicBezTo>
                <a:cubicBezTo>
                  <a:pt x="116" y="161"/>
                  <a:pt x="116" y="161"/>
                  <a:pt x="116" y="161"/>
                </a:cubicBezTo>
                <a:cubicBezTo>
                  <a:pt x="114" y="165"/>
                  <a:pt x="112" y="170"/>
                  <a:pt x="112" y="176"/>
                </a:cubicBezTo>
                <a:cubicBezTo>
                  <a:pt x="112" y="193"/>
                  <a:pt x="127" y="208"/>
                  <a:pt x="144" y="208"/>
                </a:cubicBezTo>
                <a:cubicBezTo>
                  <a:pt x="162" y="208"/>
                  <a:pt x="176" y="193"/>
                  <a:pt x="176" y="176"/>
                </a:cubicBezTo>
                <a:cubicBezTo>
                  <a:pt x="176" y="158"/>
                  <a:pt x="162" y="144"/>
                  <a:pt x="144" y="144"/>
                </a:cubicBezTo>
                <a:cubicBezTo>
                  <a:pt x="135" y="144"/>
                  <a:pt x="127" y="148"/>
                  <a:pt x="121" y="154"/>
                </a:cubicBezTo>
                <a:cubicBezTo>
                  <a:pt x="61" y="111"/>
                  <a:pt x="61" y="111"/>
                  <a:pt x="61" y="111"/>
                </a:cubicBezTo>
                <a:cubicBezTo>
                  <a:pt x="63" y="107"/>
                  <a:pt x="64" y="101"/>
                  <a:pt x="64" y="96"/>
                </a:cubicBezTo>
                <a:cubicBezTo>
                  <a:pt x="64" y="93"/>
                  <a:pt x="64" y="90"/>
                  <a:pt x="63" y="87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7"/>
                  <a:pt x="173" y="64"/>
                  <a:pt x="184" y="64"/>
                </a:cubicBezTo>
                <a:cubicBezTo>
                  <a:pt x="202" y="64"/>
                  <a:pt x="216" y="49"/>
                  <a:pt x="216" y="32"/>
                </a:cubicBezTo>
                <a:cubicBezTo>
                  <a:pt x="216" y="14"/>
                  <a:pt x="202" y="0"/>
                  <a:pt x="1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36" tIns="45718" rIns="91436" bIns="45718" numCol="1" anchor="t" anchorCtr="0" compatLnSpc="1"/>
          <a:lstStyle/>
          <a:p>
            <a:pPr defTabSz="913765"/>
            <a:endParaRPr lang="zh-CN" altLang="en-US" sz="1900">
              <a:solidFill>
                <a:srgbClr val="AD1C21"/>
              </a:solidFill>
            </a:endParaRPr>
          </a:p>
        </p:txBody>
      </p:sp>
      <p:pic>
        <p:nvPicPr>
          <p:cNvPr id="19" name="Picture 3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3718" y="389182"/>
            <a:ext cx="1830282" cy="1671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Group 4"/>
          <p:cNvGrpSpPr>
            <a:grpSpLocks noChangeAspect="1"/>
          </p:cNvGrpSpPr>
          <p:nvPr/>
        </p:nvGrpSpPr>
        <p:grpSpPr bwMode="auto">
          <a:xfrm rot="19764056">
            <a:off x="578743" y="1026745"/>
            <a:ext cx="1068050" cy="1326299"/>
            <a:chOff x="1164" y="687"/>
            <a:chExt cx="3219" cy="299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3" name="Freeform 6"/>
            <p:cNvSpPr/>
            <p:nvPr/>
          </p:nvSpPr>
          <p:spPr bwMode="auto">
            <a:xfrm>
              <a:off x="1164" y="687"/>
              <a:ext cx="3219" cy="2998"/>
            </a:xfrm>
            <a:custGeom>
              <a:avLst/>
              <a:gdLst>
                <a:gd name="T0" fmla="*/ 96 w 1360"/>
                <a:gd name="T1" fmla="*/ 404 h 1266"/>
                <a:gd name="T2" fmla="*/ 96 w 1360"/>
                <a:gd name="T3" fmla="*/ 527 h 1266"/>
                <a:gd name="T4" fmla="*/ 105 w 1360"/>
                <a:gd name="T5" fmla="*/ 537 h 1266"/>
                <a:gd name="T6" fmla="*/ 123 w 1360"/>
                <a:gd name="T7" fmla="*/ 616 h 1266"/>
                <a:gd name="T8" fmla="*/ 119 w 1360"/>
                <a:gd name="T9" fmla="*/ 629 h 1266"/>
                <a:gd name="T10" fmla="*/ 147 w 1360"/>
                <a:gd name="T11" fmla="*/ 940 h 1266"/>
                <a:gd name="T12" fmla="*/ 169 w 1360"/>
                <a:gd name="T13" fmla="*/ 1194 h 1266"/>
                <a:gd name="T14" fmla="*/ 175 w 1360"/>
                <a:gd name="T15" fmla="*/ 1266 h 1266"/>
                <a:gd name="T16" fmla="*/ 0 w 1360"/>
                <a:gd name="T17" fmla="*/ 1266 h 1266"/>
                <a:gd name="T18" fmla="*/ 6 w 1360"/>
                <a:gd name="T19" fmla="*/ 1197 h 1266"/>
                <a:gd name="T20" fmla="*/ 38 w 1360"/>
                <a:gd name="T21" fmla="*/ 811 h 1266"/>
                <a:gd name="T22" fmla="*/ 54 w 1360"/>
                <a:gd name="T23" fmla="*/ 629 h 1266"/>
                <a:gd name="T24" fmla="*/ 50 w 1360"/>
                <a:gd name="T25" fmla="*/ 613 h 1266"/>
                <a:gd name="T26" fmla="*/ 71 w 1360"/>
                <a:gd name="T27" fmla="*/ 537 h 1266"/>
                <a:gd name="T28" fmla="*/ 79 w 1360"/>
                <a:gd name="T29" fmla="*/ 525 h 1266"/>
                <a:gd name="T30" fmla="*/ 79 w 1360"/>
                <a:gd name="T31" fmla="*/ 407 h 1266"/>
                <a:gd name="T32" fmla="*/ 70 w 1360"/>
                <a:gd name="T33" fmla="*/ 392 h 1266"/>
                <a:gd name="T34" fmla="*/ 31 w 1360"/>
                <a:gd name="T35" fmla="*/ 374 h 1266"/>
                <a:gd name="T36" fmla="*/ 44 w 1360"/>
                <a:gd name="T37" fmla="*/ 366 h 1266"/>
                <a:gd name="T38" fmla="*/ 624 w 1360"/>
                <a:gd name="T39" fmla="*/ 44 h 1266"/>
                <a:gd name="T40" fmla="*/ 692 w 1360"/>
                <a:gd name="T41" fmla="*/ 5 h 1266"/>
                <a:gd name="T42" fmla="*/ 718 w 1360"/>
                <a:gd name="T43" fmla="*/ 5 h 1266"/>
                <a:gd name="T44" fmla="*/ 1255 w 1360"/>
                <a:gd name="T45" fmla="*/ 275 h 1266"/>
                <a:gd name="T46" fmla="*/ 1360 w 1360"/>
                <a:gd name="T47" fmla="*/ 328 h 1266"/>
                <a:gd name="T48" fmla="*/ 1302 w 1360"/>
                <a:gd name="T49" fmla="*/ 360 h 1266"/>
                <a:gd name="T50" fmla="*/ 723 w 1360"/>
                <a:gd name="T51" fmla="*/ 666 h 1266"/>
                <a:gd name="T52" fmla="*/ 688 w 1360"/>
                <a:gd name="T53" fmla="*/ 668 h 1266"/>
                <a:gd name="T54" fmla="*/ 112 w 1360"/>
                <a:gd name="T55" fmla="*/ 411 h 1266"/>
                <a:gd name="T56" fmla="*/ 96 w 1360"/>
                <a:gd name="T57" fmla="*/ 404 h 1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60" h="1266">
                  <a:moveTo>
                    <a:pt x="96" y="404"/>
                  </a:moveTo>
                  <a:cubicBezTo>
                    <a:pt x="96" y="447"/>
                    <a:pt x="96" y="487"/>
                    <a:pt x="96" y="527"/>
                  </a:cubicBezTo>
                  <a:cubicBezTo>
                    <a:pt x="96" y="531"/>
                    <a:pt x="101" y="535"/>
                    <a:pt x="105" y="537"/>
                  </a:cubicBezTo>
                  <a:cubicBezTo>
                    <a:pt x="136" y="555"/>
                    <a:pt x="144" y="585"/>
                    <a:pt x="123" y="616"/>
                  </a:cubicBezTo>
                  <a:cubicBezTo>
                    <a:pt x="121" y="620"/>
                    <a:pt x="119" y="625"/>
                    <a:pt x="119" y="629"/>
                  </a:cubicBezTo>
                  <a:cubicBezTo>
                    <a:pt x="128" y="733"/>
                    <a:pt x="138" y="836"/>
                    <a:pt x="147" y="940"/>
                  </a:cubicBezTo>
                  <a:cubicBezTo>
                    <a:pt x="154" y="1024"/>
                    <a:pt x="162" y="1109"/>
                    <a:pt x="169" y="1194"/>
                  </a:cubicBezTo>
                  <a:cubicBezTo>
                    <a:pt x="171" y="1217"/>
                    <a:pt x="173" y="1239"/>
                    <a:pt x="175" y="1266"/>
                  </a:cubicBezTo>
                  <a:cubicBezTo>
                    <a:pt x="117" y="1266"/>
                    <a:pt x="60" y="1266"/>
                    <a:pt x="0" y="1266"/>
                  </a:cubicBezTo>
                  <a:cubicBezTo>
                    <a:pt x="2" y="1244"/>
                    <a:pt x="4" y="1220"/>
                    <a:pt x="6" y="1197"/>
                  </a:cubicBezTo>
                  <a:cubicBezTo>
                    <a:pt x="16" y="1068"/>
                    <a:pt x="27" y="940"/>
                    <a:pt x="38" y="811"/>
                  </a:cubicBezTo>
                  <a:cubicBezTo>
                    <a:pt x="43" y="750"/>
                    <a:pt x="49" y="690"/>
                    <a:pt x="54" y="629"/>
                  </a:cubicBezTo>
                  <a:cubicBezTo>
                    <a:pt x="54" y="624"/>
                    <a:pt x="52" y="617"/>
                    <a:pt x="50" y="613"/>
                  </a:cubicBezTo>
                  <a:cubicBezTo>
                    <a:pt x="32" y="583"/>
                    <a:pt x="40" y="553"/>
                    <a:pt x="71" y="537"/>
                  </a:cubicBezTo>
                  <a:cubicBezTo>
                    <a:pt x="75" y="535"/>
                    <a:pt x="79" y="529"/>
                    <a:pt x="79" y="525"/>
                  </a:cubicBezTo>
                  <a:cubicBezTo>
                    <a:pt x="79" y="486"/>
                    <a:pt x="80" y="446"/>
                    <a:pt x="79" y="407"/>
                  </a:cubicBezTo>
                  <a:cubicBezTo>
                    <a:pt x="79" y="402"/>
                    <a:pt x="74" y="395"/>
                    <a:pt x="70" y="392"/>
                  </a:cubicBezTo>
                  <a:cubicBezTo>
                    <a:pt x="58" y="386"/>
                    <a:pt x="45" y="381"/>
                    <a:pt x="31" y="374"/>
                  </a:cubicBezTo>
                  <a:cubicBezTo>
                    <a:pt x="36" y="371"/>
                    <a:pt x="40" y="368"/>
                    <a:pt x="44" y="366"/>
                  </a:cubicBezTo>
                  <a:cubicBezTo>
                    <a:pt x="237" y="259"/>
                    <a:pt x="431" y="151"/>
                    <a:pt x="624" y="44"/>
                  </a:cubicBezTo>
                  <a:cubicBezTo>
                    <a:pt x="647" y="31"/>
                    <a:pt x="670" y="19"/>
                    <a:pt x="692" y="5"/>
                  </a:cubicBezTo>
                  <a:cubicBezTo>
                    <a:pt x="702" y="0"/>
                    <a:pt x="709" y="1"/>
                    <a:pt x="718" y="5"/>
                  </a:cubicBezTo>
                  <a:cubicBezTo>
                    <a:pt x="897" y="96"/>
                    <a:pt x="1076" y="185"/>
                    <a:pt x="1255" y="275"/>
                  </a:cubicBezTo>
                  <a:cubicBezTo>
                    <a:pt x="1289" y="293"/>
                    <a:pt x="1324" y="310"/>
                    <a:pt x="1360" y="328"/>
                  </a:cubicBezTo>
                  <a:cubicBezTo>
                    <a:pt x="1339" y="340"/>
                    <a:pt x="1320" y="350"/>
                    <a:pt x="1302" y="360"/>
                  </a:cubicBezTo>
                  <a:cubicBezTo>
                    <a:pt x="1109" y="462"/>
                    <a:pt x="916" y="564"/>
                    <a:pt x="723" y="666"/>
                  </a:cubicBezTo>
                  <a:cubicBezTo>
                    <a:pt x="711" y="672"/>
                    <a:pt x="701" y="674"/>
                    <a:pt x="688" y="668"/>
                  </a:cubicBezTo>
                  <a:cubicBezTo>
                    <a:pt x="496" y="582"/>
                    <a:pt x="304" y="496"/>
                    <a:pt x="112" y="411"/>
                  </a:cubicBezTo>
                  <a:cubicBezTo>
                    <a:pt x="108" y="409"/>
                    <a:pt x="103" y="407"/>
                    <a:pt x="96" y="404"/>
                  </a:cubicBezTo>
                  <a:close/>
                </a:path>
              </a:pathLst>
            </a:custGeom>
            <a:solidFill>
              <a:srgbClr val="385FA4"/>
            </a:solidFill>
            <a:ln>
              <a:solidFill>
                <a:schemeClr val="accent1"/>
              </a:solidFill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6089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6089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200" algn="l" defTabSz="6089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165" algn="l" defTabSz="6089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7765" algn="l" defTabSz="6089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365" algn="l" defTabSz="6089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6965" algn="l" defTabSz="6089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6565" algn="l" defTabSz="6089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5530" algn="l" defTabSz="6089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HK" altLang="en-US">
                <a:solidFill>
                  <a:prstClr val="black"/>
                </a:solidFill>
              </a:endParaRPr>
            </a:p>
          </p:txBody>
        </p:sp>
        <p:sp>
          <p:nvSpPr>
            <p:cNvPr id="24" name="Freeform 7"/>
            <p:cNvSpPr/>
            <p:nvPr/>
          </p:nvSpPr>
          <p:spPr bwMode="auto">
            <a:xfrm>
              <a:off x="1829" y="1959"/>
              <a:ext cx="2000" cy="947"/>
            </a:xfrm>
            <a:custGeom>
              <a:avLst/>
              <a:gdLst>
                <a:gd name="T0" fmla="*/ 0 w 845"/>
                <a:gd name="T1" fmla="*/ 147 h 400"/>
                <a:gd name="T2" fmla="*/ 78 w 845"/>
                <a:gd name="T3" fmla="*/ 32 h 400"/>
                <a:gd name="T4" fmla="*/ 96 w 845"/>
                <a:gd name="T5" fmla="*/ 28 h 400"/>
                <a:gd name="T6" fmla="*/ 262 w 845"/>
                <a:gd name="T7" fmla="*/ 101 h 400"/>
                <a:gd name="T8" fmla="*/ 417 w 845"/>
                <a:gd name="T9" fmla="*/ 170 h 400"/>
                <a:gd name="T10" fmla="*/ 434 w 845"/>
                <a:gd name="T11" fmla="*/ 167 h 400"/>
                <a:gd name="T12" fmla="*/ 724 w 845"/>
                <a:gd name="T13" fmla="*/ 13 h 400"/>
                <a:gd name="T14" fmla="*/ 749 w 845"/>
                <a:gd name="T15" fmla="*/ 0 h 400"/>
                <a:gd name="T16" fmla="*/ 845 w 845"/>
                <a:gd name="T17" fmla="*/ 143 h 400"/>
                <a:gd name="T18" fmla="*/ 743 w 845"/>
                <a:gd name="T19" fmla="*/ 207 h 400"/>
                <a:gd name="T20" fmla="*/ 448 w 845"/>
                <a:gd name="T21" fmla="*/ 393 h 400"/>
                <a:gd name="T22" fmla="*/ 421 w 845"/>
                <a:gd name="T23" fmla="*/ 394 h 400"/>
                <a:gd name="T24" fmla="*/ 8 w 845"/>
                <a:gd name="T25" fmla="*/ 153 h 400"/>
                <a:gd name="T26" fmla="*/ 0 w 845"/>
                <a:gd name="T27" fmla="*/ 147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5" h="400">
                  <a:moveTo>
                    <a:pt x="0" y="147"/>
                  </a:moveTo>
                  <a:cubicBezTo>
                    <a:pt x="27" y="108"/>
                    <a:pt x="53" y="70"/>
                    <a:pt x="78" y="32"/>
                  </a:cubicBezTo>
                  <a:cubicBezTo>
                    <a:pt x="84" y="24"/>
                    <a:pt x="89" y="25"/>
                    <a:pt x="96" y="28"/>
                  </a:cubicBezTo>
                  <a:cubicBezTo>
                    <a:pt x="151" y="53"/>
                    <a:pt x="206" y="77"/>
                    <a:pt x="262" y="101"/>
                  </a:cubicBezTo>
                  <a:cubicBezTo>
                    <a:pt x="313" y="124"/>
                    <a:pt x="365" y="147"/>
                    <a:pt x="417" y="170"/>
                  </a:cubicBezTo>
                  <a:cubicBezTo>
                    <a:pt x="421" y="172"/>
                    <a:pt x="429" y="170"/>
                    <a:pt x="434" y="167"/>
                  </a:cubicBezTo>
                  <a:cubicBezTo>
                    <a:pt x="531" y="116"/>
                    <a:pt x="627" y="65"/>
                    <a:pt x="724" y="13"/>
                  </a:cubicBezTo>
                  <a:cubicBezTo>
                    <a:pt x="732" y="9"/>
                    <a:pt x="740" y="5"/>
                    <a:pt x="749" y="0"/>
                  </a:cubicBezTo>
                  <a:cubicBezTo>
                    <a:pt x="781" y="48"/>
                    <a:pt x="813" y="95"/>
                    <a:pt x="845" y="143"/>
                  </a:cubicBezTo>
                  <a:cubicBezTo>
                    <a:pt x="811" y="165"/>
                    <a:pt x="777" y="186"/>
                    <a:pt x="743" y="207"/>
                  </a:cubicBezTo>
                  <a:cubicBezTo>
                    <a:pt x="645" y="269"/>
                    <a:pt x="546" y="331"/>
                    <a:pt x="448" y="393"/>
                  </a:cubicBezTo>
                  <a:cubicBezTo>
                    <a:pt x="438" y="399"/>
                    <a:pt x="431" y="400"/>
                    <a:pt x="421" y="394"/>
                  </a:cubicBezTo>
                  <a:cubicBezTo>
                    <a:pt x="284" y="313"/>
                    <a:pt x="146" y="233"/>
                    <a:pt x="8" y="153"/>
                  </a:cubicBezTo>
                  <a:cubicBezTo>
                    <a:pt x="6" y="151"/>
                    <a:pt x="3" y="149"/>
                    <a:pt x="0" y="147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6089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6089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200" algn="l" defTabSz="6089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165" algn="l" defTabSz="6089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7765" algn="l" defTabSz="6089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365" algn="l" defTabSz="6089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6965" algn="l" defTabSz="6089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6565" algn="l" defTabSz="6089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5530" algn="l" defTabSz="6089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HK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420952" y="4614204"/>
            <a:ext cx="60115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3765">
              <a:lnSpc>
                <a:spcPct val="120000"/>
              </a:lnSpc>
            </a:pPr>
            <a:r>
              <a:rPr lang="zh-CN" altLang="en-US" sz="2000" b="1" dirty="0">
                <a:solidFill>
                  <a:srgbClr val="44546A"/>
                </a:solidFill>
                <a:latin typeface="宋体" pitchFamily="2" charset="-122"/>
                <a:ea typeface="宋体" pitchFamily="2" charset="-122"/>
              </a:rPr>
              <a:t>姓名：李星扬              导师：徐建有</a:t>
            </a:r>
            <a:endParaRPr lang="en-US" altLang="zh-CN" sz="2000" b="1" dirty="0">
              <a:solidFill>
                <a:srgbClr val="44546A"/>
              </a:solidFill>
              <a:latin typeface="宋体" pitchFamily="2" charset="-122"/>
              <a:ea typeface="宋体" pitchFamily="2" charset="-122"/>
            </a:endParaRPr>
          </a:p>
          <a:p>
            <a:pPr algn="just" defTabSz="913765">
              <a:lnSpc>
                <a:spcPct val="120000"/>
              </a:lnSpc>
            </a:pPr>
            <a:r>
              <a:rPr lang="zh-CN" altLang="en-US" sz="2000" b="1" dirty="0">
                <a:solidFill>
                  <a:srgbClr val="44546A"/>
                </a:solidFill>
                <a:latin typeface="宋体" pitchFamily="2" charset="-122"/>
                <a:ea typeface="宋体" pitchFamily="2" charset="-122"/>
              </a:rPr>
              <a:t>    专业：控制工程            日期：</a:t>
            </a:r>
            <a:r>
              <a:rPr lang="en-US" altLang="zh-CN" sz="2000" b="1" dirty="0">
                <a:solidFill>
                  <a:srgbClr val="44546A"/>
                </a:solidFill>
                <a:latin typeface="宋体" pitchFamily="2" charset="-122"/>
                <a:ea typeface="宋体" pitchFamily="2" charset="-122"/>
              </a:rPr>
              <a:t>2019.7.20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43587" y="2638781"/>
            <a:ext cx="79288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 smtClean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基于深度学习和</a:t>
            </a:r>
            <a:r>
              <a:rPr lang="en-US" altLang="zh-CN" sz="3600" b="1" dirty="0" smtClean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AR</a:t>
            </a:r>
            <a:r>
              <a:rPr lang="zh-CN" altLang="en-US" sz="3600" b="1" dirty="0" smtClean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技术的加热炉故障可视化诊断方法研究</a:t>
            </a:r>
            <a:endParaRPr lang="zh-CN" altLang="en-US" sz="3600" b="1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直接连接符 79"/>
          <p:cNvCxnSpPr/>
          <p:nvPr/>
        </p:nvCxnSpPr>
        <p:spPr>
          <a:xfrm>
            <a:off x="2267744" y="1124744"/>
            <a:ext cx="0" cy="468052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 rot="5400000">
            <a:off x="-2908716" y="2904936"/>
            <a:ext cx="6818603" cy="100874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 14"/>
          <p:cNvGrpSpPr/>
          <p:nvPr/>
        </p:nvGrpSpPr>
        <p:grpSpPr>
          <a:xfrm>
            <a:off x="-16725" y="6654794"/>
            <a:ext cx="953603" cy="203211"/>
            <a:chOff x="-22302" y="6654791"/>
            <a:chExt cx="1271471" cy="203210"/>
          </a:xfrm>
        </p:grpSpPr>
        <p:sp>
          <p:nvSpPr>
            <p:cNvPr id="9" name="圆角矩形 8"/>
            <p:cNvSpPr/>
            <p:nvPr/>
          </p:nvSpPr>
          <p:spPr>
            <a:xfrm flipV="1">
              <a:off x="240276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圆角矩形 9"/>
            <p:cNvSpPr/>
            <p:nvPr/>
          </p:nvSpPr>
          <p:spPr>
            <a:xfrm flipV="1">
              <a:off x="-22302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圆角矩形 10"/>
            <p:cNvSpPr/>
            <p:nvPr/>
          </p:nvSpPr>
          <p:spPr>
            <a:xfrm flipV="1">
              <a:off x="755838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圆角矩形 11"/>
            <p:cNvSpPr/>
            <p:nvPr/>
          </p:nvSpPr>
          <p:spPr>
            <a:xfrm flipV="1">
              <a:off x="493260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/>
            <p:cNvSpPr/>
            <p:nvPr/>
          </p:nvSpPr>
          <p:spPr>
            <a:xfrm flipV="1">
              <a:off x="1024362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-172953" y="245330"/>
            <a:ext cx="1031043" cy="4519883"/>
          </a:xfrm>
          <a:prstGeom prst="rect">
            <a:avLst/>
          </a:prstGeom>
          <a:noFill/>
        </p:spPr>
        <p:txBody>
          <a:bodyPr vert="eaVert" wrap="square" lIns="91436" tIns="45718" rIns="91436" bIns="45718" rtlCol="0">
            <a:spAutoFit/>
          </a:bodyPr>
          <a:lstStyle/>
          <a:p>
            <a:r>
              <a:rPr lang="en-US" altLang="zh-CN" sz="5500" dirty="0">
                <a:solidFill>
                  <a:schemeClr val="bg1"/>
                </a:solidFill>
                <a:latin typeface="Times New Roman" panose="02020603050405020304" pitchFamily="18" charset="0"/>
              </a:rPr>
              <a:t>CONTENTS</a:t>
            </a:r>
            <a:endParaRPr lang="zh-CN" altLang="en-US" sz="55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" name="组 2"/>
          <p:cNvGrpSpPr/>
          <p:nvPr/>
        </p:nvGrpSpPr>
        <p:grpSpPr>
          <a:xfrm>
            <a:off x="8461613" y="252859"/>
            <a:ext cx="682388" cy="484288"/>
            <a:chOff x="11454105" y="252856"/>
            <a:chExt cx="737892" cy="484288"/>
          </a:xfrm>
        </p:grpSpPr>
        <p:grpSp>
          <p:nvGrpSpPr>
            <p:cNvPr id="5" name="组 1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96" name="圆角矩形 95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圆角矩形 96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" name="圆角矩形 97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" name="圆角矩形 98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圆角矩形 94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101" name="圆角矩形 100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49" name="圆角矩形 48"/>
          <p:cNvSpPr/>
          <p:nvPr/>
        </p:nvSpPr>
        <p:spPr>
          <a:xfrm>
            <a:off x="2417570" y="2349935"/>
            <a:ext cx="4576510" cy="613386"/>
          </a:xfrm>
          <a:prstGeom prst="roundRect">
            <a:avLst/>
          </a:prstGeom>
          <a:solidFill>
            <a:schemeClr val="bg1"/>
          </a:solidFill>
          <a:ln w="28575" cap="rnd" cmpd="sng" algn="ctr">
            <a:solidFill>
              <a:srgbClr val="FFFFFF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lvl="0" algn="ctr">
              <a:defRPr/>
            </a:pPr>
            <a:r>
              <a:rPr lang="zh-CN" altLang="en-US" sz="2400" b="1" dirty="0">
                <a:solidFill>
                  <a:srgbClr val="44546A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800" b="1" dirty="0" smtClean="0">
                <a:solidFill>
                  <a:srgbClr val="44546A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选题依据</a:t>
            </a:r>
            <a:endParaRPr lang="zh-CN" altLang="en-US" sz="2800" b="1" kern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2408016" y="3104787"/>
            <a:ext cx="4586064" cy="612000"/>
          </a:xfrm>
          <a:prstGeom prst="roundRect">
            <a:avLst/>
          </a:prstGeom>
          <a:solidFill>
            <a:srgbClr val="FFFFFF"/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lvl="0" algn="ctr"/>
            <a:r>
              <a:rPr lang="zh-CN" altLang="en-US" sz="2800" b="1" dirty="0" smtClean="0">
                <a:solidFill>
                  <a:srgbClr val="44546A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研究内容</a:t>
            </a:r>
            <a:endParaRPr lang="zh-CN" altLang="en-US" sz="2800" b="1" dirty="0">
              <a:solidFill>
                <a:srgbClr val="44546A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2417570" y="4581128"/>
            <a:ext cx="4576510" cy="612000"/>
          </a:xfrm>
          <a:prstGeom prst="roundRect">
            <a:avLst/>
          </a:prstGeom>
          <a:solidFill>
            <a:srgbClr val="FFFFFF"/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algn="ctr"/>
            <a:r>
              <a:rPr lang="zh-CN" altLang="en-US" sz="2800" b="1" dirty="0" smtClean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研究计划及预期结果</a:t>
            </a:r>
            <a:endParaRPr lang="zh-CN" altLang="en-US" sz="2800" b="1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  <p:sp>
        <p:nvSpPr>
          <p:cNvPr id="53" name="圆角矩形 52"/>
          <p:cNvSpPr/>
          <p:nvPr/>
        </p:nvSpPr>
        <p:spPr>
          <a:xfrm>
            <a:off x="2384745" y="1596076"/>
            <a:ext cx="4586064" cy="612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lvl="0" algn="ctr">
              <a:defRPr/>
            </a:pPr>
            <a:r>
              <a:rPr lang="zh-CN" altLang="en-US" sz="2800" b="1" dirty="0" smtClean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前期学习及研究情况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2462387" y="2417270"/>
            <a:ext cx="499243" cy="470602"/>
          </a:xfrm>
          <a:prstGeom prst="roundRect">
            <a:avLst/>
          </a:prstGeom>
          <a:solidFill>
            <a:srgbClr val="FFFFFF"/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0" dirty="0">
                <a:solidFill>
                  <a:srgbClr val="2C5D98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2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2C5D98"/>
              </a:solidFill>
              <a:effectLst/>
              <a:uLnTx/>
              <a:uFillTx/>
              <a:latin typeface="Times New Roman" pitchFamily="18" charset="0"/>
              <a:ea typeface="黑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2408016" y="3827417"/>
            <a:ext cx="4586064" cy="612000"/>
          </a:xfrm>
          <a:prstGeom prst="roundRect">
            <a:avLst/>
          </a:prstGeom>
          <a:solidFill>
            <a:srgbClr val="FFFFFF"/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algn="ctr"/>
            <a:r>
              <a:rPr lang="zh-CN" altLang="en-US" sz="2800" b="1" dirty="0" smtClean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拟采取的研究方案</a:t>
            </a:r>
            <a:endParaRPr lang="zh-CN" altLang="en-US" sz="2800" b="1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2457573" y="3174727"/>
            <a:ext cx="499243" cy="470602"/>
          </a:xfrm>
          <a:prstGeom prst="roundRect">
            <a:avLst/>
          </a:prstGeom>
          <a:solidFill>
            <a:srgbClr val="FFFFFF"/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0" dirty="0">
                <a:solidFill>
                  <a:srgbClr val="2C5D98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3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2C5D98"/>
              </a:solidFill>
              <a:effectLst/>
              <a:uLnTx/>
              <a:uFillTx/>
              <a:latin typeface="Times New Roman" pitchFamily="18" charset="0"/>
              <a:ea typeface="黑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57" name="圆角矩形 56"/>
          <p:cNvSpPr/>
          <p:nvPr/>
        </p:nvSpPr>
        <p:spPr>
          <a:xfrm>
            <a:off x="2457574" y="3887838"/>
            <a:ext cx="499243" cy="470602"/>
          </a:xfrm>
          <a:prstGeom prst="roundRect">
            <a:avLst/>
          </a:prstGeom>
          <a:solidFill>
            <a:srgbClr val="FFFFFF"/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0" dirty="0">
                <a:solidFill>
                  <a:srgbClr val="2C5D98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4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2C5D98"/>
              </a:solidFill>
              <a:effectLst/>
              <a:uLnTx/>
              <a:uFillTx/>
              <a:latin typeface="Times New Roman" pitchFamily="18" charset="0"/>
              <a:ea typeface="黑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2462388" y="4637614"/>
            <a:ext cx="499243" cy="470602"/>
          </a:xfrm>
          <a:prstGeom prst="roundRect">
            <a:avLst/>
          </a:prstGeom>
          <a:solidFill>
            <a:srgbClr val="FFFFFF"/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0" dirty="0">
                <a:solidFill>
                  <a:srgbClr val="2C5D98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5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2C5D98"/>
              </a:solidFill>
              <a:effectLst/>
              <a:uLnTx/>
              <a:uFillTx/>
              <a:latin typeface="Times New Roman" pitchFamily="18" charset="0"/>
              <a:ea typeface="黑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2439118" y="1650364"/>
            <a:ext cx="499243" cy="470602"/>
          </a:xfrm>
          <a:prstGeom prst="roundRect">
            <a:avLst/>
          </a:prstGeom>
          <a:solidFill>
            <a:srgbClr val="FFFFFF"/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0" dirty="0">
                <a:solidFill>
                  <a:srgbClr val="2C5D98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1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2C5D98"/>
              </a:solidFill>
              <a:effectLst/>
              <a:uLnTx/>
              <a:uFillTx/>
              <a:latin typeface="Times New Roman" pitchFamily="18" charset="0"/>
              <a:ea typeface="黑体" panose="02010609060101010101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772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 advTm="5717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8590" y="6930397"/>
            <a:ext cx="9135410" cy="143627"/>
          </a:xfrm>
          <a:prstGeom prst="rect">
            <a:avLst/>
          </a:prstGeom>
          <a:solidFill>
            <a:srgbClr val="87A5D9"/>
          </a:solidFill>
          <a:ln w="25400" cap="flat" cmpd="sng" algn="ctr">
            <a:solidFill>
              <a:srgbClr val="87A5D9"/>
            </a:solidFill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" name="文本框 9"/>
          <p:cNvSpPr txBox="1"/>
          <p:nvPr/>
        </p:nvSpPr>
        <p:spPr>
          <a:xfrm>
            <a:off x="0" y="286603"/>
            <a:ext cx="34255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prstClr val="white"/>
                </a:solidFill>
                <a:latin typeface="华文楷体" pitchFamily="2" charset="-122"/>
                <a:ea typeface="华文楷体" pitchFamily="2" charset="-122"/>
              </a:rPr>
              <a:t>前期工作总结</a:t>
            </a:r>
          </a:p>
          <a:p>
            <a:endParaRPr lang="zh-CN" altLang="en-US" sz="3200" b="1" dirty="0">
              <a:solidFill>
                <a:prstClr val="white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358616" y="231856"/>
            <a:ext cx="8785384" cy="484505"/>
          </a:xfrm>
          <a:prstGeom prst="rect">
            <a:avLst/>
          </a:prstGeom>
          <a:gradFill>
            <a:gsLst>
              <a:gs pos="0">
                <a:srgbClr val="5B9BD5">
                  <a:lumMod val="5000"/>
                  <a:lumOff val="95000"/>
                  <a:alpha val="0"/>
                </a:srgbClr>
              </a:gs>
              <a:gs pos="78000">
                <a:srgbClr val="4472C4"/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txBody>
          <a:bodyPr lIns="91436" tIns="45718" rIns="91436" bIns="45718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微软雅黑"/>
              <a:cs typeface="+mn-cs"/>
            </a:endParaRPr>
          </a:p>
        </p:txBody>
      </p:sp>
      <p:sp>
        <p:nvSpPr>
          <p:cNvPr id="75" name="圆角矩形 74"/>
          <p:cNvSpPr/>
          <p:nvPr/>
        </p:nvSpPr>
        <p:spPr>
          <a:xfrm rot="10800000" flipV="1">
            <a:off x="-4247" y="223488"/>
            <a:ext cx="363215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91436" tIns="45718" rIns="91436" bIns="45718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+mn-cs"/>
              </a:rPr>
              <a:t>1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/>
              <a:cs typeface="+mn-cs"/>
            </a:endParaRPr>
          </a:p>
        </p:txBody>
      </p:sp>
      <p:grpSp>
        <p:nvGrpSpPr>
          <p:cNvPr id="76" name="组 42"/>
          <p:cNvGrpSpPr/>
          <p:nvPr/>
        </p:nvGrpSpPr>
        <p:grpSpPr>
          <a:xfrm>
            <a:off x="8420669" y="226904"/>
            <a:ext cx="723330" cy="484288"/>
            <a:chOff x="11454105" y="252856"/>
            <a:chExt cx="737892" cy="484288"/>
          </a:xfrm>
        </p:grpSpPr>
        <p:grpSp>
          <p:nvGrpSpPr>
            <p:cNvPr id="77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81" name="圆角矩形 80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微软雅黑"/>
                  <a:cs typeface="+mn-cs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微软雅黑"/>
                  <a:cs typeface="+mn-cs"/>
                </a:endParaRPr>
              </a:p>
            </p:txBody>
          </p:sp>
          <p:sp>
            <p:nvSpPr>
              <p:cNvPr id="83" name="圆角矩形 82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微软雅黑"/>
                  <a:cs typeface="+mn-cs"/>
                </a:endParaRPr>
              </a:p>
            </p:txBody>
          </p:sp>
          <p:sp>
            <p:nvSpPr>
              <p:cNvPr id="84" name="圆角矩形 83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微软雅黑"/>
                  <a:cs typeface="+mn-cs"/>
                </a:endParaRPr>
              </a:p>
            </p:txBody>
          </p:sp>
          <p:sp>
            <p:nvSpPr>
              <p:cNvPr id="85" name="圆角矩形 84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微软雅黑"/>
                  <a:cs typeface="+mn-cs"/>
                </a:endParaRPr>
              </a:p>
            </p:txBody>
          </p:sp>
        </p:grpSp>
        <p:grpSp>
          <p:nvGrpSpPr>
            <p:cNvPr id="78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79" name="圆角矩形 78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/>
                  <a:ea typeface="微软雅黑"/>
                  <a:cs typeface="+mn-cs"/>
                </a:endParaRPr>
              </a:p>
            </p:txBody>
          </p:sp>
          <p:sp>
            <p:nvSpPr>
              <p:cNvPr id="80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AD1C21"/>
                  </a:solidFill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86" name="文本框 9"/>
          <p:cNvSpPr txBox="1"/>
          <p:nvPr/>
        </p:nvSpPr>
        <p:spPr>
          <a:xfrm>
            <a:off x="-1" y="260648"/>
            <a:ext cx="40789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prstClr val="white"/>
                </a:solidFill>
                <a:latin typeface="华文楷体" pitchFamily="2" charset="-122"/>
                <a:ea typeface="华文楷体" pitchFamily="2" charset="-122"/>
              </a:rPr>
              <a:t>前期学习及研究情况</a:t>
            </a:r>
            <a:endParaRPr lang="zh-CN" altLang="en-US" sz="2400" b="1" dirty="0">
              <a:solidFill>
                <a:prstClr val="white"/>
              </a:solidFill>
              <a:latin typeface="华文楷体" pitchFamily="2" charset="-122"/>
              <a:ea typeface="华文楷体" pitchFamily="2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8092872"/>
              </p:ext>
            </p:extLst>
          </p:nvPr>
        </p:nvGraphicFramePr>
        <p:xfrm>
          <a:off x="346770" y="1772816"/>
          <a:ext cx="8440401" cy="42861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5" name="Visio" r:id="rId4" imgW="5689600" imgH="2889425" progId="Visio.Drawing.15">
                  <p:embed/>
                </p:oleObj>
              </mc:Choice>
              <mc:Fallback>
                <p:oleObj name="Visio" r:id="rId4" imgW="5689600" imgH="2889425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6770" y="1772816"/>
                        <a:ext cx="8440401" cy="42861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6845217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直接连接符 79"/>
          <p:cNvCxnSpPr/>
          <p:nvPr/>
        </p:nvCxnSpPr>
        <p:spPr>
          <a:xfrm>
            <a:off x="2267744" y="1124744"/>
            <a:ext cx="0" cy="468052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 rot="5400000">
            <a:off x="-2908716" y="2904936"/>
            <a:ext cx="6818603" cy="100874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 14"/>
          <p:cNvGrpSpPr/>
          <p:nvPr/>
        </p:nvGrpSpPr>
        <p:grpSpPr>
          <a:xfrm>
            <a:off x="-16725" y="6654794"/>
            <a:ext cx="953603" cy="203211"/>
            <a:chOff x="-22302" y="6654791"/>
            <a:chExt cx="1271471" cy="203210"/>
          </a:xfrm>
        </p:grpSpPr>
        <p:sp>
          <p:nvSpPr>
            <p:cNvPr id="9" name="圆角矩形 8"/>
            <p:cNvSpPr/>
            <p:nvPr/>
          </p:nvSpPr>
          <p:spPr>
            <a:xfrm flipV="1">
              <a:off x="240276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圆角矩形 9"/>
            <p:cNvSpPr/>
            <p:nvPr/>
          </p:nvSpPr>
          <p:spPr>
            <a:xfrm flipV="1">
              <a:off x="-22302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圆角矩形 10"/>
            <p:cNvSpPr/>
            <p:nvPr/>
          </p:nvSpPr>
          <p:spPr>
            <a:xfrm flipV="1">
              <a:off x="755838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圆角矩形 11"/>
            <p:cNvSpPr/>
            <p:nvPr/>
          </p:nvSpPr>
          <p:spPr>
            <a:xfrm flipV="1">
              <a:off x="493260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/>
            <p:cNvSpPr/>
            <p:nvPr/>
          </p:nvSpPr>
          <p:spPr>
            <a:xfrm flipV="1">
              <a:off x="1024362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-172953" y="245330"/>
            <a:ext cx="1031043" cy="4519883"/>
          </a:xfrm>
          <a:prstGeom prst="rect">
            <a:avLst/>
          </a:prstGeom>
          <a:noFill/>
        </p:spPr>
        <p:txBody>
          <a:bodyPr vert="eaVert" wrap="square" lIns="91436" tIns="45718" rIns="91436" bIns="45718" rtlCol="0">
            <a:spAutoFit/>
          </a:bodyPr>
          <a:lstStyle/>
          <a:p>
            <a:r>
              <a:rPr lang="en-US" altLang="zh-CN" sz="5500" dirty="0">
                <a:solidFill>
                  <a:schemeClr val="bg1"/>
                </a:solidFill>
                <a:latin typeface="Times New Roman" panose="02020603050405020304" pitchFamily="18" charset="0"/>
              </a:rPr>
              <a:t>CONTENTS</a:t>
            </a:r>
            <a:endParaRPr lang="zh-CN" altLang="en-US" sz="55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" name="组 2"/>
          <p:cNvGrpSpPr/>
          <p:nvPr/>
        </p:nvGrpSpPr>
        <p:grpSpPr>
          <a:xfrm>
            <a:off x="8461613" y="252859"/>
            <a:ext cx="682388" cy="484288"/>
            <a:chOff x="11454105" y="252856"/>
            <a:chExt cx="737892" cy="484288"/>
          </a:xfrm>
        </p:grpSpPr>
        <p:grpSp>
          <p:nvGrpSpPr>
            <p:cNvPr id="5" name="组 1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96" name="圆角矩形 95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圆角矩形 96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" name="圆角矩形 97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" name="圆角矩形 98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圆角矩形 94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101" name="圆角矩形 100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49" name="圆角矩形 48"/>
          <p:cNvSpPr/>
          <p:nvPr/>
        </p:nvSpPr>
        <p:spPr>
          <a:xfrm>
            <a:off x="2417570" y="2349935"/>
            <a:ext cx="4576510" cy="6133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28575" cap="rnd" cmpd="sng" algn="ctr">
            <a:solidFill>
              <a:srgbClr val="FFFFFF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lvl="0" algn="ctr">
              <a:defRPr/>
            </a:pPr>
            <a:r>
              <a:rPr lang="zh-CN" altLang="en-US" sz="2400" b="1" dirty="0">
                <a:solidFill>
                  <a:srgbClr val="44546A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800" b="1" dirty="0" smtClean="0">
                <a:solidFill>
                  <a:srgbClr val="44546A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选题依据</a:t>
            </a:r>
            <a:endParaRPr lang="zh-CN" altLang="en-US" sz="2800" b="1" kern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2408016" y="3104787"/>
            <a:ext cx="4586064" cy="612000"/>
          </a:xfrm>
          <a:prstGeom prst="roundRect">
            <a:avLst/>
          </a:prstGeom>
          <a:solidFill>
            <a:srgbClr val="FFFFFF"/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lvl="0" algn="ctr"/>
            <a:r>
              <a:rPr lang="zh-CN" altLang="en-US" sz="2800" b="1" dirty="0" smtClean="0">
                <a:solidFill>
                  <a:srgbClr val="44546A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研究内容</a:t>
            </a:r>
            <a:endParaRPr lang="zh-CN" altLang="en-US" sz="2800" b="1" dirty="0">
              <a:solidFill>
                <a:srgbClr val="44546A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2417570" y="4581128"/>
            <a:ext cx="4576510" cy="612000"/>
          </a:xfrm>
          <a:prstGeom prst="roundRect">
            <a:avLst/>
          </a:prstGeom>
          <a:solidFill>
            <a:srgbClr val="FFFFFF"/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algn="ctr"/>
            <a:r>
              <a:rPr lang="zh-CN" altLang="en-US" sz="2800" b="1" dirty="0" smtClean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研究计划及预期结果</a:t>
            </a:r>
            <a:endParaRPr lang="zh-CN" altLang="en-US" sz="2800" b="1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  <p:sp>
        <p:nvSpPr>
          <p:cNvPr id="53" name="圆角矩形 52"/>
          <p:cNvSpPr/>
          <p:nvPr/>
        </p:nvSpPr>
        <p:spPr>
          <a:xfrm>
            <a:off x="2384745" y="1596076"/>
            <a:ext cx="4586064" cy="612000"/>
          </a:xfrm>
          <a:prstGeom prst="roundRect">
            <a:avLst/>
          </a:prstGeom>
          <a:solidFill>
            <a:schemeClr val="bg1"/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lvl="0" algn="ctr">
              <a:defRPr/>
            </a:pPr>
            <a:r>
              <a:rPr lang="zh-CN" altLang="en-US" sz="2800" b="1" dirty="0" smtClean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前期学习及研究情况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2462387" y="2417270"/>
            <a:ext cx="499243" cy="470602"/>
          </a:xfrm>
          <a:prstGeom prst="roundRect">
            <a:avLst/>
          </a:prstGeom>
          <a:solidFill>
            <a:srgbClr val="FFFFFF"/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0" dirty="0">
                <a:solidFill>
                  <a:srgbClr val="2C5D98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2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2C5D98"/>
              </a:solidFill>
              <a:effectLst/>
              <a:uLnTx/>
              <a:uFillTx/>
              <a:latin typeface="Times New Roman" pitchFamily="18" charset="0"/>
              <a:ea typeface="黑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2408016" y="3827417"/>
            <a:ext cx="4586064" cy="612000"/>
          </a:xfrm>
          <a:prstGeom prst="roundRect">
            <a:avLst/>
          </a:prstGeom>
          <a:solidFill>
            <a:srgbClr val="FFFFFF"/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algn="ctr"/>
            <a:r>
              <a:rPr lang="zh-CN" altLang="en-US" sz="2800" b="1" dirty="0" smtClean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拟采取的研究方案</a:t>
            </a:r>
            <a:endParaRPr lang="zh-CN" altLang="en-US" sz="2800" b="1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2457573" y="3174727"/>
            <a:ext cx="499243" cy="470602"/>
          </a:xfrm>
          <a:prstGeom prst="roundRect">
            <a:avLst/>
          </a:prstGeom>
          <a:solidFill>
            <a:srgbClr val="FFFFFF"/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0" dirty="0">
                <a:solidFill>
                  <a:srgbClr val="2C5D98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3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2C5D98"/>
              </a:solidFill>
              <a:effectLst/>
              <a:uLnTx/>
              <a:uFillTx/>
              <a:latin typeface="Times New Roman" pitchFamily="18" charset="0"/>
              <a:ea typeface="黑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57" name="圆角矩形 56"/>
          <p:cNvSpPr/>
          <p:nvPr/>
        </p:nvSpPr>
        <p:spPr>
          <a:xfrm>
            <a:off x="2457574" y="3887838"/>
            <a:ext cx="499243" cy="470602"/>
          </a:xfrm>
          <a:prstGeom prst="roundRect">
            <a:avLst/>
          </a:prstGeom>
          <a:solidFill>
            <a:srgbClr val="FFFFFF"/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0" dirty="0">
                <a:solidFill>
                  <a:srgbClr val="2C5D98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4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2C5D98"/>
              </a:solidFill>
              <a:effectLst/>
              <a:uLnTx/>
              <a:uFillTx/>
              <a:latin typeface="Times New Roman" pitchFamily="18" charset="0"/>
              <a:ea typeface="黑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2462388" y="4637614"/>
            <a:ext cx="499243" cy="470602"/>
          </a:xfrm>
          <a:prstGeom prst="roundRect">
            <a:avLst/>
          </a:prstGeom>
          <a:solidFill>
            <a:srgbClr val="FFFFFF"/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0" dirty="0">
                <a:solidFill>
                  <a:srgbClr val="2C5D98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5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2C5D98"/>
              </a:solidFill>
              <a:effectLst/>
              <a:uLnTx/>
              <a:uFillTx/>
              <a:latin typeface="Times New Roman" pitchFamily="18" charset="0"/>
              <a:ea typeface="黑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2439118" y="1650364"/>
            <a:ext cx="499243" cy="470602"/>
          </a:xfrm>
          <a:prstGeom prst="roundRect">
            <a:avLst/>
          </a:prstGeom>
          <a:solidFill>
            <a:srgbClr val="FFFFFF"/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0" dirty="0">
                <a:solidFill>
                  <a:srgbClr val="2C5D98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1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2C5D98"/>
              </a:solidFill>
              <a:effectLst/>
              <a:uLnTx/>
              <a:uFillTx/>
              <a:latin typeface="Times New Roman" pitchFamily="18" charset="0"/>
              <a:ea typeface="黑体" panose="02010609060101010101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806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 advTm="5717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4252" y="6714373"/>
            <a:ext cx="9135410" cy="143627"/>
          </a:xfrm>
          <a:prstGeom prst="rect">
            <a:avLst/>
          </a:prstGeom>
          <a:solidFill>
            <a:srgbClr val="87A5D9"/>
          </a:solidFill>
          <a:ln w="25400" cap="flat" cmpd="sng" algn="ctr">
            <a:solidFill>
              <a:srgbClr val="87A5D9"/>
            </a:solidFill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ysClr val="window" lastClr="FFFFFF"/>
              </a:solidFill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358616" y="231856"/>
            <a:ext cx="8785384" cy="484505"/>
          </a:xfrm>
          <a:prstGeom prst="rect">
            <a:avLst/>
          </a:prstGeom>
          <a:gradFill>
            <a:gsLst>
              <a:gs pos="0">
                <a:srgbClr val="5B9BD5">
                  <a:lumMod val="5000"/>
                  <a:lumOff val="95000"/>
                  <a:alpha val="0"/>
                </a:srgbClr>
              </a:gs>
              <a:gs pos="78000">
                <a:srgbClr val="4472C4"/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txBody>
          <a:bodyPr lIns="91436" tIns="45718" rIns="91436" bIns="45718"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Century Gothic"/>
              <a:ea typeface="微软雅黑"/>
            </a:endParaRPr>
          </a:p>
        </p:txBody>
      </p:sp>
      <p:sp>
        <p:nvSpPr>
          <p:cNvPr id="75" name="圆角矩形 74"/>
          <p:cNvSpPr/>
          <p:nvPr/>
        </p:nvSpPr>
        <p:spPr>
          <a:xfrm rot="10800000" flipV="1">
            <a:off x="-4247" y="223488"/>
            <a:ext cx="363215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91436" tIns="45718" rIns="91436" bIns="45718" rtlCol="0" anchor="ctr"/>
          <a:lstStyle/>
          <a:p>
            <a:pPr algn="ctr">
              <a:defRPr/>
            </a:pPr>
            <a:r>
              <a:rPr lang="en-US" altLang="zh-CN" sz="2400" b="1" kern="0" dirty="0">
                <a:solidFill>
                  <a:prstClr val="white"/>
                </a:solidFill>
                <a:latin typeface="Times New Roman" panose="02020603050405020304" pitchFamily="18" charset="0"/>
                <a:ea typeface="微软雅黑"/>
              </a:rPr>
              <a:t>2</a:t>
            </a:r>
            <a:endParaRPr lang="zh-CN" altLang="en-US" sz="2400" b="1" kern="0" dirty="0">
              <a:solidFill>
                <a:prstClr val="white"/>
              </a:solidFill>
              <a:latin typeface="Times New Roman" panose="02020603050405020304" pitchFamily="18" charset="0"/>
              <a:ea typeface="微软雅黑"/>
            </a:endParaRPr>
          </a:p>
        </p:txBody>
      </p:sp>
      <p:grpSp>
        <p:nvGrpSpPr>
          <p:cNvPr id="2" name="组 42"/>
          <p:cNvGrpSpPr/>
          <p:nvPr/>
        </p:nvGrpSpPr>
        <p:grpSpPr>
          <a:xfrm>
            <a:off x="8420669" y="226904"/>
            <a:ext cx="723330" cy="484288"/>
            <a:chOff x="11454105" y="252856"/>
            <a:chExt cx="737892" cy="484288"/>
          </a:xfrm>
        </p:grpSpPr>
        <p:grpSp>
          <p:nvGrpSpPr>
            <p:cNvPr id="3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81" name="圆角矩形 80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3" name="圆角矩形 82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4" name="圆角矩形 83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5" name="圆角矩形 84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</p:grpSp>
        <p:grpSp>
          <p:nvGrpSpPr>
            <p:cNvPr id="4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79" name="圆角矩形 78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0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40" name="文本框 9"/>
          <p:cNvSpPr txBox="1"/>
          <p:nvPr/>
        </p:nvSpPr>
        <p:spPr>
          <a:xfrm>
            <a:off x="467545" y="260648"/>
            <a:ext cx="2736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prstClr val="white"/>
                </a:solidFill>
                <a:latin typeface="华文楷体" pitchFamily="2" charset="-122"/>
                <a:ea typeface="华文楷体" pitchFamily="2" charset="-122"/>
              </a:rPr>
              <a:t>选题依据</a:t>
            </a:r>
            <a:endParaRPr lang="zh-CN" altLang="en-US" sz="2000" b="1" dirty="0">
              <a:solidFill>
                <a:prstClr val="white"/>
              </a:solidFill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92792" y="921392"/>
            <a:ext cx="1182864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1F497D"/>
                </a:solidFill>
                <a:latin typeface="Times New Roman" pitchFamily="18" charset="0"/>
                <a:cs typeface="Times New Roman" pitchFamily="18" charset="0"/>
              </a:rPr>
              <a:t>背景</a:t>
            </a:r>
            <a:endParaRPr lang="en-US" altLang="zh-CN" sz="2400" b="1" dirty="0">
              <a:solidFill>
                <a:srgbClr val="1F497D"/>
              </a:solidFill>
              <a:latin typeface="宋体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55576" y="2195091"/>
            <a:ext cx="7233857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dirty="0" smtClean="0">
                <a:latin typeface="宋体" panose="02010600030101010101" pitchFamily="2" charset="-122"/>
              </a:rPr>
              <a:t>维护设备</a:t>
            </a:r>
            <a:r>
              <a:rPr lang="zh-CN" altLang="en-US" sz="2000" b="1" dirty="0">
                <a:solidFill>
                  <a:srgbClr val="1F497D"/>
                </a:solidFill>
                <a:latin typeface="Times New Roman" pitchFamily="18" charset="0"/>
                <a:cs typeface="Times New Roman" pitchFamily="18" charset="0"/>
              </a:rPr>
              <a:t>正常</a:t>
            </a:r>
            <a:r>
              <a:rPr lang="zh-CN" altLang="en-US" sz="2000" b="1" dirty="0" smtClean="0">
                <a:solidFill>
                  <a:srgbClr val="1F497D"/>
                </a:solidFill>
                <a:latin typeface="Times New Roman" pitchFamily="18" charset="0"/>
                <a:cs typeface="Times New Roman" pitchFamily="18" charset="0"/>
              </a:rPr>
              <a:t>运转</a:t>
            </a:r>
            <a:r>
              <a:rPr lang="zh-CN" altLang="en-US" dirty="0" smtClean="0">
                <a:latin typeface="宋体" panose="02010600030101010101" pitchFamily="2" charset="-122"/>
              </a:rPr>
              <a:t>是</a:t>
            </a:r>
            <a:r>
              <a:rPr lang="zh-CN" altLang="en-US" dirty="0" smtClean="0">
                <a:latin typeface="宋体" panose="02010600030101010101" pitchFamily="2" charset="-122"/>
              </a:rPr>
              <a:t>实现钢铁制造业向绿色环保、高效发展其</a:t>
            </a:r>
            <a:r>
              <a:rPr lang="zh-CN" altLang="en-US" dirty="0">
                <a:latin typeface="宋体" panose="02010600030101010101" pitchFamily="2" charset="-122"/>
              </a:rPr>
              <a:t>发展的</a:t>
            </a:r>
            <a:r>
              <a:rPr lang="zh-CN" altLang="en-US" sz="2000" b="1" dirty="0">
                <a:solidFill>
                  <a:srgbClr val="1F497D"/>
                </a:solidFill>
                <a:latin typeface="Times New Roman" pitchFamily="18" charset="0"/>
                <a:cs typeface="Times New Roman" pitchFamily="18" charset="0"/>
              </a:rPr>
              <a:t>前提和</a:t>
            </a:r>
            <a:r>
              <a:rPr lang="zh-CN" altLang="en-US" sz="2000" b="1" dirty="0" smtClean="0">
                <a:solidFill>
                  <a:srgbClr val="1F497D"/>
                </a:solidFill>
                <a:latin typeface="Times New Roman" pitchFamily="18" charset="0"/>
                <a:cs typeface="Times New Roman" pitchFamily="18" charset="0"/>
              </a:rPr>
              <a:t>基础</a:t>
            </a:r>
            <a:endParaRPr lang="en-US" altLang="zh-CN" sz="2000" b="1" dirty="0" smtClean="0">
              <a:solidFill>
                <a:srgbClr val="1F497D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20000"/>
              </a:lnSpc>
            </a:pPr>
            <a:endParaRPr lang="en-US" altLang="zh-CN" sz="2000" b="1" dirty="0">
              <a:solidFill>
                <a:srgbClr val="1F497D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zh-CN" dirty="0" smtClean="0"/>
              <a:t>传统</a:t>
            </a:r>
            <a:r>
              <a:rPr lang="zh-CN" altLang="zh-CN" dirty="0"/>
              <a:t>的故障诊断方法大多依赖于人工提取特征</a:t>
            </a:r>
            <a:r>
              <a:rPr lang="zh-CN" altLang="en-US" dirty="0" smtClean="0"/>
              <a:t>，设备故障</a:t>
            </a:r>
            <a:r>
              <a:rPr lang="zh-CN" altLang="en-US" dirty="0"/>
              <a:t>诊断</a:t>
            </a:r>
            <a:r>
              <a:rPr lang="zh-CN" altLang="en-US" sz="2000" b="1" dirty="0">
                <a:solidFill>
                  <a:srgbClr val="1F497D"/>
                </a:solidFill>
                <a:latin typeface="Times New Roman" pitchFamily="18" charset="0"/>
                <a:cs typeface="Times New Roman" pitchFamily="18" charset="0"/>
              </a:rPr>
              <a:t>缺乏</a:t>
            </a:r>
            <a:r>
              <a:rPr lang="zh-CN" altLang="en-US" sz="2000" b="1" dirty="0" smtClean="0">
                <a:solidFill>
                  <a:srgbClr val="1F497D"/>
                </a:solidFill>
                <a:latin typeface="Times New Roman" pitchFamily="18" charset="0"/>
                <a:cs typeface="Times New Roman" pitchFamily="18" charset="0"/>
              </a:rPr>
              <a:t>时效性</a:t>
            </a:r>
            <a:endParaRPr lang="en-US" altLang="zh-CN" sz="2000" b="1" dirty="0" smtClean="0">
              <a:solidFill>
                <a:srgbClr val="1F497D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120000"/>
              </a:lnSpc>
              <a:buFont typeface="Wingdings" panose="05000000000000000000" pitchFamily="2" charset="2"/>
              <a:buChar char="u"/>
            </a:pPr>
            <a:endParaRPr lang="en-US" altLang="zh-CN" sz="2000" b="1" dirty="0">
              <a:solidFill>
                <a:srgbClr val="1F497D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/>
              <a:t>传统工业需要</a:t>
            </a:r>
            <a:r>
              <a:rPr lang="zh-CN" altLang="en-US" sz="2000" b="1" dirty="0">
                <a:solidFill>
                  <a:srgbClr val="1F497D"/>
                </a:solidFill>
                <a:latin typeface="Times New Roman" pitchFamily="18" charset="0"/>
                <a:cs typeface="Times New Roman" pitchFamily="18" charset="0"/>
              </a:rPr>
              <a:t>点检员</a:t>
            </a:r>
            <a:r>
              <a:rPr lang="zh-CN" altLang="en-US" sz="2000" dirty="0"/>
              <a:t>利用测量工器具对设备进行日常点检，在点检</a:t>
            </a:r>
            <a:r>
              <a:rPr lang="zh-CN" altLang="en-US" sz="2000" dirty="0" smtClean="0"/>
              <a:t>单上</a:t>
            </a:r>
            <a:r>
              <a:rPr lang="zh-CN" altLang="en-US" sz="2000" b="1" dirty="0">
                <a:solidFill>
                  <a:srgbClr val="1F497D"/>
                </a:solidFill>
                <a:latin typeface="Times New Roman" pitchFamily="18" charset="0"/>
                <a:cs typeface="Times New Roman" pitchFamily="18" charset="0"/>
              </a:rPr>
              <a:t>手动记录</a:t>
            </a:r>
            <a:r>
              <a:rPr lang="zh-CN" altLang="en-US" sz="2000" dirty="0"/>
              <a:t>温度、压力等</a:t>
            </a:r>
            <a:r>
              <a:rPr lang="zh-CN" altLang="en-US" sz="2000" dirty="0" smtClean="0"/>
              <a:t>信息</a:t>
            </a:r>
            <a:endParaRPr lang="en-US" altLang="zh-CN" sz="2000" b="1" dirty="0" smtClean="0">
              <a:solidFill>
                <a:srgbClr val="1F497D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/>
          <p:cNvSpPr/>
          <p:nvPr/>
        </p:nvSpPr>
        <p:spPr>
          <a:xfrm>
            <a:off x="358616" y="231856"/>
            <a:ext cx="8785384" cy="484505"/>
          </a:xfrm>
          <a:prstGeom prst="rect">
            <a:avLst/>
          </a:prstGeom>
          <a:gradFill>
            <a:gsLst>
              <a:gs pos="0">
                <a:srgbClr val="5B9BD5">
                  <a:lumMod val="5000"/>
                  <a:lumOff val="95000"/>
                  <a:alpha val="0"/>
                </a:srgbClr>
              </a:gs>
              <a:gs pos="78000">
                <a:srgbClr val="4472C4"/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txBody>
          <a:bodyPr lIns="91436" tIns="45718" rIns="91436" bIns="45718"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Century Gothic"/>
              <a:ea typeface="微软雅黑"/>
            </a:endParaRPr>
          </a:p>
        </p:txBody>
      </p:sp>
      <p:sp>
        <p:nvSpPr>
          <p:cNvPr id="75" name="圆角矩形 74"/>
          <p:cNvSpPr/>
          <p:nvPr/>
        </p:nvSpPr>
        <p:spPr>
          <a:xfrm rot="10800000" flipV="1">
            <a:off x="-4247" y="223488"/>
            <a:ext cx="363215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91436" tIns="45718" rIns="91436" bIns="45718" rtlCol="0" anchor="ctr"/>
          <a:lstStyle/>
          <a:p>
            <a:pPr algn="ctr">
              <a:defRPr/>
            </a:pPr>
            <a:r>
              <a:rPr lang="en-US" altLang="zh-CN" sz="2400" b="1" kern="0" dirty="0">
                <a:solidFill>
                  <a:prstClr val="white"/>
                </a:solidFill>
                <a:latin typeface="Times New Roman" panose="02020603050405020304" pitchFamily="18" charset="0"/>
                <a:ea typeface="微软雅黑"/>
              </a:rPr>
              <a:t>2</a:t>
            </a:r>
            <a:endParaRPr lang="zh-CN" altLang="en-US" sz="2400" b="1" kern="0" dirty="0">
              <a:solidFill>
                <a:prstClr val="white"/>
              </a:solidFill>
              <a:latin typeface="Times New Roman" panose="02020603050405020304" pitchFamily="18" charset="0"/>
              <a:ea typeface="微软雅黑"/>
            </a:endParaRPr>
          </a:p>
        </p:txBody>
      </p:sp>
      <p:grpSp>
        <p:nvGrpSpPr>
          <p:cNvPr id="2" name="组 42"/>
          <p:cNvGrpSpPr/>
          <p:nvPr/>
        </p:nvGrpSpPr>
        <p:grpSpPr>
          <a:xfrm>
            <a:off x="8420669" y="226904"/>
            <a:ext cx="723330" cy="484288"/>
            <a:chOff x="11454105" y="252856"/>
            <a:chExt cx="737892" cy="484288"/>
          </a:xfrm>
        </p:grpSpPr>
        <p:grpSp>
          <p:nvGrpSpPr>
            <p:cNvPr id="3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81" name="圆角矩形 80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3" name="圆角矩形 82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4" name="圆角矩形 83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5" name="圆角矩形 84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</p:grpSp>
        <p:grpSp>
          <p:nvGrpSpPr>
            <p:cNvPr id="4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79" name="圆角矩形 78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0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37" name="矩形 36"/>
          <p:cNvSpPr/>
          <p:nvPr/>
        </p:nvSpPr>
        <p:spPr>
          <a:xfrm>
            <a:off x="292792" y="921392"/>
            <a:ext cx="2442040" cy="4931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2400" b="1" dirty="0" smtClean="0">
                <a:solidFill>
                  <a:srgbClr val="1F497D"/>
                </a:solidFill>
                <a:latin typeface="Times New Roman" pitchFamily="18" charset="0"/>
                <a:cs typeface="Times New Roman" pitchFamily="18" charset="0"/>
              </a:rPr>
              <a:t>研究现状</a:t>
            </a:r>
            <a:endParaRPr lang="en-US" altLang="zh-CN" sz="2400" b="1" dirty="0">
              <a:solidFill>
                <a:srgbClr val="1F497D"/>
              </a:solidFill>
              <a:latin typeface="宋体"/>
            </a:endParaRPr>
          </a:p>
        </p:txBody>
      </p:sp>
      <p:sp>
        <p:nvSpPr>
          <p:cNvPr id="17" name="文本框 9"/>
          <p:cNvSpPr txBox="1"/>
          <p:nvPr/>
        </p:nvSpPr>
        <p:spPr>
          <a:xfrm>
            <a:off x="467545" y="260648"/>
            <a:ext cx="2736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prstClr val="white"/>
                </a:solidFill>
                <a:latin typeface="华文楷体" pitchFamily="2" charset="-122"/>
                <a:ea typeface="华文楷体" pitchFamily="2" charset="-122"/>
              </a:rPr>
              <a:t>选题依据</a:t>
            </a:r>
            <a:endParaRPr lang="zh-CN" altLang="en-US" sz="2000" b="1" dirty="0">
              <a:solidFill>
                <a:prstClr val="white"/>
              </a:solidFill>
              <a:latin typeface="华文楷体" pitchFamily="2" charset="-122"/>
              <a:ea typeface="华文楷体" pitchFamily="2" charset="-122"/>
            </a:endParaRP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7042232"/>
              </p:ext>
            </p:extLst>
          </p:nvPr>
        </p:nvGraphicFramePr>
        <p:xfrm>
          <a:off x="718141" y="1289597"/>
          <a:ext cx="7912294" cy="5153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68" name="Visio" r:id="rId3" imgW="5918052" imgH="3854275" progId="Visio.Drawing.15">
                  <p:embed/>
                </p:oleObj>
              </mc:Choice>
              <mc:Fallback>
                <p:oleObj name="Visio" r:id="rId3" imgW="5918052" imgH="3854275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8141" y="1289597"/>
                        <a:ext cx="7912294" cy="51531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6984533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/>
          <p:cNvSpPr/>
          <p:nvPr/>
        </p:nvSpPr>
        <p:spPr>
          <a:xfrm>
            <a:off x="358616" y="231856"/>
            <a:ext cx="8785384" cy="484505"/>
          </a:xfrm>
          <a:prstGeom prst="rect">
            <a:avLst/>
          </a:prstGeom>
          <a:gradFill>
            <a:gsLst>
              <a:gs pos="0">
                <a:srgbClr val="5B9BD5">
                  <a:lumMod val="5000"/>
                  <a:lumOff val="95000"/>
                  <a:alpha val="0"/>
                </a:srgbClr>
              </a:gs>
              <a:gs pos="78000">
                <a:srgbClr val="4472C4"/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txBody>
          <a:bodyPr lIns="91436" tIns="45718" rIns="91436" bIns="45718"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Century Gothic"/>
              <a:ea typeface="微软雅黑"/>
            </a:endParaRPr>
          </a:p>
        </p:txBody>
      </p:sp>
      <p:sp>
        <p:nvSpPr>
          <p:cNvPr id="75" name="圆角矩形 74"/>
          <p:cNvSpPr/>
          <p:nvPr/>
        </p:nvSpPr>
        <p:spPr>
          <a:xfrm rot="10800000" flipV="1">
            <a:off x="-4247" y="223488"/>
            <a:ext cx="363215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91436" tIns="45718" rIns="91436" bIns="45718" rtlCol="0" anchor="ctr"/>
          <a:lstStyle/>
          <a:p>
            <a:pPr algn="ctr">
              <a:defRPr/>
            </a:pPr>
            <a:r>
              <a:rPr lang="en-US" altLang="zh-CN" sz="2400" b="1" kern="0" dirty="0">
                <a:solidFill>
                  <a:prstClr val="white"/>
                </a:solidFill>
                <a:latin typeface="Times New Roman" panose="02020603050405020304" pitchFamily="18" charset="0"/>
                <a:ea typeface="微软雅黑"/>
              </a:rPr>
              <a:t>2</a:t>
            </a:r>
            <a:endParaRPr lang="zh-CN" altLang="en-US" sz="2400" b="1" kern="0" dirty="0">
              <a:solidFill>
                <a:prstClr val="white"/>
              </a:solidFill>
              <a:latin typeface="Times New Roman" panose="02020603050405020304" pitchFamily="18" charset="0"/>
              <a:ea typeface="微软雅黑"/>
            </a:endParaRPr>
          </a:p>
        </p:txBody>
      </p:sp>
      <p:grpSp>
        <p:nvGrpSpPr>
          <p:cNvPr id="2" name="组 42"/>
          <p:cNvGrpSpPr/>
          <p:nvPr/>
        </p:nvGrpSpPr>
        <p:grpSpPr>
          <a:xfrm>
            <a:off x="8420669" y="226904"/>
            <a:ext cx="723330" cy="484288"/>
            <a:chOff x="11454105" y="252856"/>
            <a:chExt cx="737892" cy="484288"/>
          </a:xfrm>
        </p:grpSpPr>
        <p:grpSp>
          <p:nvGrpSpPr>
            <p:cNvPr id="3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81" name="圆角矩形 80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3" name="圆角矩形 82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4" name="圆角矩形 83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5" name="圆角矩形 84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</p:grpSp>
        <p:grpSp>
          <p:nvGrpSpPr>
            <p:cNvPr id="4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79" name="圆角矩形 78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0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17" name="文本框 9"/>
          <p:cNvSpPr txBox="1"/>
          <p:nvPr/>
        </p:nvSpPr>
        <p:spPr>
          <a:xfrm>
            <a:off x="467545" y="260648"/>
            <a:ext cx="2736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prstClr val="white"/>
                </a:solidFill>
                <a:latin typeface="华文楷体" pitchFamily="2" charset="-122"/>
                <a:ea typeface="华文楷体" pitchFamily="2" charset="-122"/>
              </a:rPr>
              <a:t>选题依据</a:t>
            </a:r>
            <a:endParaRPr lang="zh-CN" altLang="en-US" sz="2000" b="1" dirty="0">
              <a:solidFill>
                <a:prstClr val="white"/>
              </a:solidFill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51520" y="1052736"/>
            <a:ext cx="60564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Clr>
                <a:srgbClr val="0070C0"/>
              </a:buClr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1F497D"/>
                </a:solidFill>
                <a:latin typeface="Times New Roman" pitchFamily="18" charset="0"/>
                <a:cs typeface="Times New Roman" pitchFamily="18" charset="0"/>
              </a:rPr>
              <a:t>基于深度学习的故障诊断国内外研究现状</a:t>
            </a:r>
          </a:p>
        </p:txBody>
      </p:sp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61954"/>
              </p:ext>
            </p:extLst>
          </p:nvPr>
        </p:nvGraphicFramePr>
        <p:xfrm>
          <a:off x="251520" y="1988840"/>
          <a:ext cx="8616281" cy="4447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84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8574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87209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91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年份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作者、文献题目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内容简介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38448"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2015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SHI 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Xin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ZHU 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Yongli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 Application of Deep Learning Neural Network 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Fault Diagnosis of Power Transformer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采用深度信念网络构建分类模型，对变压器故障进行分类辨识。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38448"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2016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ZENG gang. Research on classification and identification of transmission faults based on convolutional neural network 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将卷积神经网络应用于振动信号时频图像的处理 ，实现了汽车变速器的故障分类识别。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3844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2016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　魏东，等</a:t>
                      </a:r>
                      <a:r>
                        <a:rPr lang="en-US" altLang="zh-CN" dirty="0"/>
                        <a:t>.</a:t>
                      </a:r>
                      <a:r>
                        <a:rPr lang="zh-CN" altLang="en-US" dirty="0"/>
                        <a:t>基于卷积神经网络的输电线路区内外故障判断及故障选相方法研究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采用逻辑回归分类器的卷积深深网络结构 </a:t>
                      </a:r>
                      <a:r>
                        <a:rPr lang="en-US" altLang="zh-CN" dirty="0"/>
                        <a:t>, </a:t>
                      </a:r>
                      <a:r>
                        <a:rPr lang="zh-CN" altLang="en-US" dirty="0"/>
                        <a:t>解决了输电线路区内外故障判断。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83844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2017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　朱煜奇，等 </a:t>
                      </a:r>
                      <a:r>
                        <a:rPr lang="en-US" altLang="zh-CN" dirty="0"/>
                        <a:t>. </a:t>
                      </a:r>
                      <a:r>
                        <a:rPr lang="zh-CN" altLang="en-US" dirty="0"/>
                        <a:t>基于栈式降噪自编码的故障诊断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提出将堆叠降噪自动编码网络应用于设备故障诊断。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211689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4252" y="6714373"/>
            <a:ext cx="9135410" cy="143627"/>
          </a:xfrm>
          <a:prstGeom prst="rect">
            <a:avLst/>
          </a:prstGeom>
          <a:solidFill>
            <a:srgbClr val="87A5D9"/>
          </a:solidFill>
          <a:ln w="25400" cap="flat" cmpd="sng" algn="ctr">
            <a:solidFill>
              <a:srgbClr val="87A5D9"/>
            </a:solidFill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ysClr val="window" lastClr="FFFFFF"/>
              </a:solidFill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358616" y="231856"/>
            <a:ext cx="8785384" cy="484505"/>
          </a:xfrm>
          <a:prstGeom prst="rect">
            <a:avLst/>
          </a:prstGeom>
          <a:gradFill>
            <a:gsLst>
              <a:gs pos="0">
                <a:srgbClr val="5B9BD5">
                  <a:lumMod val="5000"/>
                  <a:lumOff val="95000"/>
                  <a:alpha val="0"/>
                </a:srgbClr>
              </a:gs>
              <a:gs pos="78000">
                <a:srgbClr val="4472C4"/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txBody>
          <a:bodyPr lIns="91436" tIns="45718" rIns="91436" bIns="45718"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Century Gothic"/>
              <a:ea typeface="微软雅黑"/>
            </a:endParaRPr>
          </a:p>
        </p:txBody>
      </p:sp>
      <p:sp>
        <p:nvSpPr>
          <p:cNvPr id="75" name="圆角矩形 74"/>
          <p:cNvSpPr/>
          <p:nvPr/>
        </p:nvSpPr>
        <p:spPr>
          <a:xfrm rot="10800000" flipV="1">
            <a:off x="-4247" y="223488"/>
            <a:ext cx="363215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91436" tIns="45718" rIns="91436" bIns="45718" rtlCol="0" anchor="ctr"/>
          <a:lstStyle/>
          <a:p>
            <a:pPr algn="ctr">
              <a:defRPr/>
            </a:pPr>
            <a:r>
              <a:rPr lang="en-US" altLang="zh-CN" sz="2400" b="1" kern="0" dirty="0" smtClean="0">
                <a:solidFill>
                  <a:prstClr val="white"/>
                </a:solidFill>
                <a:latin typeface="Times New Roman" panose="02020603050405020304" pitchFamily="18" charset="0"/>
                <a:ea typeface="微软雅黑"/>
              </a:rPr>
              <a:t>3</a:t>
            </a:r>
            <a:endParaRPr lang="zh-CN" altLang="en-US" sz="2400" b="1" kern="0" dirty="0">
              <a:solidFill>
                <a:prstClr val="white"/>
              </a:solidFill>
              <a:latin typeface="Times New Roman" panose="02020603050405020304" pitchFamily="18" charset="0"/>
              <a:ea typeface="微软雅黑"/>
            </a:endParaRPr>
          </a:p>
        </p:txBody>
      </p:sp>
      <p:grpSp>
        <p:nvGrpSpPr>
          <p:cNvPr id="2" name="组 42"/>
          <p:cNvGrpSpPr/>
          <p:nvPr/>
        </p:nvGrpSpPr>
        <p:grpSpPr>
          <a:xfrm>
            <a:off x="8420669" y="226904"/>
            <a:ext cx="723330" cy="484288"/>
            <a:chOff x="11454105" y="252856"/>
            <a:chExt cx="737892" cy="484288"/>
          </a:xfrm>
        </p:grpSpPr>
        <p:grpSp>
          <p:nvGrpSpPr>
            <p:cNvPr id="3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81" name="圆角矩形 80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3" name="圆角矩形 82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4" name="圆角矩形 83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5" name="圆角矩形 84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</p:grpSp>
        <p:grpSp>
          <p:nvGrpSpPr>
            <p:cNvPr id="4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79" name="圆角矩形 78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0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86" name="文本框 9"/>
          <p:cNvSpPr txBox="1"/>
          <p:nvPr/>
        </p:nvSpPr>
        <p:spPr>
          <a:xfrm>
            <a:off x="467544" y="260648"/>
            <a:ext cx="32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选题依据</a:t>
            </a:r>
            <a:endParaRPr lang="zh-CN" altLang="en-US" sz="2400" b="1" dirty="0">
              <a:solidFill>
                <a:prstClr val="white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63960" y="3557636"/>
            <a:ext cx="7200800" cy="4931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1F497D"/>
                </a:solidFill>
                <a:latin typeface="Times New Roman" pitchFamily="18" charset="0"/>
                <a:cs typeface="Times New Roman" pitchFamily="18" charset="0"/>
              </a:rPr>
              <a:t>本课题</a:t>
            </a:r>
            <a:endParaRPr lang="en-US" altLang="zh-CN" sz="2400" b="1" dirty="0">
              <a:solidFill>
                <a:srgbClr val="1F497D"/>
              </a:solidFill>
              <a:latin typeface="宋体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13062" y="4450280"/>
            <a:ext cx="72008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基于深度学习的方法搭建加热炉的设备故障系统，并利用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AR</a:t>
            </a: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技术开发虚拟系统且实现系统在移动终端的展示。</a:t>
            </a:r>
            <a:endParaRPr lang="zh-CN" alt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63960" y="1061120"/>
            <a:ext cx="7200800" cy="4931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2400" b="1" dirty="0" smtClean="0">
                <a:solidFill>
                  <a:srgbClr val="1F497D"/>
                </a:solidFill>
                <a:latin typeface="Times New Roman" pitchFamily="18" charset="0"/>
                <a:cs typeface="Times New Roman" pitchFamily="18" charset="0"/>
              </a:rPr>
              <a:t>现有研究不足</a:t>
            </a:r>
            <a:endParaRPr lang="en-US" altLang="zh-CN" sz="2400" b="1" dirty="0">
              <a:solidFill>
                <a:srgbClr val="1F497D"/>
              </a:solidFill>
              <a:latin typeface="宋体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2311" y="1820440"/>
            <a:ext cx="896230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）现有</a:t>
            </a:r>
            <a:r>
              <a:rPr lang="zh-CN" altLang="en-US" sz="2000" b="1" dirty="0">
                <a:solidFill>
                  <a:srgbClr val="1F497D"/>
                </a:solidFill>
                <a:latin typeface="Times New Roman" pitchFamily="18" charset="0"/>
                <a:cs typeface="Times New Roman" pitchFamily="18" charset="0"/>
              </a:rPr>
              <a:t>深度学习在故障诊断</a:t>
            </a:r>
            <a:r>
              <a:rPr lang="zh-CN" altLang="en-US" sz="2000" dirty="0">
                <a:latin typeface="Times New Roman" pitchFamily="18" charset="0"/>
                <a:cs typeface="Times New Roman" pitchFamily="18" charset="0"/>
              </a:rPr>
              <a:t>方面的</a:t>
            </a: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研究</a:t>
            </a:r>
            <a:r>
              <a:rPr lang="zh-CN" altLang="en-US" sz="2000" dirty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应用</a:t>
            </a:r>
            <a:r>
              <a:rPr lang="zh-CN" altLang="en-US" sz="2000" b="1" dirty="0">
                <a:solidFill>
                  <a:srgbClr val="1F497D"/>
                </a:solidFill>
                <a:latin typeface="Times New Roman" pitchFamily="18" charset="0"/>
                <a:cs typeface="Times New Roman" pitchFamily="18" charset="0"/>
              </a:rPr>
              <a:t>在钢铁生产设备</a:t>
            </a: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的非常</a:t>
            </a:r>
            <a:r>
              <a:rPr lang="zh-CN" altLang="en-US" sz="2000" dirty="0">
                <a:latin typeface="Times New Roman" pitchFamily="18" charset="0"/>
                <a:cs typeface="Times New Roman" pitchFamily="18" charset="0"/>
              </a:rPr>
              <a:t>少</a:t>
            </a: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。</a:t>
            </a:r>
            <a:endParaRPr lang="en-US" altLang="zh-CN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120000"/>
              </a:lnSpc>
              <a:buFont typeface="Wingdings" pitchFamily="2" charset="2"/>
              <a:buChar char="Ø"/>
            </a:pPr>
            <a:endParaRPr lang="en-US" altLang="zh-CN" sz="2000" b="1" dirty="0" smtClean="0">
              <a:solidFill>
                <a:srgbClr val="1F497D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） </a:t>
            </a:r>
            <a:r>
              <a:rPr lang="en-US" altLang="zh-CN" sz="2000" b="1" dirty="0">
                <a:solidFill>
                  <a:srgbClr val="1F497D"/>
                </a:solidFill>
                <a:latin typeface="Times New Roman" pitchFamily="18" charset="0"/>
                <a:cs typeface="Times New Roman" pitchFamily="18" charset="0"/>
              </a:rPr>
              <a:t>AR</a:t>
            </a:r>
            <a:r>
              <a:rPr lang="zh-CN" altLang="en-US" sz="2000" b="1" dirty="0">
                <a:solidFill>
                  <a:srgbClr val="1F497D"/>
                </a:solidFill>
                <a:latin typeface="Times New Roman" pitchFamily="18" charset="0"/>
                <a:cs typeface="Times New Roman" pitchFamily="18" charset="0"/>
              </a:rPr>
              <a:t>技术</a:t>
            </a:r>
            <a:r>
              <a:rPr lang="zh-CN" altLang="en-US" sz="2000" dirty="0">
                <a:latin typeface="Times New Roman" pitchFamily="18" charset="0"/>
                <a:cs typeface="Times New Roman" pitchFamily="18" charset="0"/>
              </a:rPr>
              <a:t>在钢铁生产企业应用不多，</a:t>
            </a:r>
            <a:r>
              <a:rPr lang="zh-CN" altLang="en-US" sz="2000" b="1" dirty="0" smtClean="0">
                <a:solidFill>
                  <a:srgbClr val="1F497D"/>
                </a:solidFill>
                <a:latin typeface="Times New Roman" pitchFamily="18" charset="0"/>
                <a:cs typeface="Times New Roman" pitchFamily="18" charset="0"/>
              </a:rPr>
              <a:t>在故障诊断方面更是少之又少</a:t>
            </a:r>
            <a:r>
              <a:rPr lang="zh-CN" altLang="en-US" sz="2000" dirty="0" smtClean="0">
                <a:latin typeface="Times New Roman" pitchFamily="18" charset="0"/>
                <a:cs typeface="Times New Roman" pitchFamily="18" charset="0"/>
              </a:rPr>
              <a:t>。</a:t>
            </a:r>
            <a:endParaRPr lang="en-US" altLang="zh-CN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72142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直接连接符 79"/>
          <p:cNvCxnSpPr/>
          <p:nvPr/>
        </p:nvCxnSpPr>
        <p:spPr>
          <a:xfrm>
            <a:off x="2267744" y="1124744"/>
            <a:ext cx="0" cy="468052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 rot="5400000">
            <a:off x="-2908716" y="2904936"/>
            <a:ext cx="6818603" cy="100874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 14"/>
          <p:cNvGrpSpPr/>
          <p:nvPr/>
        </p:nvGrpSpPr>
        <p:grpSpPr>
          <a:xfrm>
            <a:off x="-16725" y="6654794"/>
            <a:ext cx="953603" cy="203211"/>
            <a:chOff x="-22302" y="6654791"/>
            <a:chExt cx="1271471" cy="203210"/>
          </a:xfrm>
        </p:grpSpPr>
        <p:sp>
          <p:nvSpPr>
            <p:cNvPr id="9" name="圆角矩形 8"/>
            <p:cNvSpPr/>
            <p:nvPr/>
          </p:nvSpPr>
          <p:spPr>
            <a:xfrm flipV="1">
              <a:off x="240276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圆角矩形 9"/>
            <p:cNvSpPr/>
            <p:nvPr/>
          </p:nvSpPr>
          <p:spPr>
            <a:xfrm flipV="1">
              <a:off x="-22302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圆角矩形 10"/>
            <p:cNvSpPr/>
            <p:nvPr/>
          </p:nvSpPr>
          <p:spPr>
            <a:xfrm flipV="1">
              <a:off x="755838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圆角矩形 11"/>
            <p:cNvSpPr/>
            <p:nvPr/>
          </p:nvSpPr>
          <p:spPr>
            <a:xfrm flipV="1">
              <a:off x="493260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/>
            <p:cNvSpPr/>
            <p:nvPr/>
          </p:nvSpPr>
          <p:spPr>
            <a:xfrm flipV="1">
              <a:off x="1024362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-172953" y="245330"/>
            <a:ext cx="1031043" cy="4519883"/>
          </a:xfrm>
          <a:prstGeom prst="rect">
            <a:avLst/>
          </a:prstGeom>
          <a:noFill/>
        </p:spPr>
        <p:txBody>
          <a:bodyPr vert="eaVert" wrap="square" lIns="91436" tIns="45718" rIns="91436" bIns="45718" rtlCol="0">
            <a:spAutoFit/>
          </a:bodyPr>
          <a:lstStyle/>
          <a:p>
            <a:r>
              <a:rPr lang="en-US" altLang="zh-CN" sz="5500" dirty="0">
                <a:solidFill>
                  <a:schemeClr val="bg1"/>
                </a:solidFill>
                <a:latin typeface="Times New Roman" panose="02020603050405020304" pitchFamily="18" charset="0"/>
              </a:rPr>
              <a:t>CONTENTS</a:t>
            </a:r>
            <a:endParaRPr lang="zh-CN" altLang="en-US" sz="55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" name="组 2"/>
          <p:cNvGrpSpPr/>
          <p:nvPr/>
        </p:nvGrpSpPr>
        <p:grpSpPr>
          <a:xfrm>
            <a:off x="8461613" y="252859"/>
            <a:ext cx="682388" cy="484288"/>
            <a:chOff x="11454105" y="252856"/>
            <a:chExt cx="737892" cy="484288"/>
          </a:xfrm>
        </p:grpSpPr>
        <p:grpSp>
          <p:nvGrpSpPr>
            <p:cNvPr id="5" name="组 1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96" name="圆角矩形 95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圆角矩形 96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" name="圆角矩形 97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" name="圆角矩形 98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圆角矩形 94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101" name="圆角矩形 100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49" name="圆角矩形 48"/>
          <p:cNvSpPr/>
          <p:nvPr/>
        </p:nvSpPr>
        <p:spPr>
          <a:xfrm>
            <a:off x="2417570" y="2349935"/>
            <a:ext cx="4576510" cy="613386"/>
          </a:xfrm>
          <a:prstGeom prst="roundRect">
            <a:avLst/>
          </a:prstGeom>
          <a:solidFill>
            <a:schemeClr val="bg1"/>
          </a:solidFill>
          <a:ln w="28575" cap="rnd" cmpd="sng" algn="ctr">
            <a:solidFill>
              <a:srgbClr val="FFFFFF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lvl="0" algn="ctr">
              <a:defRPr/>
            </a:pPr>
            <a:r>
              <a:rPr lang="zh-CN" altLang="en-US" sz="2400" b="1" dirty="0">
                <a:solidFill>
                  <a:srgbClr val="44546A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800" b="1" dirty="0" smtClean="0">
                <a:solidFill>
                  <a:srgbClr val="44546A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选题依据</a:t>
            </a:r>
            <a:endParaRPr lang="zh-CN" altLang="en-US" sz="2800" b="1" kern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2408016" y="3104787"/>
            <a:ext cx="4586064" cy="612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lvl="0" algn="ctr"/>
            <a:r>
              <a:rPr lang="zh-CN" altLang="en-US" sz="2800" b="1" dirty="0" smtClean="0">
                <a:solidFill>
                  <a:srgbClr val="44546A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研究内容</a:t>
            </a:r>
            <a:endParaRPr lang="zh-CN" altLang="en-US" sz="2800" b="1" dirty="0">
              <a:solidFill>
                <a:srgbClr val="44546A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2417570" y="4581128"/>
            <a:ext cx="4576510" cy="612000"/>
          </a:xfrm>
          <a:prstGeom prst="roundRect">
            <a:avLst/>
          </a:prstGeom>
          <a:solidFill>
            <a:srgbClr val="FFFFFF"/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algn="ctr"/>
            <a:r>
              <a:rPr lang="zh-CN" altLang="en-US" sz="2800" b="1" dirty="0" smtClean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研究计划及预期结果</a:t>
            </a:r>
            <a:endParaRPr lang="zh-CN" altLang="en-US" sz="2800" b="1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  <p:sp>
        <p:nvSpPr>
          <p:cNvPr id="53" name="圆角矩形 52"/>
          <p:cNvSpPr/>
          <p:nvPr/>
        </p:nvSpPr>
        <p:spPr>
          <a:xfrm>
            <a:off x="2384745" y="1596076"/>
            <a:ext cx="4586064" cy="612000"/>
          </a:xfrm>
          <a:prstGeom prst="roundRect">
            <a:avLst/>
          </a:prstGeom>
          <a:solidFill>
            <a:schemeClr val="bg1"/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lvl="0" algn="ctr">
              <a:defRPr/>
            </a:pPr>
            <a:r>
              <a:rPr lang="zh-CN" altLang="en-US" sz="2800" b="1" dirty="0" smtClean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前期学习及研究情况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2462387" y="2417270"/>
            <a:ext cx="499243" cy="470602"/>
          </a:xfrm>
          <a:prstGeom prst="roundRect">
            <a:avLst/>
          </a:prstGeom>
          <a:solidFill>
            <a:srgbClr val="FFFFFF"/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0" dirty="0">
                <a:solidFill>
                  <a:srgbClr val="2C5D98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2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2C5D98"/>
              </a:solidFill>
              <a:effectLst/>
              <a:uLnTx/>
              <a:uFillTx/>
              <a:latin typeface="Times New Roman" pitchFamily="18" charset="0"/>
              <a:ea typeface="黑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2408016" y="3827417"/>
            <a:ext cx="4586064" cy="612000"/>
          </a:xfrm>
          <a:prstGeom prst="roundRect">
            <a:avLst/>
          </a:prstGeom>
          <a:solidFill>
            <a:srgbClr val="FFFFFF"/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algn="ctr"/>
            <a:r>
              <a:rPr lang="zh-CN" altLang="en-US" sz="2800" b="1" dirty="0" smtClean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拟采取的研究方案</a:t>
            </a:r>
            <a:endParaRPr lang="zh-CN" altLang="en-US" sz="2800" b="1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2457573" y="3174727"/>
            <a:ext cx="499243" cy="470602"/>
          </a:xfrm>
          <a:prstGeom prst="roundRect">
            <a:avLst/>
          </a:prstGeom>
          <a:solidFill>
            <a:srgbClr val="FFFFFF"/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0" dirty="0">
                <a:solidFill>
                  <a:srgbClr val="2C5D98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3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2C5D98"/>
              </a:solidFill>
              <a:effectLst/>
              <a:uLnTx/>
              <a:uFillTx/>
              <a:latin typeface="Times New Roman" pitchFamily="18" charset="0"/>
              <a:ea typeface="黑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57" name="圆角矩形 56"/>
          <p:cNvSpPr/>
          <p:nvPr/>
        </p:nvSpPr>
        <p:spPr>
          <a:xfrm>
            <a:off x="2457574" y="3887838"/>
            <a:ext cx="499243" cy="470602"/>
          </a:xfrm>
          <a:prstGeom prst="roundRect">
            <a:avLst/>
          </a:prstGeom>
          <a:solidFill>
            <a:srgbClr val="FFFFFF"/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0" dirty="0">
                <a:solidFill>
                  <a:srgbClr val="2C5D98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4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2C5D98"/>
              </a:solidFill>
              <a:effectLst/>
              <a:uLnTx/>
              <a:uFillTx/>
              <a:latin typeface="Times New Roman" pitchFamily="18" charset="0"/>
              <a:ea typeface="黑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2462388" y="4637614"/>
            <a:ext cx="499243" cy="470602"/>
          </a:xfrm>
          <a:prstGeom prst="roundRect">
            <a:avLst/>
          </a:prstGeom>
          <a:solidFill>
            <a:srgbClr val="FFFFFF"/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0" dirty="0">
                <a:solidFill>
                  <a:srgbClr val="2C5D98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5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2C5D98"/>
              </a:solidFill>
              <a:effectLst/>
              <a:uLnTx/>
              <a:uFillTx/>
              <a:latin typeface="Times New Roman" pitchFamily="18" charset="0"/>
              <a:ea typeface="黑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2439118" y="1650364"/>
            <a:ext cx="499243" cy="470602"/>
          </a:xfrm>
          <a:prstGeom prst="roundRect">
            <a:avLst/>
          </a:prstGeom>
          <a:solidFill>
            <a:srgbClr val="FFFFFF"/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0" dirty="0">
                <a:solidFill>
                  <a:srgbClr val="2C5D98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1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2C5D98"/>
              </a:solidFill>
              <a:effectLst/>
              <a:uLnTx/>
              <a:uFillTx/>
              <a:latin typeface="Times New Roman" pitchFamily="18" charset="0"/>
              <a:ea typeface="黑体" panose="02010609060101010101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555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4252" y="6714373"/>
            <a:ext cx="9135410" cy="143627"/>
          </a:xfrm>
          <a:prstGeom prst="rect">
            <a:avLst/>
          </a:prstGeom>
          <a:solidFill>
            <a:srgbClr val="87A5D9"/>
          </a:solidFill>
          <a:ln w="25400" cap="flat" cmpd="sng" algn="ctr">
            <a:solidFill>
              <a:srgbClr val="87A5D9"/>
            </a:solidFill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ysClr val="window" lastClr="FFFFFF"/>
              </a:solidFill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358616" y="231856"/>
            <a:ext cx="8785384" cy="484505"/>
          </a:xfrm>
          <a:prstGeom prst="rect">
            <a:avLst/>
          </a:prstGeom>
          <a:gradFill>
            <a:gsLst>
              <a:gs pos="0">
                <a:srgbClr val="5B9BD5">
                  <a:lumMod val="5000"/>
                  <a:lumOff val="95000"/>
                  <a:alpha val="0"/>
                </a:srgbClr>
              </a:gs>
              <a:gs pos="78000">
                <a:srgbClr val="4472C4"/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txBody>
          <a:bodyPr lIns="91436" tIns="45718" rIns="91436" bIns="45718"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Century Gothic"/>
              <a:ea typeface="微软雅黑"/>
            </a:endParaRPr>
          </a:p>
        </p:txBody>
      </p:sp>
      <p:sp>
        <p:nvSpPr>
          <p:cNvPr id="75" name="圆角矩形 74"/>
          <p:cNvSpPr/>
          <p:nvPr/>
        </p:nvSpPr>
        <p:spPr>
          <a:xfrm rot="10800000" flipV="1">
            <a:off x="-4247" y="223488"/>
            <a:ext cx="363215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91436" tIns="45718" rIns="91436" bIns="45718" rtlCol="0" anchor="ctr"/>
          <a:lstStyle/>
          <a:p>
            <a:pPr algn="ctr">
              <a:defRPr/>
            </a:pPr>
            <a:r>
              <a:rPr lang="en-US" altLang="zh-CN" sz="2400" b="1" kern="0" dirty="0">
                <a:solidFill>
                  <a:prstClr val="white"/>
                </a:solidFill>
                <a:latin typeface="Times New Roman" panose="02020603050405020304" pitchFamily="18" charset="0"/>
                <a:ea typeface="微软雅黑"/>
              </a:rPr>
              <a:t>3</a:t>
            </a:r>
            <a:endParaRPr lang="zh-CN" altLang="en-US" sz="2400" b="1" kern="0" dirty="0">
              <a:solidFill>
                <a:prstClr val="white"/>
              </a:solidFill>
              <a:latin typeface="Times New Roman" panose="02020603050405020304" pitchFamily="18" charset="0"/>
              <a:ea typeface="微软雅黑"/>
            </a:endParaRPr>
          </a:p>
        </p:txBody>
      </p:sp>
      <p:grpSp>
        <p:nvGrpSpPr>
          <p:cNvPr id="2" name="组 42"/>
          <p:cNvGrpSpPr/>
          <p:nvPr/>
        </p:nvGrpSpPr>
        <p:grpSpPr>
          <a:xfrm>
            <a:off x="8420669" y="226904"/>
            <a:ext cx="723330" cy="484288"/>
            <a:chOff x="11454105" y="252856"/>
            <a:chExt cx="737892" cy="484288"/>
          </a:xfrm>
        </p:grpSpPr>
        <p:grpSp>
          <p:nvGrpSpPr>
            <p:cNvPr id="3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81" name="圆角矩形 80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3" name="圆角矩形 82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4" name="圆角矩形 83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5" name="圆角矩形 84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</p:grpSp>
        <p:grpSp>
          <p:nvGrpSpPr>
            <p:cNvPr id="4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79" name="圆角矩形 78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0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86" name="文本框 9"/>
          <p:cNvSpPr txBox="1"/>
          <p:nvPr/>
        </p:nvSpPr>
        <p:spPr>
          <a:xfrm>
            <a:off x="467544" y="260648"/>
            <a:ext cx="3384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研究</a:t>
            </a:r>
            <a:r>
              <a:rPr lang="zh-CN" altLang="en-US" sz="2400" b="1" dirty="0" smtClean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内容</a:t>
            </a:r>
            <a:endParaRPr lang="zh-CN" altLang="en-US" sz="2400" b="1" dirty="0">
              <a:solidFill>
                <a:prstClr val="white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656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75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1" name="TextBox 28"/>
          <p:cNvSpPr txBox="1"/>
          <p:nvPr/>
        </p:nvSpPr>
        <p:spPr>
          <a:xfrm>
            <a:off x="358616" y="946458"/>
            <a:ext cx="16658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1F497D"/>
                </a:solidFill>
                <a:latin typeface="宋体"/>
              </a:rPr>
              <a:t>加热炉构造</a:t>
            </a:r>
          </a:p>
        </p:txBody>
      </p:sp>
      <p:pic>
        <p:nvPicPr>
          <p:cNvPr id="22" name="图片 1" descr="加热炉三段"/>
          <p:cNvPicPr>
            <a:picLocks noChangeAspect="1"/>
          </p:cNvPicPr>
          <p:nvPr/>
        </p:nvPicPr>
        <p:blipFill>
          <a:blip r:embed="rId3"/>
          <a:srcRect l="6241" t="2779" r="4173" b="9119"/>
          <a:stretch>
            <a:fillRect/>
          </a:stretch>
        </p:blipFill>
        <p:spPr>
          <a:xfrm>
            <a:off x="1674405" y="1894134"/>
            <a:ext cx="5159375" cy="164127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" name="文本框 51"/>
          <p:cNvSpPr txBox="1"/>
          <p:nvPr/>
        </p:nvSpPr>
        <p:spPr>
          <a:xfrm>
            <a:off x="1674405" y="4061337"/>
            <a:ext cx="5509527" cy="132343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dirty="0">
                <a:latin typeface="Arial" panose="020B0604020202020204" pitchFamily="34" charset="0"/>
                <a:ea typeface="宋体" panose="02010600030101010101" pitchFamily="2" charset="-122"/>
              </a:rPr>
              <a:t>特征量：</a:t>
            </a:r>
            <a:endParaRPr lang="en-US" altLang="zh-CN" sz="16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1600" dirty="0">
                <a:latin typeface="Arial" panose="020B0604020202020204" pitchFamily="34" charset="0"/>
                <a:ea typeface="宋体" panose="02010600030101010101" pitchFamily="2" charset="-122"/>
              </a:rPr>
              <a:t>预热段6个温度检测；</a:t>
            </a:r>
            <a:endParaRPr lang="en-US" altLang="zh-CN" sz="16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1600" dirty="0">
                <a:latin typeface="Arial" panose="020B0604020202020204" pitchFamily="34" charset="0"/>
                <a:ea typeface="宋体" panose="02010600030101010101" pitchFamily="2" charset="-122"/>
              </a:rPr>
              <a:t>加热1段8个燃气喷嘴，8个空气喷嘴，5个炉温检测； </a:t>
            </a:r>
            <a:endParaRPr lang="en-US" altLang="zh-CN" sz="16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1600" dirty="0">
                <a:latin typeface="Arial" panose="020B0604020202020204" pitchFamily="34" charset="0"/>
                <a:ea typeface="宋体" panose="02010600030101010101" pitchFamily="2" charset="-122"/>
              </a:rPr>
              <a:t>加热2段8个燃气喷嘴，8个空气喷嘴，5个炉温检测；</a:t>
            </a:r>
            <a:endParaRPr lang="en-US" altLang="zh-CN" sz="16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1600" dirty="0">
                <a:latin typeface="Arial" panose="020B0604020202020204" pitchFamily="34" charset="0"/>
                <a:ea typeface="宋体" panose="02010600030101010101" pitchFamily="2" charset="-122"/>
              </a:rPr>
              <a:t>均热段12个燃气喷嘴，12个空气喷嘴，8个炉温检测 </a:t>
            </a:r>
          </a:p>
        </p:txBody>
      </p:sp>
    </p:spTree>
    <p:extLst>
      <p:ext uri="{BB962C8B-B14F-4D97-AF65-F5344CB8AC3E}">
        <p14:creationId xmlns:p14="http://schemas.microsoft.com/office/powerpoint/2010/main" val="244699147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/>
          <p:cNvSpPr/>
          <p:nvPr/>
        </p:nvSpPr>
        <p:spPr>
          <a:xfrm>
            <a:off x="358616" y="231856"/>
            <a:ext cx="8785384" cy="484505"/>
          </a:xfrm>
          <a:prstGeom prst="rect">
            <a:avLst/>
          </a:prstGeom>
          <a:gradFill>
            <a:gsLst>
              <a:gs pos="0">
                <a:srgbClr val="5B9BD5">
                  <a:lumMod val="5000"/>
                  <a:lumOff val="95000"/>
                  <a:alpha val="0"/>
                </a:srgbClr>
              </a:gs>
              <a:gs pos="78000">
                <a:srgbClr val="4472C4"/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txBody>
          <a:bodyPr lIns="91436" tIns="45718" rIns="91436" bIns="45718"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Century Gothic"/>
              <a:ea typeface="微软雅黑"/>
            </a:endParaRPr>
          </a:p>
        </p:txBody>
      </p:sp>
      <p:sp>
        <p:nvSpPr>
          <p:cNvPr id="75" name="圆角矩形 74"/>
          <p:cNvSpPr/>
          <p:nvPr/>
        </p:nvSpPr>
        <p:spPr>
          <a:xfrm rot="10800000" flipV="1">
            <a:off x="-4247" y="223488"/>
            <a:ext cx="363215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91436" tIns="45718" rIns="91436" bIns="45718" rtlCol="0" anchor="ctr"/>
          <a:lstStyle/>
          <a:p>
            <a:pPr algn="ctr">
              <a:defRPr/>
            </a:pPr>
            <a:r>
              <a:rPr lang="en-US" altLang="zh-CN" sz="2400" b="1" kern="0" dirty="0">
                <a:solidFill>
                  <a:prstClr val="white"/>
                </a:solidFill>
                <a:latin typeface="Times New Roman" panose="02020603050405020304" pitchFamily="18" charset="0"/>
                <a:ea typeface="微软雅黑"/>
              </a:rPr>
              <a:t>3</a:t>
            </a:r>
            <a:endParaRPr lang="zh-CN" altLang="en-US" sz="2400" b="1" kern="0" dirty="0">
              <a:solidFill>
                <a:prstClr val="white"/>
              </a:solidFill>
              <a:latin typeface="Times New Roman" panose="02020603050405020304" pitchFamily="18" charset="0"/>
              <a:ea typeface="微软雅黑"/>
            </a:endParaRPr>
          </a:p>
        </p:txBody>
      </p:sp>
      <p:grpSp>
        <p:nvGrpSpPr>
          <p:cNvPr id="2" name="组 42"/>
          <p:cNvGrpSpPr/>
          <p:nvPr/>
        </p:nvGrpSpPr>
        <p:grpSpPr>
          <a:xfrm>
            <a:off x="8420669" y="226904"/>
            <a:ext cx="723330" cy="484288"/>
            <a:chOff x="11454105" y="252856"/>
            <a:chExt cx="737892" cy="484288"/>
          </a:xfrm>
        </p:grpSpPr>
        <p:grpSp>
          <p:nvGrpSpPr>
            <p:cNvPr id="3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81" name="圆角矩形 80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3" name="圆角矩形 82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4" name="圆角矩形 83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5" name="圆角矩形 84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</p:grpSp>
        <p:grpSp>
          <p:nvGrpSpPr>
            <p:cNvPr id="4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79" name="圆角矩形 78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0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37" name="矩形 36"/>
          <p:cNvSpPr/>
          <p:nvPr/>
        </p:nvSpPr>
        <p:spPr>
          <a:xfrm>
            <a:off x="292792" y="921392"/>
            <a:ext cx="2442040" cy="4766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1F497D"/>
                </a:solidFill>
                <a:latin typeface="Times New Roman" pitchFamily="18" charset="0"/>
                <a:cs typeface="Times New Roman" pitchFamily="18" charset="0"/>
              </a:rPr>
              <a:t>目的</a:t>
            </a:r>
            <a:endParaRPr lang="en-US" altLang="zh-CN" sz="2400" b="1" dirty="0">
              <a:solidFill>
                <a:srgbClr val="1F497D"/>
              </a:solidFill>
              <a:latin typeface="宋体"/>
            </a:endParaRPr>
          </a:p>
        </p:txBody>
      </p:sp>
      <p:pic>
        <p:nvPicPr>
          <p:cNvPr id="27" name="Picture 6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1941" y="836712"/>
            <a:ext cx="3722946" cy="5874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文本框 9"/>
          <p:cNvSpPr txBox="1"/>
          <p:nvPr/>
        </p:nvSpPr>
        <p:spPr>
          <a:xfrm>
            <a:off x="467544" y="260648"/>
            <a:ext cx="3384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研究</a:t>
            </a:r>
            <a:r>
              <a:rPr lang="zh-CN" altLang="en-US" sz="2400" b="1" dirty="0" smtClean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内容</a:t>
            </a:r>
            <a:endParaRPr lang="zh-CN" altLang="en-US" sz="2400" b="1" dirty="0">
              <a:solidFill>
                <a:prstClr val="white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直接连接符 79"/>
          <p:cNvCxnSpPr/>
          <p:nvPr/>
        </p:nvCxnSpPr>
        <p:spPr>
          <a:xfrm>
            <a:off x="2267744" y="1124744"/>
            <a:ext cx="0" cy="468052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 rot="5400000">
            <a:off x="-2908716" y="2904936"/>
            <a:ext cx="6818603" cy="100874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 14"/>
          <p:cNvGrpSpPr/>
          <p:nvPr/>
        </p:nvGrpSpPr>
        <p:grpSpPr>
          <a:xfrm>
            <a:off x="-16725" y="6654794"/>
            <a:ext cx="953603" cy="203211"/>
            <a:chOff x="-22302" y="6654791"/>
            <a:chExt cx="1271471" cy="203210"/>
          </a:xfrm>
        </p:grpSpPr>
        <p:sp>
          <p:nvSpPr>
            <p:cNvPr id="9" name="圆角矩形 8"/>
            <p:cNvSpPr/>
            <p:nvPr/>
          </p:nvSpPr>
          <p:spPr>
            <a:xfrm flipV="1">
              <a:off x="240276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圆角矩形 9"/>
            <p:cNvSpPr/>
            <p:nvPr/>
          </p:nvSpPr>
          <p:spPr>
            <a:xfrm flipV="1">
              <a:off x="-22302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圆角矩形 10"/>
            <p:cNvSpPr/>
            <p:nvPr/>
          </p:nvSpPr>
          <p:spPr>
            <a:xfrm flipV="1">
              <a:off x="755838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圆角矩形 11"/>
            <p:cNvSpPr/>
            <p:nvPr/>
          </p:nvSpPr>
          <p:spPr>
            <a:xfrm flipV="1">
              <a:off x="493260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/>
            <p:cNvSpPr/>
            <p:nvPr/>
          </p:nvSpPr>
          <p:spPr>
            <a:xfrm flipV="1">
              <a:off x="1024362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-172953" y="245330"/>
            <a:ext cx="1031043" cy="4519883"/>
          </a:xfrm>
          <a:prstGeom prst="rect">
            <a:avLst/>
          </a:prstGeom>
          <a:noFill/>
        </p:spPr>
        <p:txBody>
          <a:bodyPr vert="eaVert" wrap="square" lIns="91436" tIns="45718" rIns="91436" bIns="45718" rtlCol="0">
            <a:spAutoFit/>
          </a:bodyPr>
          <a:lstStyle/>
          <a:p>
            <a:r>
              <a:rPr lang="en-US" altLang="zh-CN" sz="5500" dirty="0">
                <a:solidFill>
                  <a:schemeClr val="bg1"/>
                </a:solidFill>
                <a:latin typeface="Times New Roman" panose="02020603050405020304" pitchFamily="18" charset="0"/>
              </a:rPr>
              <a:t>CONTENTS</a:t>
            </a:r>
            <a:endParaRPr lang="zh-CN" altLang="en-US" sz="55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" name="组 2"/>
          <p:cNvGrpSpPr/>
          <p:nvPr/>
        </p:nvGrpSpPr>
        <p:grpSpPr>
          <a:xfrm>
            <a:off x="8461613" y="252859"/>
            <a:ext cx="682388" cy="484288"/>
            <a:chOff x="11454105" y="252856"/>
            <a:chExt cx="737892" cy="484288"/>
          </a:xfrm>
        </p:grpSpPr>
        <p:grpSp>
          <p:nvGrpSpPr>
            <p:cNvPr id="5" name="组 1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96" name="圆角矩形 95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圆角矩形 96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" name="圆角矩形 97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" name="圆角矩形 98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圆角矩形 94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101" name="圆角矩形 100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49" name="圆角矩形 48"/>
          <p:cNvSpPr/>
          <p:nvPr/>
        </p:nvSpPr>
        <p:spPr>
          <a:xfrm>
            <a:off x="2417570" y="2349935"/>
            <a:ext cx="4576510" cy="613386"/>
          </a:xfrm>
          <a:prstGeom prst="roundRect">
            <a:avLst/>
          </a:prstGeom>
          <a:solidFill>
            <a:schemeClr val="bg1"/>
          </a:solidFill>
          <a:ln w="28575" cap="rnd" cmpd="sng" algn="ctr">
            <a:solidFill>
              <a:srgbClr val="FFFFFF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lvl="0" algn="ctr">
              <a:defRPr/>
            </a:pPr>
            <a:r>
              <a:rPr lang="zh-CN" altLang="en-US" sz="2400" b="1" dirty="0">
                <a:solidFill>
                  <a:srgbClr val="44546A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800" b="1" dirty="0" smtClean="0">
                <a:solidFill>
                  <a:srgbClr val="44546A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选题依据</a:t>
            </a:r>
            <a:endParaRPr lang="zh-CN" altLang="en-US" sz="2800" b="1" kern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2408016" y="3104787"/>
            <a:ext cx="4586064" cy="612000"/>
          </a:xfrm>
          <a:prstGeom prst="roundRect">
            <a:avLst/>
          </a:prstGeom>
          <a:solidFill>
            <a:srgbClr val="FFFFFF"/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lvl="0" algn="ctr"/>
            <a:r>
              <a:rPr lang="zh-CN" altLang="en-US" sz="2800" b="1" dirty="0" smtClean="0">
                <a:solidFill>
                  <a:srgbClr val="44546A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研究内容</a:t>
            </a:r>
            <a:endParaRPr lang="zh-CN" altLang="en-US" sz="2800" b="1" dirty="0">
              <a:solidFill>
                <a:srgbClr val="44546A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2417570" y="4581128"/>
            <a:ext cx="4576510" cy="612000"/>
          </a:xfrm>
          <a:prstGeom prst="roundRect">
            <a:avLst/>
          </a:prstGeom>
          <a:solidFill>
            <a:srgbClr val="FFFFFF"/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algn="ctr"/>
            <a:r>
              <a:rPr lang="zh-CN" altLang="en-US" sz="2800" b="1" dirty="0" smtClean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研究计划及预期结果</a:t>
            </a:r>
            <a:endParaRPr lang="zh-CN" altLang="en-US" sz="2800" b="1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  <p:sp>
        <p:nvSpPr>
          <p:cNvPr id="53" name="圆角矩形 52"/>
          <p:cNvSpPr/>
          <p:nvPr/>
        </p:nvSpPr>
        <p:spPr>
          <a:xfrm>
            <a:off x="2384745" y="1596076"/>
            <a:ext cx="4586064" cy="612000"/>
          </a:xfrm>
          <a:prstGeom prst="roundRect">
            <a:avLst/>
          </a:prstGeom>
          <a:solidFill>
            <a:schemeClr val="bg1"/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lvl="0" algn="ctr">
              <a:defRPr/>
            </a:pPr>
            <a:r>
              <a:rPr lang="zh-CN" altLang="en-US" sz="2800" b="1" dirty="0" smtClean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前期学习及研究情况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2462387" y="2417270"/>
            <a:ext cx="499243" cy="470602"/>
          </a:xfrm>
          <a:prstGeom prst="roundRect">
            <a:avLst/>
          </a:prstGeom>
          <a:solidFill>
            <a:srgbClr val="FFFFFF"/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0" dirty="0">
                <a:solidFill>
                  <a:srgbClr val="2C5D98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2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2C5D98"/>
              </a:solidFill>
              <a:effectLst/>
              <a:uLnTx/>
              <a:uFillTx/>
              <a:latin typeface="Times New Roman" pitchFamily="18" charset="0"/>
              <a:ea typeface="黑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2408016" y="3827417"/>
            <a:ext cx="4586064" cy="612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algn="ctr"/>
            <a:r>
              <a:rPr lang="zh-CN" altLang="en-US" sz="2800" b="1" dirty="0" smtClean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拟采取的研究方案</a:t>
            </a:r>
            <a:endParaRPr lang="zh-CN" altLang="en-US" sz="2800" b="1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2457573" y="3174727"/>
            <a:ext cx="499243" cy="470602"/>
          </a:xfrm>
          <a:prstGeom prst="roundRect">
            <a:avLst/>
          </a:prstGeom>
          <a:solidFill>
            <a:srgbClr val="FFFFFF"/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0" dirty="0">
                <a:solidFill>
                  <a:srgbClr val="2C5D98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3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2C5D98"/>
              </a:solidFill>
              <a:effectLst/>
              <a:uLnTx/>
              <a:uFillTx/>
              <a:latin typeface="Times New Roman" pitchFamily="18" charset="0"/>
              <a:ea typeface="黑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57" name="圆角矩形 56"/>
          <p:cNvSpPr/>
          <p:nvPr/>
        </p:nvSpPr>
        <p:spPr>
          <a:xfrm>
            <a:off x="2457574" y="3887838"/>
            <a:ext cx="499243" cy="470602"/>
          </a:xfrm>
          <a:prstGeom prst="roundRect">
            <a:avLst/>
          </a:prstGeom>
          <a:solidFill>
            <a:srgbClr val="FFFFFF"/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0" dirty="0">
                <a:solidFill>
                  <a:srgbClr val="2C5D98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4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2C5D98"/>
              </a:solidFill>
              <a:effectLst/>
              <a:uLnTx/>
              <a:uFillTx/>
              <a:latin typeface="Times New Roman" pitchFamily="18" charset="0"/>
              <a:ea typeface="黑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2462388" y="4637614"/>
            <a:ext cx="499243" cy="470602"/>
          </a:xfrm>
          <a:prstGeom prst="roundRect">
            <a:avLst/>
          </a:prstGeom>
          <a:solidFill>
            <a:srgbClr val="FFFFFF"/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0" dirty="0">
                <a:solidFill>
                  <a:srgbClr val="2C5D98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5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2C5D98"/>
              </a:solidFill>
              <a:effectLst/>
              <a:uLnTx/>
              <a:uFillTx/>
              <a:latin typeface="Times New Roman" pitchFamily="18" charset="0"/>
              <a:ea typeface="黑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2439118" y="1650364"/>
            <a:ext cx="499243" cy="470602"/>
          </a:xfrm>
          <a:prstGeom prst="roundRect">
            <a:avLst/>
          </a:prstGeom>
          <a:solidFill>
            <a:srgbClr val="FFFFFF"/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0" dirty="0">
                <a:solidFill>
                  <a:srgbClr val="2C5D98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1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2C5D98"/>
              </a:solidFill>
              <a:effectLst/>
              <a:uLnTx/>
              <a:uFillTx/>
              <a:latin typeface="Times New Roman" pitchFamily="18" charset="0"/>
              <a:ea typeface="黑体" panose="02010609060101010101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082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4252" y="6714373"/>
            <a:ext cx="9135410" cy="143627"/>
          </a:xfrm>
          <a:prstGeom prst="rect">
            <a:avLst/>
          </a:prstGeom>
          <a:solidFill>
            <a:srgbClr val="87A5D9"/>
          </a:solidFill>
          <a:ln w="25400" cap="flat" cmpd="sng" algn="ctr">
            <a:solidFill>
              <a:srgbClr val="87A5D9"/>
            </a:solidFill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ysClr val="window" lastClr="FFFFFF"/>
              </a:solidFill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358616" y="231856"/>
            <a:ext cx="8785384" cy="484505"/>
          </a:xfrm>
          <a:prstGeom prst="rect">
            <a:avLst/>
          </a:prstGeom>
          <a:gradFill>
            <a:gsLst>
              <a:gs pos="0">
                <a:srgbClr val="5B9BD5">
                  <a:lumMod val="5000"/>
                  <a:lumOff val="95000"/>
                  <a:alpha val="0"/>
                </a:srgbClr>
              </a:gs>
              <a:gs pos="78000">
                <a:srgbClr val="4472C4"/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txBody>
          <a:bodyPr lIns="91436" tIns="45718" rIns="91436" bIns="45718"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Century Gothic"/>
              <a:ea typeface="微软雅黑"/>
            </a:endParaRPr>
          </a:p>
        </p:txBody>
      </p:sp>
      <p:sp>
        <p:nvSpPr>
          <p:cNvPr id="75" name="圆角矩形 74"/>
          <p:cNvSpPr/>
          <p:nvPr/>
        </p:nvSpPr>
        <p:spPr>
          <a:xfrm rot="10800000" flipV="1">
            <a:off x="-4247" y="223488"/>
            <a:ext cx="363215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91436" tIns="45718" rIns="91436" bIns="45718" rtlCol="0" anchor="ctr"/>
          <a:lstStyle/>
          <a:p>
            <a:pPr algn="ctr">
              <a:defRPr/>
            </a:pPr>
            <a:r>
              <a:rPr lang="en-US" altLang="zh-CN" sz="2400" b="1" kern="0" dirty="0">
                <a:solidFill>
                  <a:prstClr val="white"/>
                </a:solidFill>
                <a:latin typeface="Times New Roman" panose="02020603050405020304" pitchFamily="18" charset="0"/>
                <a:ea typeface="微软雅黑"/>
              </a:rPr>
              <a:t>4</a:t>
            </a:r>
            <a:endParaRPr lang="zh-CN" altLang="en-US" sz="2400" b="1" kern="0" dirty="0">
              <a:solidFill>
                <a:prstClr val="white"/>
              </a:solidFill>
              <a:latin typeface="Times New Roman" panose="02020603050405020304" pitchFamily="18" charset="0"/>
              <a:ea typeface="微软雅黑"/>
            </a:endParaRPr>
          </a:p>
        </p:txBody>
      </p:sp>
      <p:grpSp>
        <p:nvGrpSpPr>
          <p:cNvPr id="2" name="组 42"/>
          <p:cNvGrpSpPr/>
          <p:nvPr/>
        </p:nvGrpSpPr>
        <p:grpSpPr>
          <a:xfrm>
            <a:off x="8420669" y="226904"/>
            <a:ext cx="723330" cy="484288"/>
            <a:chOff x="11454105" y="252856"/>
            <a:chExt cx="737892" cy="484288"/>
          </a:xfrm>
        </p:grpSpPr>
        <p:grpSp>
          <p:nvGrpSpPr>
            <p:cNvPr id="3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81" name="圆角矩形 80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3" name="圆角矩形 82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4" name="圆角矩形 83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5" name="圆角矩形 84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</p:grpSp>
        <p:grpSp>
          <p:nvGrpSpPr>
            <p:cNvPr id="4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79" name="圆角矩形 78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0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86" name="文本框 9"/>
          <p:cNvSpPr txBox="1"/>
          <p:nvPr/>
        </p:nvSpPr>
        <p:spPr>
          <a:xfrm>
            <a:off x="467544" y="260648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拟采取的研究方案</a:t>
            </a:r>
            <a:endParaRPr lang="zh-CN" altLang="en-US" sz="2400" b="1" dirty="0">
              <a:solidFill>
                <a:prstClr val="white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656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75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948216"/>
            <a:ext cx="4879055" cy="5195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3347864" y="6259985"/>
            <a:ext cx="2123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技术路线及实施方案</a:t>
            </a:r>
          </a:p>
        </p:txBody>
      </p:sp>
    </p:spTree>
    <p:extLst>
      <p:ext uri="{BB962C8B-B14F-4D97-AF65-F5344CB8AC3E}">
        <p14:creationId xmlns:p14="http://schemas.microsoft.com/office/powerpoint/2010/main" val="14705644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4252" y="6714373"/>
            <a:ext cx="9135410" cy="143627"/>
          </a:xfrm>
          <a:prstGeom prst="rect">
            <a:avLst/>
          </a:prstGeom>
          <a:solidFill>
            <a:srgbClr val="87A5D9"/>
          </a:solidFill>
          <a:ln w="25400" cap="flat" cmpd="sng" algn="ctr">
            <a:solidFill>
              <a:srgbClr val="87A5D9"/>
            </a:solidFill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ysClr val="window" lastClr="FFFFFF"/>
              </a:solidFill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358616" y="231856"/>
            <a:ext cx="8785384" cy="484505"/>
          </a:xfrm>
          <a:prstGeom prst="rect">
            <a:avLst/>
          </a:prstGeom>
          <a:gradFill>
            <a:gsLst>
              <a:gs pos="0">
                <a:srgbClr val="5B9BD5">
                  <a:lumMod val="5000"/>
                  <a:lumOff val="95000"/>
                  <a:alpha val="0"/>
                </a:srgbClr>
              </a:gs>
              <a:gs pos="78000">
                <a:srgbClr val="4472C4"/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txBody>
          <a:bodyPr lIns="91436" tIns="45718" rIns="91436" bIns="45718"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Century Gothic"/>
              <a:ea typeface="微软雅黑"/>
            </a:endParaRPr>
          </a:p>
        </p:txBody>
      </p:sp>
      <p:sp>
        <p:nvSpPr>
          <p:cNvPr id="75" name="圆角矩形 74"/>
          <p:cNvSpPr/>
          <p:nvPr/>
        </p:nvSpPr>
        <p:spPr>
          <a:xfrm rot="10800000" flipV="1">
            <a:off x="-4247" y="223488"/>
            <a:ext cx="363215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91436" tIns="45718" rIns="91436" bIns="45718" rtlCol="0" anchor="ctr"/>
          <a:lstStyle/>
          <a:p>
            <a:pPr algn="ctr">
              <a:defRPr/>
            </a:pPr>
            <a:r>
              <a:rPr lang="en-US" altLang="zh-CN" sz="2400" b="1" kern="0" dirty="0">
                <a:solidFill>
                  <a:prstClr val="white"/>
                </a:solidFill>
                <a:latin typeface="Times New Roman" panose="02020603050405020304" pitchFamily="18" charset="0"/>
                <a:ea typeface="微软雅黑"/>
              </a:rPr>
              <a:t>4</a:t>
            </a:r>
            <a:endParaRPr lang="zh-CN" altLang="en-US" sz="2400" b="1" kern="0" dirty="0">
              <a:solidFill>
                <a:prstClr val="white"/>
              </a:solidFill>
              <a:latin typeface="Times New Roman" panose="02020603050405020304" pitchFamily="18" charset="0"/>
              <a:ea typeface="微软雅黑"/>
            </a:endParaRPr>
          </a:p>
        </p:txBody>
      </p:sp>
      <p:grpSp>
        <p:nvGrpSpPr>
          <p:cNvPr id="2" name="组 42"/>
          <p:cNvGrpSpPr/>
          <p:nvPr/>
        </p:nvGrpSpPr>
        <p:grpSpPr>
          <a:xfrm>
            <a:off x="8420669" y="226904"/>
            <a:ext cx="723330" cy="484288"/>
            <a:chOff x="11454105" y="252856"/>
            <a:chExt cx="737892" cy="484288"/>
          </a:xfrm>
        </p:grpSpPr>
        <p:grpSp>
          <p:nvGrpSpPr>
            <p:cNvPr id="3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81" name="圆角矩形 80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3" name="圆角矩形 82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4" name="圆角矩形 83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5" name="圆角矩形 84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</p:grpSp>
        <p:grpSp>
          <p:nvGrpSpPr>
            <p:cNvPr id="4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79" name="圆角矩形 78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0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656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75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7265327"/>
              </p:ext>
            </p:extLst>
          </p:nvPr>
        </p:nvGraphicFramePr>
        <p:xfrm>
          <a:off x="467544" y="877122"/>
          <a:ext cx="7624262" cy="5676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30" name="Visio" r:id="rId4" imgW="6337473" imgH="4718225" progId="Visio.Drawing.15">
                  <p:embed/>
                </p:oleObj>
              </mc:Choice>
              <mc:Fallback>
                <p:oleObj name="Visio" r:id="rId4" imgW="6337473" imgH="4718225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7544" y="877122"/>
                        <a:ext cx="7624262" cy="56761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9"/>
          <p:cNvSpPr txBox="1"/>
          <p:nvPr/>
        </p:nvSpPr>
        <p:spPr>
          <a:xfrm>
            <a:off x="467544" y="260648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拟采取的研究方案</a:t>
            </a:r>
            <a:endParaRPr lang="zh-CN" altLang="en-US" sz="2400" b="1" dirty="0">
              <a:solidFill>
                <a:prstClr val="white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92868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4252" y="6714373"/>
            <a:ext cx="9135410" cy="143627"/>
          </a:xfrm>
          <a:prstGeom prst="rect">
            <a:avLst/>
          </a:prstGeom>
          <a:solidFill>
            <a:srgbClr val="87A5D9"/>
          </a:solidFill>
          <a:ln w="25400" cap="flat" cmpd="sng" algn="ctr">
            <a:solidFill>
              <a:srgbClr val="87A5D9"/>
            </a:solidFill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ysClr val="window" lastClr="FFFFFF"/>
              </a:solidFill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358616" y="231856"/>
            <a:ext cx="8785384" cy="484505"/>
          </a:xfrm>
          <a:prstGeom prst="rect">
            <a:avLst/>
          </a:prstGeom>
          <a:gradFill>
            <a:gsLst>
              <a:gs pos="0">
                <a:srgbClr val="5B9BD5">
                  <a:lumMod val="5000"/>
                  <a:lumOff val="95000"/>
                  <a:alpha val="0"/>
                </a:srgbClr>
              </a:gs>
              <a:gs pos="78000">
                <a:srgbClr val="4472C4"/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txBody>
          <a:bodyPr lIns="91436" tIns="45718" rIns="91436" bIns="45718"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Century Gothic"/>
              <a:ea typeface="微软雅黑"/>
            </a:endParaRPr>
          </a:p>
        </p:txBody>
      </p:sp>
      <p:sp>
        <p:nvSpPr>
          <p:cNvPr id="75" name="圆角矩形 74"/>
          <p:cNvSpPr/>
          <p:nvPr/>
        </p:nvSpPr>
        <p:spPr>
          <a:xfrm rot="10800000" flipV="1">
            <a:off x="-4247" y="223488"/>
            <a:ext cx="363215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91436" tIns="45718" rIns="91436" bIns="45718" rtlCol="0" anchor="ctr"/>
          <a:lstStyle/>
          <a:p>
            <a:pPr algn="ctr">
              <a:defRPr/>
            </a:pPr>
            <a:r>
              <a:rPr lang="en-US" altLang="zh-CN" sz="2400" b="1" kern="0" dirty="0">
                <a:solidFill>
                  <a:prstClr val="white"/>
                </a:solidFill>
                <a:latin typeface="Times New Roman" panose="02020603050405020304" pitchFamily="18" charset="0"/>
                <a:ea typeface="微软雅黑"/>
              </a:rPr>
              <a:t>4</a:t>
            </a:r>
            <a:endParaRPr lang="zh-CN" altLang="en-US" sz="2400" b="1" kern="0" dirty="0">
              <a:solidFill>
                <a:prstClr val="white"/>
              </a:solidFill>
              <a:latin typeface="Times New Roman" panose="02020603050405020304" pitchFamily="18" charset="0"/>
              <a:ea typeface="微软雅黑"/>
            </a:endParaRPr>
          </a:p>
        </p:txBody>
      </p:sp>
      <p:grpSp>
        <p:nvGrpSpPr>
          <p:cNvPr id="2" name="组 42"/>
          <p:cNvGrpSpPr/>
          <p:nvPr/>
        </p:nvGrpSpPr>
        <p:grpSpPr>
          <a:xfrm>
            <a:off x="8420669" y="226904"/>
            <a:ext cx="723330" cy="484288"/>
            <a:chOff x="11454105" y="252856"/>
            <a:chExt cx="737892" cy="484288"/>
          </a:xfrm>
        </p:grpSpPr>
        <p:grpSp>
          <p:nvGrpSpPr>
            <p:cNvPr id="3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81" name="圆角矩形 80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3" name="圆角矩形 82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4" name="圆角矩形 83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5" name="圆角矩形 84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</p:grpSp>
        <p:grpSp>
          <p:nvGrpSpPr>
            <p:cNvPr id="4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79" name="圆角矩形 78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0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656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75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TextBox 28"/>
          <p:cNvSpPr txBox="1"/>
          <p:nvPr/>
        </p:nvSpPr>
        <p:spPr>
          <a:xfrm>
            <a:off x="358616" y="946458"/>
            <a:ext cx="29578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1F497D"/>
                </a:solidFill>
                <a:latin typeface="宋体"/>
              </a:rPr>
              <a:t>故障树与知识库的建立</a:t>
            </a: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2326102"/>
              </p:ext>
            </p:extLst>
          </p:nvPr>
        </p:nvGraphicFramePr>
        <p:xfrm>
          <a:off x="1403648" y="2204864"/>
          <a:ext cx="5902981" cy="3384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11" name="Visio" r:id="rId4" imgW="3809901" imgH="2184312" progId="Visio.Drawing.15">
                  <p:embed/>
                </p:oleObj>
              </mc:Choice>
              <mc:Fallback>
                <p:oleObj name="Visio" r:id="rId4" imgW="3809901" imgH="2184312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03648" y="2204864"/>
                        <a:ext cx="5902981" cy="33843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1">
            <a:extLst>
              <a:ext uri="{FF2B5EF4-FFF2-40B4-BE49-F238E27FC236}">
                <a16:creationId xmlns:a16="http://schemas.microsoft.com/office/drawing/2014/main" xmlns="" id="{70A8EA1D-FA7B-4BAB-A715-EF8560AF22A4}"/>
              </a:ext>
            </a:extLst>
          </p:cNvPr>
          <p:cNvSpPr txBox="1"/>
          <p:nvPr/>
        </p:nvSpPr>
        <p:spPr>
          <a:xfrm>
            <a:off x="611560" y="5013176"/>
            <a:ext cx="2880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你需要哪些数据，从哪里获取，这个问题能回答吗？</a:t>
            </a:r>
          </a:p>
        </p:txBody>
      </p:sp>
      <p:sp>
        <p:nvSpPr>
          <p:cNvPr id="23" name="文本框 9"/>
          <p:cNvSpPr txBox="1"/>
          <p:nvPr/>
        </p:nvSpPr>
        <p:spPr>
          <a:xfrm>
            <a:off x="467544" y="260648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拟采取的研究方案</a:t>
            </a:r>
            <a:endParaRPr lang="zh-CN" altLang="en-US" sz="2400" b="1" dirty="0">
              <a:solidFill>
                <a:prstClr val="white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240026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4252" y="6714373"/>
            <a:ext cx="9135410" cy="143627"/>
          </a:xfrm>
          <a:prstGeom prst="rect">
            <a:avLst/>
          </a:prstGeom>
          <a:solidFill>
            <a:srgbClr val="87A5D9"/>
          </a:solidFill>
          <a:ln w="25400" cap="flat" cmpd="sng" algn="ctr">
            <a:solidFill>
              <a:srgbClr val="87A5D9"/>
            </a:solidFill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ysClr val="window" lastClr="FFFFFF"/>
              </a:solidFill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358616" y="231856"/>
            <a:ext cx="8785384" cy="484505"/>
          </a:xfrm>
          <a:prstGeom prst="rect">
            <a:avLst/>
          </a:prstGeom>
          <a:gradFill>
            <a:gsLst>
              <a:gs pos="0">
                <a:srgbClr val="5B9BD5">
                  <a:lumMod val="5000"/>
                  <a:lumOff val="95000"/>
                  <a:alpha val="0"/>
                </a:srgbClr>
              </a:gs>
              <a:gs pos="78000">
                <a:srgbClr val="4472C4"/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txBody>
          <a:bodyPr lIns="91436" tIns="45718" rIns="91436" bIns="45718"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Century Gothic"/>
              <a:ea typeface="微软雅黑"/>
            </a:endParaRPr>
          </a:p>
        </p:txBody>
      </p:sp>
      <p:sp>
        <p:nvSpPr>
          <p:cNvPr id="75" name="圆角矩形 74"/>
          <p:cNvSpPr/>
          <p:nvPr/>
        </p:nvSpPr>
        <p:spPr>
          <a:xfrm rot="10800000" flipV="1">
            <a:off x="-4247" y="223488"/>
            <a:ext cx="363215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91436" tIns="45718" rIns="91436" bIns="45718" rtlCol="0" anchor="ctr"/>
          <a:lstStyle/>
          <a:p>
            <a:pPr algn="ctr">
              <a:defRPr/>
            </a:pPr>
            <a:r>
              <a:rPr lang="en-US" altLang="zh-CN" sz="2400" b="1" kern="0" dirty="0">
                <a:solidFill>
                  <a:prstClr val="white"/>
                </a:solidFill>
                <a:latin typeface="Times New Roman" panose="02020603050405020304" pitchFamily="18" charset="0"/>
                <a:ea typeface="微软雅黑"/>
              </a:rPr>
              <a:t>4</a:t>
            </a:r>
            <a:endParaRPr lang="zh-CN" altLang="en-US" sz="2400" b="1" kern="0" dirty="0">
              <a:solidFill>
                <a:prstClr val="white"/>
              </a:solidFill>
              <a:latin typeface="Times New Roman" panose="02020603050405020304" pitchFamily="18" charset="0"/>
              <a:ea typeface="微软雅黑"/>
            </a:endParaRPr>
          </a:p>
        </p:txBody>
      </p:sp>
      <p:grpSp>
        <p:nvGrpSpPr>
          <p:cNvPr id="2" name="组 42"/>
          <p:cNvGrpSpPr/>
          <p:nvPr/>
        </p:nvGrpSpPr>
        <p:grpSpPr>
          <a:xfrm>
            <a:off x="8420669" y="226904"/>
            <a:ext cx="723330" cy="484288"/>
            <a:chOff x="11454105" y="252856"/>
            <a:chExt cx="737892" cy="484288"/>
          </a:xfrm>
        </p:grpSpPr>
        <p:grpSp>
          <p:nvGrpSpPr>
            <p:cNvPr id="3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81" name="圆角矩形 80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3" name="圆角矩形 82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4" name="圆角矩形 83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5" name="圆角矩形 84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</p:grpSp>
        <p:grpSp>
          <p:nvGrpSpPr>
            <p:cNvPr id="4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79" name="圆角矩形 78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0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656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75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0" name="图片 8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054" y="1444039"/>
            <a:ext cx="7805800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文本框 20"/>
          <p:cNvSpPr txBox="1"/>
          <p:nvPr/>
        </p:nvSpPr>
        <p:spPr>
          <a:xfrm>
            <a:off x="3056790" y="5069902"/>
            <a:ext cx="30993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 dirty="0">
                <a:latin typeface="+mj-ea"/>
                <a:ea typeface="+mj-ea"/>
              </a:rPr>
              <a:t>经典的一维卷积神经网络结构图</a:t>
            </a:r>
          </a:p>
        </p:txBody>
      </p:sp>
      <p:sp>
        <p:nvSpPr>
          <p:cNvPr id="22" name="TextBox 28"/>
          <p:cNvSpPr txBox="1"/>
          <p:nvPr/>
        </p:nvSpPr>
        <p:spPr>
          <a:xfrm>
            <a:off x="358616" y="946458"/>
            <a:ext cx="26981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1F497D"/>
                </a:solidFill>
                <a:latin typeface="宋体"/>
              </a:rPr>
              <a:t>卷积神经网络的搭建</a:t>
            </a:r>
          </a:p>
        </p:txBody>
      </p:sp>
      <p:sp>
        <p:nvSpPr>
          <p:cNvPr id="23" name="TextBox 24"/>
          <p:cNvSpPr txBox="1"/>
          <p:nvPr/>
        </p:nvSpPr>
        <p:spPr>
          <a:xfrm>
            <a:off x="1759352" y="5710448"/>
            <a:ext cx="56252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zh-CN" altLang="en-US" dirty="0"/>
              <a:t>输入：设备故障数据    卷积层：特征提取  </a:t>
            </a:r>
          </a:p>
          <a:p>
            <a:pPr indent="457200"/>
            <a:r>
              <a:rPr lang="zh-CN" altLang="en-US" dirty="0"/>
              <a:t>激活层：非线性变换    池化层：降采样  </a:t>
            </a:r>
          </a:p>
          <a:p>
            <a:pPr indent="457200"/>
            <a:r>
              <a:rPr lang="zh-CN" altLang="en-US" dirty="0"/>
              <a:t>全连接层：特征分类    输出：设备故障类型</a:t>
            </a:r>
          </a:p>
        </p:txBody>
      </p:sp>
      <p:sp>
        <p:nvSpPr>
          <p:cNvPr id="24" name="文本框 9"/>
          <p:cNvSpPr txBox="1"/>
          <p:nvPr/>
        </p:nvSpPr>
        <p:spPr>
          <a:xfrm>
            <a:off x="467544" y="260648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拟采取的研究方案</a:t>
            </a:r>
            <a:endParaRPr lang="zh-CN" altLang="en-US" sz="2400" b="1" dirty="0">
              <a:solidFill>
                <a:prstClr val="white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915438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4252" y="6714373"/>
            <a:ext cx="9135410" cy="143627"/>
          </a:xfrm>
          <a:prstGeom prst="rect">
            <a:avLst/>
          </a:prstGeom>
          <a:solidFill>
            <a:srgbClr val="87A5D9"/>
          </a:solidFill>
          <a:ln w="25400" cap="flat" cmpd="sng" algn="ctr">
            <a:solidFill>
              <a:srgbClr val="87A5D9"/>
            </a:solidFill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ysClr val="window" lastClr="FFFFFF"/>
              </a:solidFill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358616" y="231856"/>
            <a:ext cx="8785384" cy="484505"/>
          </a:xfrm>
          <a:prstGeom prst="rect">
            <a:avLst/>
          </a:prstGeom>
          <a:gradFill>
            <a:gsLst>
              <a:gs pos="0">
                <a:srgbClr val="5B9BD5">
                  <a:lumMod val="5000"/>
                  <a:lumOff val="95000"/>
                  <a:alpha val="0"/>
                </a:srgbClr>
              </a:gs>
              <a:gs pos="78000">
                <a:srgbClr val="4472C4"/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txBody>
          <a:bodyPr lIns="91436" tIns="45718" rIns="91436" bIns="45718"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Century Gothic"/>
              <a:ea typeface="微软雅黑"/>
            </a:endParaRPr>
          </a:p>
        </p:txBody>
      </p:sp>
      <p:sp>
        <p:nvSpPr>
          <p:cNvPr id="75" name="圆角矩形 74"/>
          <p:cNvSpPr/>
          <p:nvPr/>
        </p:nvSpPr>
        <p:spPr>
          <a:xfrm rot="10800000" flipV="1">
            <a:off x="-4247" y="223488"/>
            <a:ext cx="363215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91436" tIns="45718" rIns="91436" bIns="45718" rtlCol="0" anchor="ctr"/>
          <a:lstStyle/>
          <a:p>
            <a:pPr algn="ctr">
              <a:defRPr/>
            </a:pPr>
            <a:r>
              <a:rPr lang="en-US" altLang="zh-CN" sz="2400" b="1" kern="0" dirty="0">
                <a:solidFill>
                  <a:prstClr val="white"/>
                </a:solidFill>
                <a:latin typeface="Times New Roman" panose="02020603050405020304" pitchFamily="18" charset="0"/>
                <a:ea typeface="微软雅黑"/>
              </a:rPr>
              <a:t>4</a:t>
            </a:r>
            <a:endParaRPr lang="zh-CN" altLang="en-US" sz="2400" b="1" kern="0" dirty="0">
              <a:solidFill>
                <a:prstClr val="white"/>
              </a:solidFill>
              <a:latin typeface="Times New Roman" panose="02020603050405020304" pitchFamily="18" charset="0"/>
              <a:ea typeface="微软雅黑"/>
            </a:endParaRPr>
          </a:p>
        </p:txBody>
      </p:sp>
      <p:grpSp>
        <p:nvGrpSpPr>
          <p:cNvPr id="2" name="组 42"/>
          <p:cNvGrpSpPr/>
          <p:nvPr/>
        </p:nvGrpSpPr>
        <p:grpSpPr>
          <a:xfrm>
            <a:off x="8420669" y="226904"/>
            <a:ext cx="723330" cy="484288"/>
            <a:chOff x="11454105" y="252856"/>
            <a:chExt cx="737892" cy="484288"/>
          </a:xfrm>
        </p:grpSpPr>
        <p:grpSp>
          <p:nvGrpSpPr>
            <p:cNvPr id="3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81" name="圆角矩形 80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3" name="圆角矩形 82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4" name="圆角矩形 83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5" name="圆角矩形 84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</p:grpSp>
        <p:grpSp>
          <p:nvGrpSpPr>
            <p:cNvPr id="4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79" name="圆角矩形 78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0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656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75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0" name="图片 8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616" y="2010636"/>
            <a:ext cx="8579189" cy="3470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矩形 20"/>
          <p:cNvSpPr/>
          <p:nvPr/>
        </p:nvSpPr>
        <p:spPr>
          <a:xfrm>
            <a:off x="2843808" y="5599486"/>
            <a:ext cx="3185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一维卷积神经网络结构优化图</a:t>
            </a:r>
            <a:endParaRPr lang="zh-CN" altLang="en-US" dirty="0"/>
          </a:p>
        </p:txBody>
      </p:sp>
      <p:sp>
        <p:nvSpPr>
          <p:cNvPr id="22" name="TextBox 28"/>
          <p:cNvSpPr txBox="1"/>
          <p:nvPr/>
        </p:nvSpPr>
        <p:spPr>
          <a:xfrm>
            <a:off x="68870" y="1010750"/>
            <a:ext cx="26981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zh-CN" altLang="en-US" sz="2000" b="1" dirty="0">
                <a:solidFill>
                  <a:srgbClr val="1F497D"/>
                </a:solidFill>
                <a:latin typeface="宋体"/>
              </a:rPr>
              <a:t>卷积神经网络的搭建</a:t>
            </a:r>
          </a:p>
        </p:txBody>
      </p:sp>
      <p:sp>
        <p:nvSpPr>
          <p:cNvPr id="23" name="文本框 9"/>
          <p:cNvSpPr txBox="1"/>
          <p:nvPr/>
        </p:nvSpPr>
        <p:spPr>
          <a:xfrm>
            <a:off x="467544" y="260648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拟采取的研究方案</a:t>
            </a:r>
            <a:endParaRPr lang="zh-CN" altLang="en-US" sz="2400" b="1" dirty="0">
              <a:solidFill>
                <a:prstClr val="white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92504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4252" y="6714373"/>
            <a:ext cx="9135410" cy="143627"/>
          </a:xfrm>
          <a:prstGeom prst="rect">
            <a:avLst/>
          </a:prstGeom>
          <a:solidFill>
            <a:srgbClr val="87A5D9"/>
          </a:solidFill>
          <a:ln w="25400" cap="flat" cmpd="sng" algn="ctr">
            <a:solidFill>
              <a:srgbClr val="87A5D9"/>
            </a:solidFill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ysClr val="window" lastClr="FFFFFF"/>
              </a:solidFill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358616" y="231856"/>
            <a:ext cx="8785384" cy="484505"/>
          </a:xfrm>
          <a:prstGeom prst="rect">
            <a:avLst/>
          </a:prstGeom>
          <a:gradFill>
            <a:gsLst>
              <a:gs pos="0">
                <a:srgbClr val="5B9BD5">
                  <a:lumMod val="5000"/>
                  <a:lumOff val="95000"/>
                  <a:alpha val="0"/>
                </a:srgbClr>
              </a:gs>
              <a:gs pos="78000">
                <a:srgbClr val="4472C4"/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txBody>
          <a:bodyPr lIns="91436" tIns="45718" rIns="91436" bIns="45718"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Century Gothic"/>
              <a:ea typeface="微软雅黑"/>
            </a:endParaRPr>
          </a:p>
        </p:txBody>
      </p:sp>
      <p:sp>
        <p:nvSpPr>
          <p:cNvPr id="75" name="圆角矩形 74"/>
          <p:cNvSpPr/>
          <p:nvPr/>
        </p:nvSpPr>
        <p:spPr>
          <a:xfrm rot="10800000" flipV="1">
            <a:off x="-4247" y="223488"/>
            <a:ext cx="363215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91436" tIns="45718" rIns="91436" bIns="45718" rtlCol="0" anchor="ctr"/>
          <a:lstStyle/>
          <a:p>
            <a:pPr algn="ctr">
              <a:defRPr/>
            </a:pPr>
            <a:r>
              <a:rPr lang="en-US" altLang="zh-CN" sz="2400" b="1" kern="0" dirty="0">
                <a:solidFill>
                  <a:prstClr val="white"/>
                </a:solidFill>
                <a:latin typeface="Times New Roman" panose="02020603050405020304" pitchFamily="18" charset="0"/>
                <a:ea typeface="微软雅黑"/>
              </a:rPr>
              <a:t>4</a:t>
            </a:r>
            <a:endParaRPr lang="zh-CN" altLang="en-US" sz="2400" b="1" kern="0" dirty="0">
              <a:solidFill>
                <a:prstClr val="white"/>
              </a:solidFill>
              <a:latin typeface="Times New Roman" panose="02020603050405020304" pitchFamily="18" charset="0"/>
              <a:ea typeface="微软雅黑"/>
            </a:endParaRPr>
          </a:p>
        </p:txBody>
      </p:sp>
      <p:grpSp>
        <p:nvGrpSpPr>
          <p:cNvPr id="2" name="组 42"/>
          <p:cNvGrpSpPr/>
          <p:nvPr/>
        </p:nvGrpSpPr>
        <p:grpSpPr>
          <a:xfrm>
            <a:off x="8420669" y="226904"/>
            <a:ext cx="723330" cy="484288"/>
            <a:chOff x="11454105" y="252856"/>
            <a:chExt cx="737892" cy="484288"/>
          </a:xfrm>
        </p:grpSpPr>
        <p:grpSp>
          <p:nvGrpSpPr>
            <p:cNvPr id="3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81" name="圆角矩形 80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3" name="圆角矩形 82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4" name="圆角矩形 83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5" name="圆角矩形 84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</p:grpSp>
        <p:grpSp>
          <p:nvGrpSpPr>
            <p:cNvPr id="4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79" name="圆角矩形 78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0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656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358616" y="946458"/>
            <a:ext cx="24416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en-US" altLang="zh-CN" sz="2000" b="1" dirty="0">
                <a:solidFill>
                  <a:srgbClr val="1F497D"/>
                </a:solidFill>
                <a:latin typeface="宋体"/>
              </a:rPr>
              <a:t>AR</a:t>
            </a:r>
            <a:r>
              <a:rPr lang="zh-CN" altLang="en-US" sz="2000" b="1" dirty="0">
                <a:solidFill>
                  <a:srgbClr val="1F497D"/>
                </a:solidFill>
                <a:latin typeface="宋体"/>
              </a:rPr>
              <a:t>技术方面的实现</a:t>
            </a:r>
          </a:p>
        </p:txBody>
      </p:sp>
      <p:sp>
        <p:nvSpPr>
          <p:cNvPr id="675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6029771"/>
              </p:ext>
            </p:extLst>
          </p:nvPr>
        </p:nvGraphicFramePr>
        <p:xfrm>
          <a:off x="2915816" y="1440880"/>
          <a:ext cx="3168352" cy="467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47" name="Visio" r:id="rId4" imgW="2127090" imgH="3136944" progId="Visio.Drawing.15">
                  <p:embed/>
                </p:oleObj>
              </mc:Choice>
              <mc:Fallback>
                <p:oleObj name="Visio" r:id="rId4" imgW="2127090" imgH="3136944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15816" y="1440880"/>
                        <a:ext cx="3168352" cy="4672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9"/>
          <p:cNvSpPr txBox="1"/>
          <p:nvPr/>
        </p:nvSpPr>
        <p:spPr>
          <a:xfrm>
            <a:off x="467544" y="260648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拟采取的研究方案</a:t>
            </a:r>
            <a:endParaRPr lang="zh-CN" altLang="en-US" sz="2400" b="1" dirty="0">
              <a:solidFill>
                <a:prstClr val="white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161054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直接连接符 79"/>
          <p:cNvCxnSpPr/>
          <p:nvPr/>
        </p:nvCxnSpPr>
        <p:spPr>
          <a:xfrm>
            <a:off x="2267744" y="1124744"/>
            <a:ext cx="0" cy="468052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 rot="5400000">
            <a:off x="-2908716" y="2904936"/>
            <a:ext cx="6818603" cy="100874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 14"/>
          <p:cNvGrpSpPr/>
          <p:nvPr/>
        </p:nvGrpSpPr>
        <p:grpSpPr>
          <a:xfrm>
            <a:off x="-16725" y="6654794"/>
            <a:ext cx="953603" cy="203211"/>
            <a:chOff x="-22302" y="6654791"/>
            <a:chExt cx="1271471" cy="203210"/>
          </a:xfrm>
        </p:grpSpPr>
        <p:sp>
          <p:nvSpPr>
            <p:cNvPr id="9" name="圆角矩形 8"/>
            <p:cNvSpPr/>
            <p:nvPr/>
          </p:nvSpPr>
          <p:spPr>
            <a:xfrm flipV="1">
              <a:off x="240276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圆角矩形 9"/>
            <p:cNvSpPr/>
            <p:nvPr/>
          </p:nvSpPr>
          <p:spPr>
            <a:xfrm flipV="1">
              <a:off x="-22302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圆角矩形 10"/>
            <p:cNvSpPr/>
            <p:nvPr/>
          </p:nvSpPr>
          <p:spPr>
            <a:xfrm flipV="1">
              <a:off x="755838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圆角矩形 11"/>
            <p:cNvSpPr/>
            <p:nvPr/>
          </p:nvSpPr>
          <p:spPr>
            <a:xfrm flipV="1">
              <a:off x="493260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/>
            <p:cNvSpPr/>
            <p:nvPr/>
          </p:nvSpPr>
          <p:spPr>
            <a:xfrm flipV="1">
              <a:off x="1024362" y="6654791"/>
              <a:ext cx="224807" cy="203210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-172953" y="245330"/>
            <a:ext cx="1031043" cy="4519883"/>
          </a:xfrm>
          <a:prstGeom prst="rect">
            <a:avLst/>
          </a:prstGeom>
          <a:noFill/>
        </p:spPr>
        <p:txBody>
          <a:bodyPr vert="eaVert" wrap="square" lIns="91436" tIns="45718" rIns="91436" bIns="45718" rtlCol="0">
            <a:spAutoFit/>
          </a:bodyPr>
          <a:lstStyle/>
          <a:p>
            <a:r>
              <a:rPr lang="en-US" altLang="zh-CN" sz="5500" dirty="0">
                <a:solidFill>
                  <a:schemeClr val="bg1"/>
                </a:solidFill>
                <a:latin typeface="Times New Roman" panose="02020603050405020304" pitchFamily="18" charset="0"/>
              </a:rPr>
              <a:t>CONTENTS</a:t>
            </a:r>
            <a:endParaRPr lang="zh-CN" altLang="en-US" sz="55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" name="组 2"/>
          <p:cNvGrpSpPr/>
          <p:nvPr/>
        </p:nvGrpSpPr>
        <p:grpSpPr>
          <a:xfrm>
            <a:off x="8461613" y="252859"/>
            <a:ext cx="682388" cy="484288"/>
            <a:chOff x="11454105" y="252856"/>
            <a:chExt cx="737892" cy="484288"/>
          </a:xfrm>
        </p:grpSpPr>
        <p:grpSp>
          <p:nvGrpSpPr>
            <p:cNvPr id="5" name="组 1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96" name="圆角矩形 95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圆角矩形 96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" name="圆角矩形 97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" name="圆角矩形 98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圆角矩形 94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101" name="圆角矩形 100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49" name="圆角矩形 48"/>
          <p:cNvSpPr/>
          <p:nvPr/>
        </p:nvSpPr>
        <p:spPr>
          <a:xfrm>
            <a:off x="2417570" y="2349935"/>
            <a:ext cx="4576510" cy="613386"/>
          </a:xfrm>
          <a:prstGeom prst="roundRect">
            <a:avLst/>
          </a:prstGeom>
          <a:solidFill>
            <a:schemeClr val="bg1"/>
          </a:solidFill>
          <a:ln w="28575" cap="rnd" cmpd="sng" algn="ctr">
            <a:solidFill>
              <a:srgbClr val="FFFFFF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lvl="0" algn="ctr">
              <a:defRPr/>
            </a:pPr>
            <a:r>
              <a:rPr lang="zh-CN" altLang="en-US" sz="2400" b="1" dirty="0">
                <a:solidFill>
                  <a:srgbClr val="44546A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800" b="1" dirty="0" smtClean="0">
                <a:solidFill>
                  <a:srgbClr val="44546A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选题依据</a:t>
            </a:r>
            <a:endParaRPr lang="zh-CN" altLang="en-US" sz="2800" b="1" kern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2408016" y="3104787"/>
            <a:ext cx="4586064" cy="612000"/>
          </a:xfrm>
          <a:prstGeom prst="roundRect">
            <a:avLst/>
          </a:prstGeom>
          <a:solidFill>
            <a:srgbClr val="FFFFFF"/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lvl="0" algn="ctr"/>
            <a:r>
              <a:rPr lang="zh-CN" altLang="en-US" sz="2800" b="1" dirty="0" smtClean="0">
                <a:solidFill>
                  <a:srgbClr val="44546A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研究内容及研究目标</a:t>
            </a:r>
            <a:endParaRPr lang="zh-CN" altLang="en-US" sz="2800" b="1" dirty="0">
              <a:solidFill>
                <a:srgbClr val="44546A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2417570" y="4581128"/>
            <a:ext cx="4576510" cy="612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algn="ctr"/>
            <a:r>
              <a:rPr lang="zh-CN" altLang="en-US" sz="2800" b="1" dirty="0" smtClean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研究计划及预期成果</a:t>
            </a:r>
            <a:endParaRPr lang="zh-CN" altLang="en-US" sz="2800" b="1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  <p:sp>
        <p:nvSpPr>
          <p:cNvPr id="53" name="圆角矩形 52"/>
          <p:cNvSpPr/>
          <p:nvPr/>
        </p:nvSpPr>
        <p:spPr>
          <a:xfrm>
            <a:off x="2384745" y="1596076"/>
            <a:ext cx="4586064" cy="612000"/>
          </a:xfrm>
          <a:prstGeom prst="roundRect">
            <a:avLst/>
          </a:prstGeom>
          <a:solidFill>
            <a:schemeClr val="bg1"/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lvl="0" algn="ctr">
              <a:defRPr/>
            </a:pPr>
            <a:r>
              <a:rPr lang="zh-CN" altLang="en-US" sz="2800" b="1" dirty="0" smtClean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前期学习及研究情况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2462387" y="2417270"/>
            <a:ext cx="499243" cy="470602"/>
          </a:xfrm>
          <a:prstGeom prst="roundRect">
            <a:avLst/>
          </a:prstGeom>
          <a:solidFill>
            <a:srgbClr val="FFFFFF"/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0" dirty="0">
                <a:solidFill>
                  <a:srgbClr val="2C5D98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2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2C5D98"/>
              </a:solidFill>
              <a:effectLst/>
              <a:uLnTx/>
              <a:uFillTx/>
              <a:latin typeface="Times New Roman" pitchFamily="18" charset="0"/>
              <a:ea typeface="黑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2408016" y="3827417"/>
            <a:ext cx="4586064" cy="612000"/>
          </a:xfrm>
          <a:prstGeom prst="roundRect">
            <a:avLst/>
          </a:prstGeom>
          <a:solidFill>
            <a:srgbClr val="FFFFFF"/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algn="ctr"/>
            <a:r>
              <a:rPr lang="zh-CN" altLang="en-US" sz="2800" b="1" dirty="0" smtClean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拟采取的研究方案</a:t>
            </a:r>
            <a:endParaRPr lang="zh-CN" altLang="en-US" sz="2800" b="1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2457573" y="3174727"/>
            <a:ext cx="499243" cy="470602"/>
          </a:xfrm>
          <a:prstGeom prst="roundRect">
            <a:avLst/>
          </a:prstGeom>
          <a:solidFill>
            <a:srgbClr val="FFFFFF"/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0" dirty="0">
                <a:solidFill>
                  <a:srgbClr val="2C5D98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3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2C5D98"/>
              </a:solidFill>
              <a:effectLst/>
              <a:uLnTx/>
              <a:uFillTx/>
              <a:latin typeface="Times New Roman" pitchFamily="18" charset="0"/>
              <a:ea typeface="黑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57" name="圆角矩形 56"/>
          <p:cNvSpPr/>
          <p:nvPr/>
        </p:nvSpPr>
        <p:spPr>
          <a:xfrm>
            <a:off x="2457574" y="3887838"/>
            <a:ext cx="499243" cy="470602"/>
          </a:xfrm>
          <a:prstGeom prst="roundRect">
            <a:avLst/>
          </a:prstGeom>
          <a:solidFill>
            <a:srgbClr val="FFFFFF"/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0" dirty="0">
                <a:solidFill>
                  <a:srgbClr val="2C5D98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4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2C5D98"/>
              </a:solidFill>
              <a:effectLst/>
              <a:uLnTx/>
              <a:uFillTx/>
              <a:latin typeface="Times New Roman" pitchFamily="18" charset="0"/>
              <a:ea typeface="黑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2462388" y="4637614"/>
            <a:ext cx="499243" cy="470602"/>
          </a:xfrm>
          <a:prstGeom prst="roundRect">
            <a:avLst/>
          </a:prstGeom>
          <a:solidFill>
            <a:srgbClr val="FFFFFF"/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0" dirty="0">
                <a:solidFill>
                  <a:srgbClr val="2C5D98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5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2C5D98"/>
              </a:solidFill>
              <a:effectLst/>
              <a:uLnTx/>
              <a:uFillTx/>
              <a:latin typeface="Times New Roman" pitchFamily="18" charset="0"/>
              <a:ea typeface="黑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2439118" y="1650364"/>
            <a:ext cx="499243" cy="470602"/>
          </a:xfrm>
          <a:prstGeom prst="roundRect">
            <a:avLst/>
          </a:prstGeom>
          <a:solidFill>
            <a:srgbClr val="FFFFFF"/>
          </a:solidFill>
          <a:ln w="28575" cap="rnd" cmpd="sng" algn="ctr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0" dirty="0">
                <a:solidFill>
                  <a:srgbClr val="2C5D98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1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2C5D98"/>
              </a:solidFill>
              <a:effectLst/>
              <a:uLnTx/>
              <a:uFillTx/>
              <a:latin typeface="Times New Roman" pitchFamily="18" charset="0"/>
              <a:ea typeface="黑体" panose="02010609060101010101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140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4252" y="6714373"/>
            <a:ext cx="9135410" cy="143627"/>
          </a:xfrm>
          <a:prstGeom prst="rect">
            <a:avLst/>
          </a:prstGeom>
          <a:solidFill>
            <a:srgbClr val="87A5D9"/>
          </a:solidFill>
          <a:ln w="25400" cap="flat" cmpd="sng" algn="ctr">
            <a:solidFill>
              <a:srgbClr val="87A5D9"/>
            </a:solidFill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ysClr val="window" lastClr="FFFFFF"/>
              </a:solidFill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358616" y="231856"/>
            <a:ext cx="8785384" cy="484505"/>
          </a:xfrm>
          <a:prstGeom prst="rect">
            <a:avLst/>
          </a:prstGeom>
          <a:gradFill>
            <a:gsLst>
              <a:gs pos="0">
                <a:srgbClr val="5B9BD5">
                  <a:lumMod val="5000"/>
                  <a:lumOff val="95000"/>
                  <a:alpha val="0"/>
                </a:srgbClr>
              </a:gs>
              <a:gs pos="78000">
                <a:srgbClr val="4472C4"/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txBody>
          <a:bodyPr lIns="91436" tIns="45718" rIns="91436" bIns="45718"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Century Gothic"/>
              <a:ea typeface="微软雅黑"/>
            </a:endParaRPr>
          </a:p>
        </p:txBody>
      </p:sp>
      <p:sp>
        <p:nvSpPr>
          <p:cNvPr id="75" name="圆角矩形 74"/>
          <p:cNvSpPr/>
          <p:nvPr/>
        </p:nvSpPr>
        <p:spPr>
          <a:xfrm rot="10800000" flipV="1">
            <a:off x="-4247" y="223488"/>
            <a:ext cx="363215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91436" tIns="45718" rIns="91436" bIns="45718" rtlCol="0" anchor="ctr"/>
          <a:lstStyle/>
          <a:p>
            <a:pPr algn="ctr">
              <a:defRPr/>
            </a:pPr>
            <a:r>
              <a:rPr lang="en-US" altLang="zh-CN" sz="2400" b="1" kern="0" dirty="0">
                <a:solidFill>
                  <a:prstClr val="white"/>
                </a:solidFill>
                <a:latin typeface="Times New Roman" panose="02020603050405020304" pitchFamily="18" charset="0"/>
                <a:ea typeface="微软雅黑"/>
              </a:rPr>
              <a:t>5</a:t>
            </a:r>
            <a:endParaRPr lang="zh-CN" altLang="en-US" sz="2400" b="1" kern="0" dirty="0">
              <a:solidFill>
                <a:prstClr val="white"/>
              </a:solidFill>
              <a:latin typeface="Times New Roman" panose="02020603050405020304" pitchFamily="18" charset="0"/>
              <a:ea typeface="微软雅黑"/>
            </a:endParaRPr>
          </a:p>
        </p:txBody>
      </p:sp>
      <p:grpSp>
        <p:nvGrpSpPr>
          <p:cNvPr id="2" name="组 42"/>
          <p:cNvGrpSpPr/>
          <p:nvPr/>
        </p:nvGrpSpPr>
        <p:grpSpPr>
          <a:xfrm>
            <a:off x="8420669" y="226904"/>
            <a:ext cx="723330" cy="484288"/>
            <a:chOff x="11454105" y="252856"/>
            <a:chExt cx="737892" cy="484288"/>
          </a:xfrm>
        </p:grpSpPr>
        <p:grpSp>
          <p:nvGrpSpPr>
            <p:cNvPr id="3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81" name="圆角矩形 80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3" name="圆角矩形 82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4" name="圆角矩形 83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5" name="圆角矩形 84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</p:grpSp>
        <p:grpSp>
          <p:nvGrpSpPr>
            <p:cNvPr id="4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79" name="圆角矩形 78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0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86" name="文本框 9"/>
          <p:cNvSpPr txBox="1"/>
          <p:nvPr/>
        </p:nvSpPr>
        <p:spPr>
          <a:xfrm>
            <a:off x="467544" y="260648"/>
            <a:ext cx="32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研究计划及预期成果</a:t>
            </a:r>
            <a:endParaRPr lang="zh-CN" altLang="en-US" sz="2400" b="1" dirty="0">
              <a:solidFill>
                <a:prstClr val="white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58616" y="1052736"/>
            <a:ext cx="7200800" cy="4126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000" b="1" dirty="0">
                <a:solidFill>
                  <a:srgbClr val="1F497D"/>
                </a:solidFill>
                <a:latin typeface="宋体"/>
                <a:cs typeface="Times New Roman" pitchFamily="18" charset="0"/>
              </a:rPr>
              <a:t>进度计划</a:t>
            </a:r>
            <a:endParaRPr lang="en-US" altLang="zh-CN" sz="2000" b="1" dirty="0">
              <a:solidFill>
                <a:srgbClr val="1F497D"/>
              </a:solidFill>
              <a:latin typeface="宋体"/>
              <a:cs typeface="Times New Roman" pitchFamily="18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0409363"/>
              </p:ext>
            </p:extLst>
          </p:nvPr>
        </p:nvGraphicFramePr>
        <p:xfrm>
          <a:off x="155420" y="1772816"/>
          <a:ext cx="8878266" cy="4680519"/>
        </p:xfrm>
        <a:graphic>
          <a:graphicData uri="http://schemas.openxmlformats.org/drawingml/2006/table">
            <a:tbl>
              <a:tblPr firstRow="1" bandRow="1"/>
              <a:tblGrid>
                <a:gridCol w="3963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8784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40149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20200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638042"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序号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479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阶段及内容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479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起止时间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479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阶段成果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47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38042"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1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1600" kern="1200" dirty="0">
                          <a:latin typeface="+mn-ea"/>
                          <a:ea typeface="+mn-ea"/>
                        </a:rPr>
                        <a:t>查阅文献、搜集与课题相关的资料</a:t>
                      </a:r>
                      <a:endParaRPr lang="zh-CN" altLang="en-US" sz="1600" b="1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kumimoji="0" lang="en-US" altLang="zh-CN" sz="1600" kern="1200" dirty="0">
                          <a:latin typeface="+mn-ea"/>
                          <a:ea typeface="+mn-ea"/>
                        </a:rPr>
                        <a:t>2019.3.25- 2019.7.20</a:t>
                      </a:r>
                      <a:endParaRPr kumimoji="0" lang="zh-CN" altLang="en-US" sz="1600" b="1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kumimoji="0" lang="zh-CN" altLang="en-US" sz="1600" kern="1200" dirty="0">
                          <a:latin typeface="+mn-ea"/>
                          <a:ea typeface="+mn-ea"/>
                        </a:rPr>
                        <a:t>文献综述，熟悉了解课题方向</a:t>
                      </a:r>
                      <a:endParaRPr lang="zh-CN" altLang="en-US" sz="1600" b="1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06691"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1600" kern="1200" dirty="0">
                          <a:latin typeface="+mn-ea"/>
                          <a:ea typeface="+mn-ea"/>
                        </a:rPr>
                        <a:t>系统显示，实现虚实结合，智能交互，实现手势识别功能</a:t>
                      </a:r>
                      <a:endParaRPr lang="zh-CN" altLang="en-US" sz="1600" b="1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kern="1200" dirty="0">
                          <a:solidFill>
                            <a:schemeClr val="dk1"/>
                          </a:solidFill>
                          <a:latin typeface="+mn-ea"/>
                          <a:ea typeface="宋体"/>
                          <a:cs typeface="+mn-cs"/>
                        </a:rPr>
                        <a:t>2019.7.20</a:t>
                      </a:r>
                      <a:r>
                        <a:rPr kumimoji="0" lang="en-US" altLang="zh-CN" sz="1600" kern="1200" dirty="0">
                          <a:latin typeface="+mn-ea"/>
                          <a:ea typeface="+mn-ea"/>
                        </a:rPr>
                        <a:t>- 2019.11.15</a:t>
                      </a:r>
                      <a:endParaRPr kumimoji="0" lang="zh-CN" altLang="en-US" sz="1600" b="1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kumimoji="0" lang="zh-CN" altLang="en-US" sz="1600" kern="1200" dirty="0">
                          <a:latin typeface="+mn-ea"/>
                          <a:ea typeface="+mn-ea"/>
                        </a:rPr>
                        <a:t>显示和智能交互</a:t>
                      </a:r>
                      <a:endParaRPr lang="zh-CN" altLang="en-US" sz="1600" b="1" dirty="0"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38042"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3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故障诊断系统的卷积神经网络构建</a:t>
                      </a:r>
                    </a:p>
                  </a:txBody>
                  <a:tcPr marL="91439" marR="91439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kumimoji="0" lang="en-US" altLang="zh-CN" sz="1600" kern="1200" dirty="0">
                          <a:latin typeface="+mn-ea"/>
                          <a:ea typeface="+mn-ea"/>
                        </a:rPr>
                        <a:t>2019.11.15-2020.2.15</a:t>
                      </a:r>
                      <a:endParaRPr kumimoji="0" lang="zh-CN" altLang="en-US" sz="1600" b="1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卷积神经网络构建</a:t>
                      </a:r>
                      <a:endParaRPr lang="zh-CN" altLang="en-US" sz="1600" b="1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38042"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4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故障诊断系统和</a:t>
                      </a: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AR</a:t>
                      </a: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识别跟踪及智能交互技术的融合</a:t>
                      </a:r>
                    </a:p>
                  </a:txBody>
                  <a:tcPr marL="91439" marR="91439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kumimoji="0" lang="en-US" altLang="zh-CN" sz="1600" kern="1200" dirty="0">
                          <a:latin typeface="+mn-ea"/>
                          <a:ea typeface="+mn-ea"/>
                        </a:rPr>
                        <a:t>2020.2.15- 2020.3.15</a:t>
                      </a:r>
                      <a:endParaRPr kumimoji="0" lang="zh-CN" altLang="en-US" sz="1600" b="1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系统融合</a:t>
                      </a:r>
                    </a:p>
                  </a:txBody>
                  <a:tcPr marL="91439" marR="91439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84591"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5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系统实现与功能测试</a:t>
                      </a:r>
                    </a:p>
                  </a:txBody>
                  <a:tcPr marL="91439" marR="91439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kumimoji="0" lang="en-US" altLang="zh-CN" sz="1600" kern="1200" dirty="0">
                          <a:latin typeface="+mn-ea"/>
                          <a:ea typeface="+mn-ea"/>
                        </a:rPr>
                        <a:t>2020.3.15- 2020.8.15</a:t>
                      </a:r>
                      <a:endParaRPr kumimoji="0" lang="zh-CN" altLang="en-US" sz="1600" b="1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系统功能开发完成</a:t>
                      </a:r>
                    </a:p>
                  </a:txBody>
                  <a:tcPr marL="91439" marR="91439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37069"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6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1600" kern="1200" dirty="0">
                          <a:effectLst/>
                          <a:latin typeface="+mn-ea"/>
                          <a:ea typeface="+mn-ea"/>
                        </a:rPr>
                        <a:t>论文定稿</a:t>
                      </a:r>
                      <a:endParaRPr lang="zh-CN" altLang="en-US" sz="1600" b="1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600" kern="1200" dirty="0">
                          <a:solidFill>
                            <a:schemeClr val="dk1"/>
                          </a:solidFill>
                          <a:latin typeface="+mn-ea"/>
                          <a:ea typeface="宋体"/>
                          <a:cs typeface="+mn-cs"/>
                        </a:rPr>
                        <a:t>2020.8.15</a:t>
                      </a:r>
                      <a:r>
                        <a:rPr kumimoji="0" lang="en-US" altLang="zh-CN" sz="1600" kern="1200" dirty="0">
                          <a:latin typeface="+mn-ea"/>
                          <a:ea typeface="+mn-ea"/>
                        </a:rPr>
                        <a:t>- 2021.2.15</a:t>
                      </a:r>
                      <a:endParaRPr kumimoji="0" lang="zh-CN" altLang="en-US" sz="1600" b="1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kern="1200" dirty="0">
                          <a:effectLst/>
                          <a:latin typeface="+mn-ea"/>
                          <a:ea typeface="+mn-ea"/>
                        </a:rPr>
                        <a:t>论文定稿</a:t>
                      </a:r>
                      <a:endParaRPr lang="zh-CN" altLang="en-US" sz="1600" b="1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1439" marR="91439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/>
          <p:cNvSpPr/>
          <p:nvPr/>
        </p:nvSpPr>
        <p:spPr>
          <a:xfrm>
            <a:off x="358616" y="231856"/>
            <a:ext cx="8785384" cy="484505"/>
          </a:xfrm>
          <a:prstGeom prst="rect">
            <a:avLst/>
          </a:prstGeom>
          <a:gradFill>
            <a:gsLst>
              <a:gs pos="0">
                <a:srgbClr val="5B9BD5">
                  <a:lumMod val="5000"/>
                  <a:lumOff val="95000"/>
                  <a:alpha val="0"/>
                </a:srgbClr>
              </a:gs>
              <a:gs pos="78000">
                <a:srgbClr val="4472C4"/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txBody>
          <a:bodyPr lIns="91436" tIns="45718" rIns="91436" bIns="45718"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Century Gothic"/>
              <a:ea typeface="微软雅黑"/>
            </a:endParaRPr>
          </a:p>
        </p:txBody>
      </p:sp>
      <p:sp>
        <p:nvSpPr>
          <p:cNvPr id="75" name="圆角矩形 74"/>
          <p:cNvSpPr/>
          <p:nvPr/>
        </p:nvSpPr>
        <p:spPr>
          <a:xfrm rot="10800000" flipV="1">
            <a:off x="-4247" y="223488"/>
            <a:ext cx="363215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91436" tIns="45718" rIns="91436" bIns="45718" rtlCol="0" anchor="ctr"/>
          <a:lstStyle/>
          <a:p>
            <a:pPr algn="ctr">
              <a:defRPr/>
            </a:pPr>
            <a:r>
              <a:rPr lang="en-US" altLang="zh-CN" sz="2400" b="1" kern="0" dirty="0">
                <a:solidFill>
                  <a:prstClr val="white"/>
                </a:solidFill>
                <a:latin typeface="Times New Roman" panose="02020603050405020304" pitchFamily="18" charset="0"/>
                <a:ea typeface="微软雅黑"/>
              </a:rPr>
              <a:t>5</a:t>
            </a:r>
            <a:endParaRPr lang="zh-CN" altLang="en-US" sz="2400" b="1" kern="0" dirty="0">
              <a:solidFill>
                <a:prstClr val="white"/>
              </a:solidFill>
              <a:latin typeface="Times New Roman" panose="02020603050405020304" pitchFamily="18" charset="0"/>
              <a:ea typeface="微软雅黑"/>
            </a:endParaRPr>
          </a:p>
        </p:txBody>
      </p:sp>
      <p:grpSp>
        <p:nvGrpSpPr>
          <p:cNvPr id="2" name="组 42"/>
          <p:cNvGrpSpPr/>
          <p:nvPr/>
        </p:nvGrpSpPr>
        <p:grpSpPr>
          <a:xfrm>
            <a:off x="8420669" y="226904"/>
            <a:ext cx="723330" cy="484288"/>
            <a:chOff x="11454105" y="252856"/>
            <a:chExt cx="737892" cy="484288"/>
          </a:xfrm>
        </p:grpSpPr>
        <p:grpSp>
          <p:nvGrpSpPr>
            <p:cNvPr id="3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81" name="圆角矩形 80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3" name="圆角矩形 82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4" name="圆角矩形 83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5" name="圆角矩形 84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</p:grpSp>
        <p:grpSp>
          <p:nvGrpSpPr>
            <p:cNvPr id="4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79" name="圆角矩形 78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0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11" name="文本框 10"/>
          <p:cNvSpPr txBox="1"/>
          <p:nvPr/>
        </p:nvSpPr>
        <p:spPr>
          <a:xfrm>
            <a:off x="4677760" y="1545960"/>
            <a:ext cx="890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+mn-ea"/>
              </a:rPr>
              <a:t>对比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1338037" y="1145549"/>
            <a:ext cx="7656576" cy="5602464"/>
            <a:chOff x="555709" y="1125547"/>
            <a:chExt cx="7656576" cy="5602464"/>
          </a:xfrm>
        </p:grpSpPr>
        <p:grpSp>
          <p:nvGrpSpPr>
            <p:cNvPr id="7" name="组合 6"/>
            <p:cNvGrpSpPr/>
            <p:nvPr/>
          </p:nvGrpSpPr>
          <p:grpSpPr>
            <a:xfrm>
              <a:off x="555709" y="1125547"/>
              <a:ext cx="3343676" cy="1655381"/>
              <a:chOff x="1115616" y="2746690"/>
              <a:chExt cx="3343676" cy="1799598"/>
            </a:xfrm>
          </p:grpSpPr>
          <p:sp>
            <p:nvSpPr>
              <p:cNvPr id="21" name="矩形 20"/>
              <p:cNvSpPr/>
              <p:nvPr/>
            </p:nvSpPr>
            <p:spPr>
              <a:xfrm>
                <a:off x="1115616" y="2746690"/>
                <a:ext cx="3312368" cy="1799598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" name="文本框 4"/>
              <p:cNvSpPr txBox="1"/>
              <p:nvPr/>
            </p:nvSpPr>
            <p:spPr>
              <a:xfrm>
                <a:off x="1195204" y="3282594"/>
                <a:ext cx="326408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1</a:t>
                </a:r>
                <a:r>
                  <a:rPr lang="zh-CN" altLang="en-US" dirty="0"/>
                  <a:t>、知识驱动</a:t>
                </a:r>
                <a:endParaRPr lang="en-US" altLang="zh-CN" dirty="0"/>
              </a:p>
              <a:p>
                <a:r>
                  <a:rPr lang="en-US" altLang="zh-CN" dirty="0"/>
                  <a:t>2</a:t>
                </a:r>
                <a:r>
                  <a:rPr lang="zh-CN" altLang="en-US" dirty="0"/>
                  <a:t>、通过数值计算或信号处理</a:t>
                </a:r>
                <a:endParaRPr lang="en-US" altLang="zh-CN" dirty="0"/>
              </a:p>
              <a:p>
                <a:r>
                  <a:rPr lang="en-US" altLang="zh-CN" dirty="0"/>
                  <a:t>3</a:t>
                </a:r>
                <a:r>
                  <a:rPr lang="zh-CN" altLang="en-US" dirty="0"/>
                  <a:t>、建立数学模型</a:t>
                </a: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1197336" y="2746690"/>
                <a:ext cx="29793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Clr>
                    <a:srgbClr val="0070C0"/>
                  </a:buClr>
                  <a:buFont typeface="Wingdings" panose="05000000000000000000" pitchFamily="2" charset="2"/>
                  <a:buChar char="u"/>
                </a:pPr>
                <a:r>
                  <a:rPr lang="zh-CN" altLang="en-US" sz="2000" b="1" dirty="0">
                    <a:solidFill>
                      <a:schemeClr val="tx2"/>
                    </a:solidFill>
                    <a:latin typeface="+mj-ea"/>
                    <a:ea typeface="+mj-ea"/>
                  </a:rPr>
                  <a:t>传统故障诊断方法</a:t>
                </a: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4811001" y="1125547"/>
              <a:ext cx="3401284" cy="1655381"/>
              <a:chOff x="1115616" y="2746690"/>
              <a:chExt cx="3401284" cy="1799598"/>
            </a:xfrm>
          </p:grpSpPr>
          <p:sp>
            <p:nvSpPr>
              <p:cNvPr id="30" name="矩形 29"/>
              <p:cNvSpPr/>
              <p:nvPr/>
            </p:nvSpPr>
            <p:spPr>
              <a:xfrm>
                <a:off x="1115616" y="2746690"/>
                <a:ext cx="3312368" cy="1799598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1252812" y="3360705"/>
                <a:ext cx="32640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1</a:t>
                </a:r>
                <a:r>
                  <a:rPr lang="zh-CN" altLang="en-US" dirty="0"/>
                  <a:t>、</a:t>
                </a:r>
                <a:r>
                  <a:rPr lang="zh-CN" altLang="en-US" dirty="0" smtClean="0"/>
                  <a:t>数据驱动</a:t>
                </a:r>
                <a:endParaRPr lang="en-US" altLang="zh-CN" dirty="0"/>
              </a:p>
              <a:p>
                <a:r>
                  <a:rPr lang="en-US" altLang="zh-CN" dirty="0"/>
                  <a:t>2</a:t>
                </a:r>
                <a:r>
                  <a:rPr lang="zh-CN" altLang="en-US" dirty="0"/>
                  <a:t>、数据学习和知识推理</a:t>
                </a:r>
              </a:p>
            </p:txBody>
          </p:sp>
          <p:sp>
            <p:nvSpPr>
              <p:cNvPr id="32" name="文本框 31"/>
              <p:cNvSpPr txBox="1"/>
              <p:nvPr/>
            </p:nvSpPr>
            <p:spPr>
              <a:xfrm>
                <a:off x="1197336" y="2746690"/>
                <a:ext cx="29793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Clr>
                    <a:srgbClr val="0070C0"/>
                  </a:buClr>
                  <a:buFont typeface="Wingdings" panose="05000000000000000000" pitchFamily="2" charset="2"/>
                  <a:buChar char="u"/>
                </a:pPr>
                <a:r>
                  <a:rPr lang="zh-CN" altLang="en-US" sz="2000" b="1" dirty="0">
                    <a:solidFill>
                      <a:schemeClr val="tx2"/>
                    </a:solidFill>
                    <a:latin typeface="+mj-ea"/>
                    <a:ea typeface="+mj-ea"/>
                  </a:rPr>
                  <a:t>基于深度学习的方法</a:t>
                </a:r>
              </a:p>
            </p:txBody>
          </p:sp>
        </p:grpSp>
        <p:cxnSp>
          <p:nvCxnSpPr>
            <p:cNvPr id="10" name="直接箭头连接符 9"/>
            <p:cNvCxnSpPr/>
            <p:nvPr/>
          </p:nvCxnSpPr>
          <p:spPr>
            <a:xfrm>
              <a:off x="3848246" y="2040833"/>
              <a:ext cx="942924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/>
            <p:nvPr/>
          </p:nvCxnSpPr>
          <p:spPr>
            <a:xfrm flipH="1">
              <a:off x="4322595" y="2040833"/>
              <a:ext cx="2" cy="9269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组合 11"/>
            <p:cNvGrpSpPr/>
            <p:nvPr/>
          </p:nvGrpSpPr>
          <p:grpSpPr>
            <a:xfrm>
              <a:off x="1992684" y="2967737"/>
              <a:ext cx="4752528" cy="2096086"/>
              <a:chOff x="1992684" y="3148376"/>
              <a:chExt cx="4752528" cy="2096086"/>
            </a:xfrm>
          </p:grpSpPr>
          <p:sp>
            <p:nvSpPr>
              <p:cNvPr id="35" name="矩形 34"/>
              <p:cNvSpPr/>
              <p:nvPr/>
            </p:nvSpPr>
            <p:spPr>
              <a:xfrm>
                <a:off x="1992684" y="3148376"/>
                <a:ext cx="4752528" cy="2088232"/>
              </a:xfrm>
              <a:prstGeom prst="rect">
                <a:avLst/>
              </a:prstGeom>
              <a:noFill/>
              <a:ln w="28575" cap="flat" cmpd="sng" algn="ctr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grpSp>
            <p:nvGrpSpPr>
              <p:cNvPr id="19" name="组合 18"/>
              <p:cNvGrpSpPr/>
              <p:nvPr/>
            </p:nvGrpSpPr>
            <p:grpSpPr>
              <a:xfrm>
                <a:off x="2123728" y="3247416"/>
                <a:ext cx="1202779" cy="1997046"/>
                <a:chOff x="2123728" y="3247416"/>
                <a:chExt cx="1202779" cy="1997046"/>
              </a:xfrm>
            </p:grpSpPr>
            <p:sp>
              <p:nvSpPr>
                <p:cNvPr id="38" name="矩形 37"/>
                <p:cNvSpPr/>
                <p:nvPr/>
              </p:nvSpPr>
              <p:spPr>
                <a:xfrm>
                  <a:off x="2123728" y="3247416"/>
                  <a:ext cx="1202779" cy="1909776"/>
                </a:xfrm>
                <a:prstGeom prst="rect">
                  <a:avLst/>
                </a:prstGeom>
                <a:noFill/>
                <a:ln w="9525" cap="flat" cmpd="sng" algn="ctr">
                  <a:solidFill>
                    <a:schemeClr val="tx1"/>
                  </a:solidFill>
                  <a:prstDash val="sysDot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4" name="文本框 13"/>
                <p:cNvSpPr txBox="1"/>
                <p:nvPr/>
              </p:nvSpPr>
              <p:spPr>
                <a:xfrm>
                  <a:off x="2411761" y="3255270"/>
                  <a:ext cx="86409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buClr>
                      <a:srgbClr val="0070C0"/>
                    </a:buClr>
                  </a:pPr>
                  <a:r>
                    <a:rPr lang="zh-CN" altLang="en-US" sz="2000" b="1" dirty="0" smtClean="0">
                      <a:solidFill>
                        <a:schemeClr val="tx2"/>
                      </a:solidFill>
                      <a:latin typeface="+mj-ea"/>
                      <a:ea typeface="+mj-ea"/>
                    </a:rPr>
                    <a:t>摒弃</a:t>
                  </a:r>
                  <a:endParaRPr lang="zh-CN" altLang="en-US" sz="2000" b="1" dirty="0">
                    <a:solidFill>
                      <a:srgbClr val="FF0000"/>
                    </a:solidFill>
                    <a:latin typeface="+mj-ea"/>
                    <a:ea typeface="+mj-ea"/>
                  </a:endParaRPr>
                </a:p>
              </p:txBody>
            </p:sp>
            <p:sp>
              <p:nvSpPr>
                <p:cNvPr id="15" name="文本框 14"/>
                <p:cNvSpPr txBox="1"/>
                <p:nvPr/>
              </p:nvSpPr>
              <p:spPr>
                <a:xfrm>
                  <a:off x="2263452" y="3636649"/>
                  <a:ext cx="461665" cy="1488321"/>
                </a:xfrm>
                <a:prstGeom prst="rect">
                  <a:avLst/>
                </a:prstGeom>
                <a:noFill/>
              </p:spPr>
              <p:txBody>
                <a:bodyPr vert="eaVert" wrap="square" rtlCol="0">
                  <a:spAutoFit/>
                </a:bodyPr>
                <a:lstStyle/>
                <a:p>
                  <a:r>
                    <a:rPr lang="zh-CN" altLang="en-US" dirty="0"/>
                    <a:t>人工特征提取</a:t>
                  </a:r>
                </a:p>
              </p:txBody>
            </p:sp>
            <p:sp>
              <p:nvSpPr>
                <p:cNvPr id="17" name="文本框 16"/>
                <p:cNvSpPr txBox="1"/>
                <p:nvPr/>
              </p:nvSpPr>
              <p:spPr>
                <a:xfrm>
                  <a:off x="2745434" y="3666552"/>
                  <a:ext cx="461665" cy="1577910"/>
                </a:xfrm>
                <a:prstGeom prst="rect">
                  <a:avLst/>
                </a:prstGeom>
                <a:noFill/>
              </p:spPr>
              <p:txBody>
                <a:bodyPr vert="eaVert" wrap="square" rtlCol="0">
                  <a:spAutoFit/>
                </a:bodyPr>
                <a:lstStyle/>
                <a:p>
                  <a:r>
                    <a:rPr lang="zh-CN" altLang="en-US" dirty="0"/>
                    <a:t>手动进行检测</a:t>
                  </a:r>
                </a:p>
              </p:txBody>
            </p:sp>
          </p:grpSp>
          <p:grpSp>
            <p:nvGrpSpPr>
              <p:cNvPr id="43" name="组合 42"/>
              <p:cNvGrpSpPr/>
              <p:nvPr/>
            </p:nvGrpSpPr>
            <p:grpSpPr>
              <a:xfrm>
                <a:off x="3868077" y="3247416"/>
                <a:ext cx="1202779" cy="1909776"/>
                <a:chOff x="2123728" y="3247416"/>
                <a:chExt cx="1202779" cy="1909776"/>
              </a:xfrm>
            </p:grpSpPr>
            <p:sp>
              <p:nvSpPr>
                <p:cNvPr id="44" name="矩形 43"/>
                <p:cNvSpPr/>
                <p:nvPr/>
              </p:nvSpPr>
              <p:spPr>
                <a:xfrm>
                  <a:off x="2123728" y="3247416"/>
                  <a:ext cx="1202779" cy="1909776"/>
                </a:xfrm>
                <a:prstGeom prst="rect">
                  <a:avLst/>
                </a:prstGeom>
                <a:noFill/>
                <a:ln w="9525" cap="flat" cmpd="sng" algn="ctr">
                  <a:solidFill>
                    <a:schemeClr val="tx1"/>
                  </a:solidFill>
                  <a:prstDash val="sysDot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" name="文本框 44"/>
                <p:cNvSpPr txBox="1"/>
                <p:nvPr/>
              </p:nvSpPr>
              <p:spPr>
                <a:xfrm>
                  <a:off x="2411761" y="3255270"/>
                  <a:ext cx="86409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buClr>
                      <a:srgbClr val="0070C0"/>
                    </a:buClr>
                  </a:pPr>
                  <a:r>
                    <a:rPr lang="zh-CN" altLang="en-US" sz="2000" b="1" dirty="0">
                      <a:solidFill>
                        <a:schemeClr val="tx2"/>
                      </a:solidFill>
                      <a:latin typeface="+mj-ea"/>
                      <a:ea typeface="+mj-ea"/>
                    </a:rPr>
                    <a:t>提升</a:t>
                  </a:r>
                </a:p>
              </p:txBody>
            </p:sp>
            <p:sp>
              <p:nvSpPr>
                <p:cNvPr id="46" name="文本框 45"/>
                <p:cNvSpPr txBox="1"/>
                <p:nvPr/>
              </p:nvSpPr>
              <p:spPr>
                <a:xfrm>
                  <a:off x="2263452" y="3636649"/>
                  <a:ext cx="461665" cy="1488321"/>
                </a:xfrm>
                <a:prstGeom prst="rect">
                  <a:avLst/>
                </a:prstGeom>
                <a:noFill/>
              </p:spPr>
              <p:txBody>
                <a:bodyPr vert="eaVert" wrap="square" rtlCol="0">
                  <a:spAutoFit/>
                </a:bodyPr>
                <a:lstStyle/>
                <a:p>
                  <a:r>
                    <a:rPr lang="zh-CN" altLang="en-US" dirty="0"/>
                    <a:t>更高准确率</a:t>
                  </a:r>
                </a:p>
              </p:txBody>
            </p:sp>
            <p:sp>
              <p:nvSpPr>
                <p:cNvPr id="47" name="文本框 46"/>
                <p:cNvSpPr txBox="1"/>
                <p:nvPr/>
              </p:nvSpPr>
              <p:spPr>
                <a:xfrm>
                  <a:off x="2742183" y="3655380"/>
                  <a:ext cx="461665" cy="1429804"/>
                </a:xfrm>
                <a:prstGeom prst="rect">
                  <a:avLst/>
                </a:prstGeom>
                <a:noFill/>
              </p:spPr>
              <p:txBody>
                <a:bodyPr vert="eaVert" wrap="square" rtlCol="0">
                  <a:spAutoFit/>
                </a:bodyPr>
                <a:lstStyle/>
                <a:p>
                  <a:r>
                    <a:rPr lang="zh-CN" altLang="en-US" dirty="0" smtClean="0"/>
                    <a:t>即时检测</a:t>
                  </a:r>
                  <a:endParaRPr lang="zh-CN" altLang="en-US" dirty="0"/>
                </a:p>
              </p:txBody>
            </p:sp>
          </p:grpSp>
          <p:grpSp>
            <p:nvGrpSpPr>
              <p:cNvPr id="48" name="组合 47"/>
              <p:cNvGrpSpPr/>
              <p:nvPr/>
            </p:nvGrpSpPr>
            <p:grpSpPr>
              <a:xfrm>
                <a:off x="5358889" y="3255270"/>
                <a:ext cx="1202779" cy="1909776"/>
                <a:chOff x="2123728" y="3247416"/>
                <a:chExt cx="1202779" cy="1909776"/>
              </a:xfrm>
            </p:grpSpPr>
            <p:sp>
              <p:nvSpPr>
                <p:cNvPr id="49" name="矩形 48"/>
                <p:cNvSpPr/>
                <p:nvPr/>
              </p:nvSpPr>
              <p:spPr>
                <a:xfrm>
                  <a:off x="2123728" y="3247416"/>
                  <a:ext cx="1202779" cy="1909776"/>
                </a:xfrm>
                <a:prstGeom prst="rect">
                  <a:avLst/>
                </a:prstGeom>
                <a:noFill/>
                <a:ln w="9525" cap="flat" cmpd="sng" algn="ctr">
                  <a:solidFill>
                    <a:schemeClr val="tx1"/>
                  </a:solidFill>
                  <a:prstDash val="sysDot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en-US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0" name="文本框 49"/>
                <p:cNvSpPr txBox="1"/>
                <p:nvPr/>
              </p:nvSpPr>
              <p:spPr>
                <a:xfrm>
                  <a:off x="2411761" y="3255270"/>
                  <a:ext cx="86409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buClr>
                      <a:srgbClr val="0070C0"/>
                    </a:buClr>
                  </a:pPr>
                  <a:r>
                    <a:rPr lang="zh-CN" altLang="en-US" sz="2000" b="1" dirty="0">
                      <a:solidFill>
                        <a:schemeClr val="tx2"/>
                      </a:solidFill>
                      <a:latin typeface="+mj-ea"/>
                      <a:ea typeface="+mj-ea"/>
                    </a:rPr>
                    <a:t>增加</a:t>
                  </a:r>
                </a:p>
              </p:txBody>
            </p:sp>
            <p:sp>
              <p:nvSpPr>
                <p:cNvPr id="51" name="文本框 50"/>
                <p:cNvSpPr txBox="1"/>
                <p:nvPr/>
              </p:nvSpPr>
              <p:spPr>
                <a:xfrm>
                  <a:off x="2263452" y="3636649"/>
                  <a:ext cx="461665" cy="1488321"/>
                </a:xfrm>
                <a:prstGeom prst="rect">
                  <a:avLst/>
                </a:prstGeom>
                <a:noFill/>
              </p:spPr>
              <p:txBody>
                <a:bodyPr vert="eaVert" wrap="square" rtlCol="0">
                  <a:spAutoFit/>
                </a:bodyPr>
                <a:lstStyle/>
                <a:p>
                  <a:r>
                    <a:rPr lang="zh-CN" altLang="en-US" dirty="0"/>
                    <a:t>系统直观性</a:t>
                  </a:r>
                </a:p>
              </p:txBody>
            </p:sp>
            <p:sp>
              <p:nvSpPr>
                <p:cNvPr id="52" name="文本框 51"/>
                <p:cNvSpPr txBox="1"/>
                <p:nvPr/>
              </p:nvSpPr>
              <p:spPr>
                <a:xfrm>
                  <a:off x="2742183" y="3655380"/>
                  <a:ext cx="461665" cy="1429804"/>
                </a:xfrm>
                <a:prstGeom prst="rect">
                  <a:avLst/>
                </a:prstGeom>
                <a:noFill/>
              </p:spPr>
              <p:txBody>
                <a:bodyPr vert="eaVert" wrap="square" rtlCol="0">
                  <a:spAutoFit/>
                </a:bodyPr>
                <a:lstStyle/>
                <a:p>
                  <a:r>
                    <a:rPr lang="zh-CN" altLang="en-US" dirty="0"/>
                    <a:t>人机交互性</a:t>
                  </a:r>
                </a:p>
              </p:txBody>
            </p:sp>
          </p:grpSp>
        </p:grpSp>
        <p:grpSp>
          <p:nvGrpSpPr>
            <p:cNvPr id="54" name="组合 53"/>
            <p:cNvGrpSpPr/>
            <p:nvPr/>
          </p:nvGrpSpPr>
          <p:grpSpPr>
            <a:xfrm>
              <a:off x="3380628" y="5456079"/>
              <a:ext cx="1919746" cy="1271932"/>
              <a:chOff x="2287273" y="2735040"/>
              <a:chExt cx="941160" cy="1799598"/>
            </a:xfrm>
          </p:grpSpPr>
          <p:sp>
            <p:nvSpPr>
              <p:cNvPr id="55" name="矩形 54"/>
              <p:cNvSpPr/>
              <p:nvPr/>
            </p:nvSpPr>
            <p:spPr>
              <a:xfrm>
                <a:off x="2315168" y="2735040"/>
                <a:ext cx="913265" cy="1799598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2403038" y="3378320"/>
                <a:ext cx="778532" cy="9144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zh-CN" altLang="en-US" dirty="0" smtClean="0">
                    <a:latin typeface="Times New Roman" pitchFamily="18" charset="0"/>
                    <a:cs typeface="Times New Roman" pitchFamily="18" charset="0"/>
                  </a:rPr>
                  <a:t>、虚实结合</a:t>
                </a:r>
                <a:endParaRPr lang="en-US" altLang="zh-CN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altLang="zh-CN" dirty="0" smtClean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zh-CN" altLang="en-US" dirty="0" smtClean="0">
                    <a:latin typeface="Times New Roman" pitchFamily="18" charset="0"/>
                    <a:cs typeface="Times New Roman" pitchFamily="18" charset="0"/>
                  </a:rPr>
                  <a:t>、远程监控</a:t>
                </a:r>
                <a:endParaRPr lang="zh-CN" altLang="en-US" dirty="0"/>
              </a:p>
            </p:txBody>
          </p:sp>
          <p:sp>
            <p:nvSpPr>
              <p:cNvPr id="57" name="文本框 56"/>
              <p:cNvSpPr txBox="1"/>
              <p:nvPr/>
            </p:nvSpPr>
            <p:spPr>
              <a:xfrm>
                <a:off x="2287273" y="2760744"/>
                <a:ext cx="614948" cy="5660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Clr>
                    <a:srgbClr val="0070C0"/>
                  </a:buClr>
                  <a:buFont typeface="Wingdings" panose="05000000000000000000" pitchFamily="2" charset="2"/>
                  <a:buChar char="u"/>
                </a:pPr>
                <a:r>
                  <a:rPr lang="en-US" altLang="zh-CN" sz="2000" b="1" dirty="0">
                    <a:solidFill>
                      <a:schemeClr val="tx2"/>
                    </a:solidFill>
                    <a:latin typeface="+mj-ea"/>
                    <a:ea typeface="+mj-ea"/>
                  </a:rPr>
                  <a:t>AR</a:t>
                </a:r>
                <a:r>
                  <a:rPr lang="zh-CN" altLang="en-US" sz="2000" b="1" dirty="0">
                    <a:solidFill>
                      <a:schemeClr val="tx2"/>
                    </a:solidFill>
                    <a:latin typeface="+mj-ea"/>
                    <a:ea typeface="+mj-ea"/>
                  </a:rPr>
                  <a:t>技术</a:t>
                </a:r>
              </a:p>
            </p:txBody>
          </p:sp>
        </p:grpSp>
        <p:cxnSp>
          <p:nvCxnSpPr>
            <p:cNvPr id="22" name="直接箭头连接符 21"/>
            <p:cNvCxnSpPr>
              <a:stCxn id="55" idx="0"/>
              <a:endCxn id="35" idx="2"/>
            </p:cNvCxnSpPr>
            <p:nvPr/>
          </p:nvCxnSpPr>
          <p:spPr>
            <a:xfrm flipH="1" flipV="1">
              <a:off x="4368948" y="5055969"/>
              <a:ext cx="1" cy="4001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矩形 59"/>
          <p:cNvSpPr/>
          <p:nvPr/>
        </p:nvSpPr>
        <p:spPr>
          <a:xfrm>
            <a:off x="-4248" y="933433"/>
            <a:ext cx="1182864" cy="4766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1F497D"/>
                </a:solidFill>
                <a:latin typeface="Times New Roman" pitchFamily="18" charset="0"/>
                <a:cs typeface="Times New Roman" pitchFamily="18" charset="0"/>
              </a:rPr>
              <a:t>意义</a:t>
            </a:r>
            <a:endParaRPr lang="en-US" altLang="zh-CN" sz="2400" b="1" dirty="0">
              <a:solidFill>
                <a:srgbClr val="1F497D"/>
              </a:solidFill>
              <a:latin typeface="宋体"/>
            </a:endParaRPr>
          </a:p>
        </p:txBody>
      </p:sp>
      <p:sp>
        <p:nvSpPr>
          <p:cNvPr id="62" name="文本框 9"/>
          <p:cNvSpPr txBox="1"/>
          <p:nvPr/>
        </p:nvSpPr>
        <p:spPr>
          <a:xfrm>
            <a:off x="467544" y="260648"/>
            <a:ext cx="32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研究计划及预期成果</a:t>
            </a:r>
            <a:endParaRPr lang="zh-CN" altLang="en-US" sz="2400" b="1" dirty="0">
              <a:solidFill>
                <a:prstClr val="white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15689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文本框 45"/>
          <p:cNvSpPr txBox="1"/>
          <p:nvPr/>
        </p:nvSpPr>
        <p:spPr>
          <a:xfrm>
            <a:off x="1619672" y="2492896"/>
            <a:ext cx="5976664" cy="1107994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zh-CN" altLang="en-US" sz="6600" b="1" dirty="0">
                <a:ln w="0"/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谢谢各位老师！</a:t>
            </a:r>
          </a:p>
        </p:txBody>
      </p:sp>
      <p:cxnSp>
        <p:nvCxnSpPr>
          <p:cNvPr id="54" name="直接连接符 53"/>
          <p:cNvCxnSpPr/>
          <p:nvPr/>
        </p:nvCxnSpPr>
        <p:spPr>
          <a:xfrm flipV="1">
            <a:off x="3203848" y="3717032"/>
            <a:ext cx="2745472" cy="432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 43"/>
          <p:cNvGrpSpPr/>
          <p:nvPr/>
        </p:nvGrpSpPr>
        <p:grpSpPr>
          <a:xfrm>
            <a:off x="8460432" y="252859"/>
            <a:ext cx="683567" cy="484288"/>
            <a:chOff x="11454105" y="252856"/>
            <a:chExt cx="737892" cy="484288"/>
          </a:xfrm>
        </p:grpSpPr>
        <p:grpSp>
          <p:nvGrpSpPr>
            <p:cNvPr id="3" name="组 62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67" name="圆角矩形 66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圆角矩形 67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圆角矩形 68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圆角矩形 69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圆角矩形 70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65" name="圆角矩形 64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72" name="矩形 71"/>
          <p:cNvSpPr/>
          <p:nvPr/>
        </p:nvSpPr>
        <p:spPr>
          <a:xfrm>
            <a:off x="-6413" y="5805264"/>
            <a:ext cx="9144000" cy="105273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60"/>
          <p:cNvGrpSpPr/>
          <p:nvPr/>
        </p:nvGrpSpPr>
        <p:grpSpPr>
          <a:xfrm rot="16200000">
            <a:off x="8470457" y="6155281"/>
            <a:ext cx="1069986" cy="369949"/>
            <a:chOff x="6507038" y="462977"/>
            <a:chExt cx="2430800" cy="471379"/>
          </a:xfrm>
        </p:grpSpPr>
        <p:grpSp>
          <p:nvGrpSpPr>
            <p:cNvPr id="6" name="组合 61"/>
            <p:cNvGrpSpPr/>
            <p:nvPr/>
          </p:nvGrpSpPr>
          <p:grpSpPr>
            <a:xfrm flipV="1">
              <a:off x="6507038" y="462977"/>
              <a:ext cx="1917435" cy="471379"/>
              <a:chOff x="810775" y="1533962"/>
              <a:chExt cx="7782374" cy="1913206"/>
            </a:xfrm>
          </p:grpSpPr>
          <p:sp>
            <p:nvSpPr>
              <p:cNvPr id="76" name="圆角矩形 75"/>
              <p:cNvSpPr/>
              <p:nvPr/>
            </p:nvSpPr>
            <p:spPr>
              <a:xfrm>
                <a:off x="2848247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圆角矩形 76"/>
              <p:cNvSpPr/>
              <p:nvPr/>
            </p:nvSpPr>
            <p:spPr>
              <a:xfrm>
                <a:off x="810775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圆角矩形 77"/>
              <p:cNvSpPr/>
              <p:nvPr/>
            </p:nvSpPr>
            <p:spPr>
              <a:xfrm>
                <a:off x="6848755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圆角矩形 78"/>
              <p:cNvSpPr/>
              <p:nvPr/>
            </p:nvSpPr>
            <p:spPr>
              <a:xfrm>
                <a:off x="4811283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5" name="圆角矩形 74"/>
            <p:cNvSpPr/>
            <p:nvPr/>
          </p:nvSpPr>
          <p:spPr>
            <a:xfrm flipV="1">
              <a:off x="8508051" y="462977"/>
              <a:ext cx="429787" cy="471379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0" name="文本框 79"/>
          <p:cNvSpPr txBox="1"/>
          <p:nvPr/>
        </p:nvSpPr>
        <p:spPr>
          <a:xfrm>
            <a:off x="395536" y="5904000"/>
            <a:ext cx="4663589" cy="923326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en-US" altLang="zh-CN" sz="5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THANKS</a:t>
            </a:r>
            <a:endParaRPr lang="zh-CN" altLang="en-US" sz="5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Segoe UI Semilight" panose="020B0402040204020203" pitchFamily="34" charset="0"/>
            </a:endParaRPr>
          </a:p>
        </p:txBody>
      </p:sp>
      <p:sp>
        <p:nvSpPr>
          <p:cNvPr id="81" name="圆角矩形 80"/>
          <p:cNvSpPr/>
          <p:nvPr/>
        </p:nvSpPr>
        <p:spPr>
          <a:xfrm rot="16200000" flipV="1">
            <a:off x="7771866" y="5845759"/>
            <a:ext cx="1072221" cy="99123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82" name="Freeform 96"/>
          <p:cNvSpPr/>
          <p:nvPr/>
        </p:nvSpPr>
        <p:spPr bwMode="auto">
          <a:xfrm>
            <a:off x="8028384" y="6048000"/>
            <a:ext cx="557117" cy="716604"/>
          </a:xfrm>
          <a:custGeom>
            <a:avLst/>
            <a:gdLst>
              <a:gd name="T0" fmla="*/ 184 w 216"/>
              <a:gd name="T1" fmla="*/ 0 h 208"/>
              <a:gd name="T2" fmla="*/ 152 w 216"/>
              <a:gd name="T3" fmla="*/ 32 h 208"/>
              <a:gd name="T4" fmla="*/ 154 w 216"/>
              <a:gd name="T5" fmla="*/ 41 h 208"/>
              <a:gd name="T6" fmla="*/ 60 w 216"/>
              <a:gd name="T7" fmla="*/ 80 h 208"/>
              <a:gd name="T8" fmla="*/ 32 w 216"/>
              <a:gd name="T9" fmla="*/ 64 h 208"/>
              <a:gd name="T10" fmla="*/ 0 w 216"/>
              <a:gd name="T11" fmla="*/ 96 h 208"/>
              <a:gd name="T12" fmla="*/ 32 w 216"/>
              <a:gd name="T13" fmla="*/ 128 h 208"/>
              <a:gd name="T14" fmla="*/ 56 w 216"/>
              <a:gd name="T15" fmla="*/ 118 h 208"/>
              <a:gd name="T16" fmla="*/ 116 w 216"/>
              <a:gd name="T17" fmla="*/ 161 h 208"/>
              <a:gd name="T18" fmla="*/ 112 w 216"/>
              <a:gd name="T19" fmla="*/ 176 h 208"/>
              <a:gd name="T20" fmla="*/ 144 w 216"/>
              <a:gd name="T21" fmla="*/ 208 h 208"/>
              <a:gd name="T22" fmla="*/ 176 w 216"/>
              <a:gd name="T23" fmla="*/ 176 h 208"/>
              <a:gd name="T24" fmla="*/ 144 w 216"/>
              <a:gd name="T25" fmla="*/ 144 h 208"/>
              <a:gd name="T26" fmla="*/ 121 w 216"/>
              <a:gd name="T27" fmla="*/ 154 h 208"/>
              <a:gd name="T28" fmla="*/ 61 w 216"/>
              <a:gd name="T29" fmla="*/ 111 h 208"/>
              <a:gd name="T30" fmla="*/ 64 w 216"/>
              <a:gd name="T31" fmla="*/ 96 h 208"/>
              <a:gd name="T32" fmla="*/ 63 w 216"/>
              <a:gd name="T33" fmla="*/ 87 h 208"/>
              <a:gd name="T34" fmla="*/ 157 w 216"/>
              <a:gd name="T35" fmla="*/ 48 h 208"/>
              <a:gd name="T36" fmla="*/ 184 w 216"/>
              <a:gd name="T37" fmla="*/ 64 h 208"/>
              <a:gd name="T38" fmla="*/ 216 w 216"/>
              <a:gd name="T39" fmla="*/ 32 h 208"/>
              <a:gd name="T40" fmla="*/ 184 w 216"/>
              <a:gd name="T41" fmla="*/ 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6" h="208">
                <a:moveTo>
                  <a:pt x="184" y="0"/>
                </a:moveTo>
                <a:cubicBezTo>
                  <a:pt x="167" y="0"/>
                  <a:pt x="152" y="14"/>
                  <a:pt x="152" y="32"/>
                </a:cubicBezTo>
                <a:cubicBezTo>
                  <a:pt x="152" y="35"/>
                  <a:pt x="153" y="38"/>
                  <a:pt x="154" y="41"/>
                </a:cubicBezTo>
                <a:cubicBezTo>
                  <a:pt x="60" y="80"/>
                  <a:pt x="60" y="80"/>
                  <a:pt x="60" y="80"/>
                </a:cubicBezTo>
                <a:cubicBezTo>
                  <a:pt x="55" y="70"/>
                  <a:pt x="44" y="64"/>
                  <a:pt x="32" y="64"/>
                </a:cubicBezTo>
                <a:cubicBezTo>
                  <a:pt x="15" y="64"/>
                  <a:pt x="0" y="78"/>
                  <a:pt x="0" y="96"/>
                </a:cubicBezTo>
                <a:cubicBezTo>
                  <a:pt x="0" y="113"/>
                  <a:pt x="15" y="128"/>
                  <a:pt x="32" y="128"/>
                </a:cubicBezTo>
                <a:cubicBezTo>
                  <a:pt x="42" y="128"/>
                  <a:pt x="50" y="124"/>
                  <a:pt x="56" y="118"/>
                </a:cubicBezTo>
                <a:cubicBezTo>
                  <a:pt x="116" y="161"/>
                  <a:pt x="116" y="161"/>
                  <a:pt x="116" y="161"/>
                </a:cubicBezTo>
                <a:cubicBezTo>
                  <a:pt x="114" y="165"/>
                  <a:pt x="112" y="170"/>
                  <a:pt x="112" y="176"/>
                </a:cubicBezTo>
                <a:cubicBezTo>
                  <a:pt x="112" y="193"/>
                  <a:pt x="127" y="208"/>
                  <a:pt x="144" y="208"/>
                </a:cubicBezTo>
                <a:cubicBezTo>
                  <a:pt x="162" y="208"/>
                  <a:pt x="176" y="193"/>
                  <a:pt x="176" y="176"/>
                </a:cubicBezTo>
                <a:cubicBezTo>
                  <a:pt x="176" y="158"/>
                  <a:pt x="162" y="144"/>
                  <a:pt x="144" y="144"/>
                </a:cubicBezTo>
                <a:cubicBezTo>
                  <a:pt x="135" y="144"/>
                  <a:pt x="127" y="148"/>
                  <a:pt x="121" y="154"/>
                </a:cubicBezTo>
                <a:cubicBezTo>
                  <a:pt x="61" y="111"/>
                  <a:pt x="61" y="111"/>
                  <a:pt x="61" y="111"/>
                </a:cubicBezTo>
                <a:cubicBezTo>
                  <a:pt x="63" y="107"/>
                  <a:pt x="64" y="101"/>
                  <a:pt x="64" y="96"/>
                </a:cubicBezTo>
                <a:cubicBezTo>
                  <a:pt x="64" y="93"/>
                  <a:pt x="64" y="90"/>
                  <a:pt x="63" y="87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7"/>
                  <a:pt x="173" y="64"/>
                  <a:pt x="184" y="64"/>
                </a:cubicBezTo>
                <a:cubicBezTo>
                  <a:pt x="202" y="64"/>
                  <a:pt x="216" y="49"/>
                  <a:pt x="216" y="32"/>
                </a:cubicBezTo>
                <a:cubicBezTo>
                  <a:pt x="216" y="14"/>
                  <a:pt x="202" y="0"/>
                  <a:pt x="1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36" tIns="45718" rIns="91436" bIns="45718" numCol="1" anchor="t" anchorCtr="0" compatLnSpc="1"/>
          <a:lstStyle/>
          <a:p>
            <a:endParaRPr lang="zh-CN" altLang="en-US">
              <a:solidFill>
                <a:srgbClr val="AD1C21"/>
              </a:solidFill>
            </a:endParaRPr>
          </a:p>
        </p:txBody>
      </p:sp>
      <p:grpSp>
        <p:nvGrpSpPr>
          <p:cNvPr id="7" name="组合 48"/>
          <p:cNvGrpSpPr/>
          <p:nvPr/>
        </p:nvGrpSpPr>
        <p:grpSpPr>
          <a:xfrm>
            <a:off x="3851920" y="2060848"/>
            <a:ext cx="363420" cy="382547"/>
            <a:chOff x="4625150" y="6808104"/>
            <a:chExt cx="540316" cy="426565"/>
          </a:xfrm>
          <a:solidFill>
            <a:srgbClr val="4C98CF"/>
          </a:solidFill>
        </p:grpSpPr>
        <p:sp>
          <p:nvSpPr>
            <p:cNvPr id="85" name="Freeform 127"/>
            <p:cNvSpPr/>
            <p:nvPr/>
          </p:nvSpPr>
          <p:spPr bwMode="auto">
            <a:xfrm>
              <a:off x="4625150" y="6808104"/>
              <a:ext cx="540316" cy="352040"/>
            </a:xfrm>
            <a:custGeom>
              <a:avLst/>
              <a:gdLst>
                <a:gd name="T0" fmla="*/ 34 w 233"/>
                <a:gd name="T1" fmla="*/ 77 h 152"/>
                <a:gd name="T2" fmla="*/ 117 w 233"/>
                <a:gd name="T3" fmla="*/ 126 h 152"/>
                <a:gd name="T4" fmla="*/ 214 w 233"/>
                <a:gd name="T5" fmla="*/ 67 h 152"/>
                <a:gd name="T6" fmla="*/ 214 w 233"/>
                <a:gd name="T7" fmla="*/ 67 h 152"/>
                <a:gd name="T8" fmla="*/ 233 w 233"/>
                <a:gd name="T9" fmla="*/ 56 h 152"/>
                <a:gd name="T10" fmla="*/ 116 w 233"/>
                <a:gd name="T11" fmla="*/ 0 h 152"/>
                <a:gd name="T12" fmla="*/ 0 w 233"/>
                <a:gd name="T13" fmla="*/ 56 h 152"/>
                <a:gd name="T14" fmla="*/ 16 w 233"/>
                <a:gd name="T15" fmla="*/ 66 h 152"/>
                <a:gd name="T16" fmla="*/ 16 w 233"/>
                <a:gd name="T17" fmla="*/ 152 h 152"/>
                <a:gd name="T18" fmla="*/ 24 w 233"/>
                <a:gd name="T19" fmla="*/ 152 h 152"/>
                <a:gd name="T20" fmla="*/ 24 w 233"/>
                <a:gd name="T21" fmla="*/ 71 h 152"/>
                <a:gd name="T22" fmla="*/ 34 w 233"/>
                <a:gd name="T23" fmla="*/ 77 h 152"/>
                <a:gd name="T24" fmla="*/ 34 w 233"/>
                <a:gd name="T25" fmla="*/ 77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3" h="152">
                  <a:moveTo>
                    <a:pt x="34" y="77"/>
                  </a:moveTo>
                  <a:cubicBezTo>
                    <a:pt x="117" y="126"/>
                    <a:pt x="117" y="126"/>
                    <a:pt x="117" y="126"/>
                  </a:cubicBezTo>
                  <a:cubicBezTo>
                    <a:pt x="214" y="67"/>
                    <a:pt x="214" y="67"/>
                    <a:pt x="214" y="67"/>
                  </a:cubicBezTo>
                  <a:cubicBezTo>
                    <a:pt x="214" y="67"/>
                    <a:pt x="214" y="67"/>
                    <a:pt x="214" y="67"/>
                  </a:cubicBezTo>
                  <a:cubicBezTo>
                    <a:pt x="233" y="56"/>
                    <a:pt x="233" y="56"/>
                    <a:pt x="233" y="56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16" y="66"/>
                    <a:pt x="16" y="66"/>
                    <a:pt x="16" y="66"/>
                  </a:cubicBezTo>
                  <a:cubicBezTo>
                    <a:pt x="16" y="152"/>
                    <a:pt x="16" y="152"/>
                    <a:pt x="16" y="152"/>
                  </a:cubicBezTo>
                  <a:cubicBezTo>
                    <a:pt x="24" y="152"/>
                    <a:pt x="24" y="152"/>
                    <a:pt x="24" y="152"/>
                  </a:cubicBezTo>
                  <a:cubicBezTo>
                    <a:pt x="24" y="71"/>
                    <a:pt x="24" y="71"/>
                    <a:pt x="24" y="71"/>
                  </a:cubicBezTo>
                  <a:cubicBezTo>
                    <a:pt x="34" y="77"/>
                    <a:pt x="34" y="77"/>
                    <a:pt x="34" y="77"/>
                  </a:cubicBezTo>
                  <a:cubicBezTo>
                    <a:pt x="34" y="77"/>
                    <a:pt x="34" y="77"/>
                    <a:pt x="34" y="77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86" name="Freeform 128"/>
            <p:cNvSpPr/>
            <p:nvPr/>
          </p:nvSpPr>
          <p:spPr bwMode="auto">
            <a:xfrm>
              <a:off x="4736940" y="7025799"/>
              <a:ext cx="314776" cy="208870"/>
            </a:xfrm>
            <a:custGeom>
              <a:avLst/>
              <a:gdLst>
                <a:gd name="T0" fmla="*/ 305 w 321"/>
                <a:gd name="T1" fmla="*/ 12 h 213"/>
                <a:gd name="T2" fmla="*/ 163 w 321"/>
                <a:gd name="T3" fmla="*/ 97 h 213"/>
                <a:gd name="T4" fmla="*/ 21 w 321"/>
                <a:gd name="T5" fmla="*/ 12 h 213"/>
                <a:gd name="T6" fmla="*/ 21 w 321"/>
                <a:gd name="T7" fmla="*/ 12 h 213"/>
                <a:gd name="T8" fmla="*/ 19 w 321"/>
                <a:gd name="T9" fmla="*/ 12 h 213"/>
                <a:gd name="T10" fmla="*/ 0 w 321"/>
                <a:gd name="T11" fmla="*/ 0 h 213"/>
                <a:gd name="T12" fmla="*/ 0 w 321"/>
                <a:gd name="T13" fmla="*/ 213 h 213"/>
                <a:gd name="T14" fmla="*/ 321 w 321"/>
                <a:gd name="T15" fmla="*/ 213 h 213"/>
                <a:gd name="T16" fmla="*/ 321 w 321"/>
                <a:gd name="T17" fmla="*/ 3 h 213"/>
                <a:gd name="T18" fmla="*/ 305 w 321"/>
                <a:gd name="T19" fmla="*/ 12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1" h="213">
                  <a:moveTo>
                    <a:pt x="305" y="12"/>
                  </a:moveTo>
                  <a:lnTo>
                    <a:pt x="163" y="97"/>
                  </a:lnTo>
                  <a:lnTo>
                    <a:pt x="21" y="12"/>
                  </a:lnTo>
                  <a:lnTo>
                    <a:pt x="21" y="12"/>
                  </a:lnTo>
                  <a:lnTo>
                    <a:pt x="19" y="12"/>
                  </a:lnTo>
                  <a:lnTo>
                    <a:pt x="0" y="0"/>
                  </a:lnTo>
                  <a:lnTo>
                    <a:pt x="0" y="213"/>
                  </a:lnTo>
                  <a:lnTo>
                    <a:pt x="321" y="213"/>
                  </a:lnTo>
                  <a:lnTo>
                    <a:pt x="321" y="3"/>
                  </a:lnTo>
                  <a:lnTo>
                    <a:pt x="305" y="12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rgbClr val="AD1C21"/>
                </a:solidFill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4252" y="6714373"/>
            <a:ext cx="9135410" cy="143627"/>
          </a:xfrm>
          <a:prstGeom prst="rect">
            <a:avLst/>
          </a:prstGeom>
          <a:solidFill>
            <a:srgbClr val="87A5D9"/>
          </a:solidFill>
          <a:ln w="25400" cap="flat" cmpd="sng" algn="ctr">
            <a:solidFill>
              <a:srgbClr val="87A5D9"/>
            </a:solidFill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ysClr val="window" lastClr="FFFFFF"/>
              </a:solidFill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358616" y="231856"/>
            <a:ext cx="8785384" cy="484505"/>
          </a:xfrm>
          <a:prstGeom prst="rect">
            <a:avLst/>
          </a:prstGeom>
          <a:gradFill>
            <a:gsLst>
              <a:gs pos="0">
                <a:srgbClr val="5B9BD5">
                  <a:lumMod val="5000"/>
                  <a:lumOff val="95000"/>
                  <a:alpha val="0"/>
                </a:srgbClr>
              </a:gs>
              <a:gs pos="78000">
                <a:srgbClr val="4472C4"/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txBody>
          <a:bodyPr lIns="91436" tIns="45718" rIns="91436" bIns="45718"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Century Gothic"/>
              <a:ea typeface="微软雅黑"/>
            </a:endParaRPr>
          </a:p>
        </p:txBody>
      </p:sp>
      <p:sp>
        <p:nvSpPr>
          <p:cNvPr id="75" name="圆角矩形 74"/>
          <p:cNvSpPr/>
          <p:nvPr/>
        </p:nvSpPr>
        <p:spPr>
          <a:xfrm rot="10800000" flipV="1">
            <a:off x="-4247" y="223488"/>
            <a:ext cx="363215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91436" tIns="45718" rIns="91436" bIns="45718" rtlCol="0" anchor="ctr"/>
          <a:lstStyle/>
          <a:p>
            <a:pPr algn="ctr">
              <a:defRPr/>
            </a:pPr>
            <a:r>
              <a:rPr lang="en-US" altLang="zh-CN" sz="2400" b="1" kern="0" dirty="0" smtClean="0">
                <a:solidFill>
                  <a:prstClr val="white"/>
                </a:solidFill>
                <a:latin typeface="Times New Roman" panose="02020603050405020304" pitchFamily="18" charset="0"/>
                <a:ea typeface="微软雅黑"/>
              </a:rPr>
              <a:t>2</a:t>
            </a:r>
            <a:endParaRPr lang="zh-CN" altLang="en-US" sz="2400" b="1" kern="0" dirty="0">
              <a:solidFill>
                <a:prstClr val="white"/>
              </a:solidFill>
              <a:latin typeface="Times New Roman" panose="02020603050405020304" pitchFamily="18" charset="0"/>
              <a:ea typeface="微软雅黑"/>
            </a:endParaRPr>
          </a:p>
        </p:txBody>
      </p:sp>
      <p:grpSp>
        <p:nvGrpSpPr>
          <p:cNvPr id="2" name="组 42"/>
          <p:cNvGrpSpPr/>
          <p:nvPr/>
        </p:nvGrpSpPr>
        <p:grpSpPr>
          <a:xfrm>
            <a:off x="8420669" y="226904"/>
            <a:ext cx="723330" cy="484288"/>
            <a:chOff x="11454105" y="252856"/>
            <a:chExt cx="737892" cy="484288"/>
          </a:xfrm>
        </p:grpSpPr>
        <p:grpSp>
          <p:nvGrpSpPr>
            <p:cNvPr id="3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81" name="圆角矩形 80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3" name="圆角矩形 82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4" name="圆角矩形 83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5" name="圆角矩形 84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</p:grpSp>
        <p:grpSp>
          <p:nvGrpSpPr>
            <p:cNvPr id="4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79" name="圆角矩形 78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entury Gothic"/>
                  <a:ea typeface="微软雅黑"/>
                </a:endParaRPr>
              </a:p>
            </p:txBody>
          </p:sp>
          <p:sp>
            <p:nvSpPr>
              <p:cNvPr id="80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7" name="矩形 26"/>
          <p:cNvSpPr/>
          <p:nvPr/>
        </p:nvSpPr>
        <p:spPr>
          <a:xfrm>
            <a:off x="611560" y="908720"/>
            <a:ext cx="7200800" cy="4931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en-US" altLang="zh-CN" sz="2400" b="1" dirty="0">
                <a:solidFill>
                  <a:srgbClr val="1F497D"/>
                </a:solidFill>
                <a:latin typeface="Times New Roman" pitchFamily="18" charset="0"/>
                <a:cs typeface="Times New Roman" pitchFamily="18" charset="0"/>
              </a:rPr>
              <a:t>AR</a:t>
            </a:r>
            <a:r>
              <a:rPr lang="zh-CN" altLang="en-US" sz="2400" b="1" dirty="0">
                <a:solidFill>
                  <a:srgbClr val="1F497D"/>
                </a:solidFill>
                <a:latin typeface="宋体"/>
              </a:rPr>
              <a:t>技术在工业上的应用</a:t>
            </a:r>
            <a:endParaRPr lang="en-US" altLang="zh-CN" sz="2400" b="1" dirty="0">
              <a:solidFill>
                <a:srgbClr val="1F497D"/>
              </a:solidFill>
              <a:latin typeface="宋体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2704279"/>
            <a:ext cx="3225959" cy="2016224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616749" y="2253181"/>
            <a:ext cx="1728192" cy="5040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241785"/>
                </a:solidFill>
              </a:rPr>
              <a:t>工业展示</a:t>
            </a:r>
          </a:p>
        </p:txBody>
      </p:sp>
      <p:cxnSp>
        <p:nvCxnSpPr>
          <p:cNvPr id="9" name="直接箭头连接符 8"/>
          <p:cNvCxnSpPr/>
          <p:nvPr/>
        </p:nvCxnSpPr>
        <p:spPr>
          <a:xfrm>
            <a:off x="2296125" y="2716639"/>
            <a:ext cx="576064" cy="7874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圆角矩形 28"/>
          <p:cNvSpPr/>
          <p:nvPr/>
        </p:nvSpPr>
        <p:spPr>
          <a:xfrm>
            <a:off x="578785" y="4314298"/>
            <a:ext cx="1728192" cy="5040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241785"/>
                </a:solidFill>
              </a:rPr>
              <a:t>设备装卸</a:t>
            </a:r>
          </a:p>
        </p:txBody>
      </p:sp>
      <p:sp>
        <p:nvSpPr>
          <p:cNvPr id="32" name="圆角矩形 31"/>
          <p:cNvSpPr/>
          <p:nvPr/>
        </p:nvSpPr>
        <p:spPr>
          <a:xfrm>
            <a:off x="537148" y="5215947"/>
            <a:ext cx="1728192" cy="5040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rgbClr val="241785"/>
                </a:solidFill>
              </a:rPr>
              <a:t>信息采集</a:t>
            </a:r>
            <a:endParaRPr lang="zh-CN" altLang="en-US" dirty="0">
              <a:solidFill>
                <a:srgbClr val="241785"/>
              </a:solidFill>
            </a:endParaRPr>
          </a:p>
        </p:txBody>
      </p:sp>
      <p:cxnSp>
        <p:nvCxnSpPr>
          <p:cNvPr id="23" name="直接箭头连接符 22"/>
          <p:cNvCxnSpPr>
            <a:stCxn id="46" idx="3"/>
            <a:endCxn id="6" idx="1"/>
          </p:cNvCxnSpPr>
          <p:nvPr/>
        </p:nvCxnSpPr>
        <p:spPr>
          <a:xfrm>
            <a:off x="2325383" y="3474348"/>
            <a:ext cx="518425" cy="238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29" idx="3"/>
          </p:cNvCxnSpPr>
          <p:nvPr/>
        </p:nvCxnSpPr>
        <p:spPr>
          <a:xfrm flipV="1">
            <a:off x="2306977" y="4452722"/>
            <a:ext cx="565212" cy="113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 flipV="1">
            <a:off x="2265340" y="4706761"/>
            <a:ext cx="722484" cy="9016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6442217" y="2966177"/>
            <a:ext cx="20882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所用到的技术有红外、图像识别等成 像技术，振动、温度等传感技术、手势操控、多点 触摸以及定位技术等</a:t>
            </a:r>
          </a:p>
        </p:txBody>
      </p:sp>
      <p:sp>
        <p:nvSpPr>
          <p:cNvPr id="46" name="圆角矩形 45"/>
          <p:cNvSpPr/>
          <p:nvPr/>
        </p:nvSpPr>
        <p:spPr>
          <a:xfrm>
            <a:off x="597191" y="3222320"/>
            <a:ext cx="1728192" cy="5040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241785"/>
                </a:solidFill>
              </a:rPr>
              <a:t>检测维修</a:t>
            </a:r>
          </a:p>
        </p:txBody>
      </p:sp>
      <p:sp>
        <p:nvSpPr>
          <p:cNvPr id="30" name="文本框 9"/>
          <p:cNvSpPr txBox="1"/>
          <p:nvPr/>
        </p:nvSpPr>
        <p:spPr>
          <a:xfrm>
            <a:off x="467545" y="260648"/>
            <a:ext cx="2736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prstClr val="white"/>
                </a:solidFill>
                <a:latin typeface="华文楷体" pitchFamily="2" charset="-122"/>
                <a:ea typeface="华文楷体" pitchFamily="2" charset="-122"/>
              </a:rPr>
              <a:t>选题依据</a:t>
            </a:r>
            <a:endParaRPr lang="zh-CN" altLang="en-US" sz="2000" b="1" dirty="0">
              <a:solidFill>
                <a:prstClr val="white"/>
              </a:solidFill>
              <a:latin typeface="华文楷体" pitchFamily="2" charset="-122"/>
              <a:ea typeface="华文楷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5781</TotalTime>
  <Words>865</Words>
  <Application>Microsoft Office PowerPoint</Application>
  <PresentationFormat>全屏显示(4:3)</PresentationFormat>
  <Paragraphs>207</Paragraphs>
  <Slides>23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8" baseType="lpstr">
      <vt:lpstr>微軟正黑體</vt:lpstr>
      <vt:lpstr>黑体</vt:lpstr>
      <vt:lpstr>华文楷体</vt:lpstr>
      <vt:lpstr>宋体</vt:lpstr>
      <vt:lpstr>微软雅黑</vt:lpstr>
      <vt:lpstr>Arial</vt:lpstr>
      <vt:lpstr>Calibri</vt:lpstr>
      <vt:lpstr>Century Gothic</vt:lpstr>
      <vt:lpstr>Segoe UI Semilight</vt:lpstr>
      <vt:lpstr>Times New Roman</vt:lpstr>
      <vt:lpstr>Wingdings</vt:lpstr>
      <vt:lpstr>Office 主题</vt:lpstr>
      <vt:lpstr>1_Office 主题</vt:lpstr>
      <vt:lpstr>2_Office 主题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dell</cp:lastModifiedBy>
  <cp:revision>415</cp:revision>
  <dcterms:created xsi:type="dcterms:W3CDTF">2018-07-05T08:02:20Z</dcterms:created>
  <dcterms:modified xsi:type="dcterms:W3CDTF">2019-07-18T09:01:09Z</dcterms:modified>
</cp:coreProperties>
</file>