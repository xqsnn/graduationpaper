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4"/>
  </p:notesMasterIdLst>
  <p:sldIdLst>
    <p:sldId id="280" r:id="rId3"/>
    <p:sldId id="310" r:id="rId4"/>
    <p:sldId id="343" r:id="rId5"/>
    <p:sldId id="335" r:id="rId6"/>
    <p:sldId id="349" r:id="rId7"/>
    <p:sldId id="354" r:id="rId8"/>
    <p:sldId id="358" r:id="rId9"/>
    <p:sldId id="381" r:id="rId10"/>
    <p:sldId id="350" r:id="rId11"/>
    <p:sldId id="378" r:id="rId12"/>
    <p:sldId id="379" r:id="rId13"/>
    <p:sldId id="380" r:id="rId14"/>
    <p:sldId id="351" r:id="rId15"/>
    <p:sldId id="383" r:id="rId16"/>
    <p:sldId id="352" r:id="rId17"/>
    <p:sldId id="375" r:id="rId18"/>
    <p:sldId id="360" r:id="rId19"/>
    <p:sldId id="353" r:id="rId20"/>
    <p:sldId id="329" r:id="rId21"/>
    <p:sldId id="382" r:id="rId22"/>
    <p:sldId id="279" r:id="rId2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66FFFF"/>
    <a:srgbClr val="FFFF00"/>
    <a:srgbClr val="CCFF66"/>
    <a:srgbClr val="FF9900"/>
    <a:srgbClr val="996633"/>
    <a:srgbClr val="B49962"/>
    <a:srgbClr val="C1AA7D"/>
    <a:srgbClr val="CCCC00"/>
    <a:srgbClr val="FFD3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0" autoAdjust="0"/>
    <p:restoredTop sz="86765" autoAdjust="0"/>
  </p:normalViewPr>
  <p:slideViewPr>
    <p:cSldViewPr>
      <p:cViewPr varScale="1">
        <p:scale>
          <a:sx n="84" d="100"/>
          <a:sy n="84" d="100"/>
        </p:scale>
        <p:origin x="1440"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C07A74-1219-45E8-A05B-3C1664AD1F4D}" type="datetimeFigureOut">
              <a:rPr lang="zh-CN" altLang="en-US" smtClean="0"/>
              <a:pPr/>
              <a:t>2019/7/16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014379-9AA5-4B71-872D-05C2A7389586}" type="slidenum">
              <a:rPr lang="zh-CN" altLang="en-US" smtClean="0"/>
              <a:pPr/>
              <a:t>‹#›</a:t>
            </a:fld>
            <a:endParaRPr lang="zh-CN" altLang="en-US"/>
          </a:p>
        </p:txBody>
      </p:sp>
    </p:spTree>
    <p:extLst>
      <p:ext uri="{BB962C8B-B14F-4D97-AF65-F5344CB8AC3E}">
        <p14:creationId xmlns:p14="http://schemas.microsoft.com/office/powerpoint/2010/main" val="298837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noProof="0" dirty="0"/>
              <a:t>j</a:t>
            </a:r>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1</a:t>
            </a:fld>
            <a:endParaRPr lang="zh-CN" altLang="en-US"/>
          </a:p>
        </p:txBody>
      </p:sp>
    </p:spTree>
    <p:extLst>
      <p:ext uri="{BB962C8B-B14F-4D97-AF65-F5344CB8AC3E}">
        <p14:creationId xmlns:p14="http://schemas.microsoft.com/office/powerpoint/2010/main" val="3521872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2</a:t>
            </a:fld>
            <a:endParaRPr lang="zh-CN" altLang="en-US"/>
          </a:p>
        </p:txBody>
      </p:sp>
    </p:spTree>
    <p:extLst>
      <p:ext uri="{BB962C8B-B14F-4D97-AF65-F5344CB8AC3E}">
        <p14:creationId xmlns:p14="http://schemas.microsoft.com/office/powerpoint/2010/main" val="2563784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3</a:t>
            </a:fld>
            <a:endParaRPr lang="zh-CN" altLang="en-US"/>
          </a:p>
        </p:txBody>
      </p:sp>
    </p:spTree>
    <p:extLst>
      <p:ext uri="{BB962C8B-B14F-4D97-AF65-F5344CB8AC3E}">
        <p14:creationId xmlns:p14="http://schemas.microsoft.com/office/powerpoint/2010/main" val="1243641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B014379-9AA5-4B71-872D-05C2A7389586}" type="slidenum">
              <a:rPr kumimoji="0" lang="zh-CN" altLang="en-US" sz="1200" b="0" i="0" u="none" strike="noStrike" kern="1200" cap="none" spc="0" normalizeH="0" baseline="0" noProof="0" smtClean="0">
                <a:ln>
                  <a:noFill/>
                </a:ln>
                <a:solidFill>
                  <a:prstClr val="black"/>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Arial" charset="0"/>
              <a:ea typeface="宋体" charset="-122"/>
              <a:cs typeface="+mn-cs"/>
            </a:endParaRPr>
          </a:p>
        </p:txBody>
      </p:sp>
    </p:spTree>
    <p:extLst>
      <p:ext uri="{BB962C8B-B14F-4D97-AF65-F5344CB8AC3E}">
        <p14:creationId xmlns:p14="http://schemas.microsoft.com/office/powerpoint/2010/main" val="182759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5</a:t>
            </a:fld>
            <a:endParaRPr lang="zh-CN" altLang="en-US"/>
          </a:p>
        </p:txBody>
      </p:sp>
    </p:spTree>
    <p:extLst>
      <p:ext uri="{BB962C8B-B14F-4D97-AF65-F5344CB8AC3E}">
        <p14:creationId xmlns:p14="http://schemas.microsoft.com/office/powerpoint/2010/main" val="328756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针对此课题，我将从以上六个部分来进行说明。</a:t>
            </a:r>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6</a:t>
            </a:fld>
            <a:endParaRPr lang="zh-CN" altLang="en-US"/>
          </a:p>
        </p:txBody>
      </p:sp>
    </p:spTree>
    <p:extLst>
      <p:ext uri="{BB962C8B-B14F-4D97-AF65-F5344CB8AC3E}">
        <p14:creationId xmlns:p14="http://schemas.microsoft.com/office/powerpoint/2010/main" val="3337319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9</a:t>
            </a:fld>
            <a:endParaRPr lang="zh-CN" altLang="en-US"/>
          </a:p>
        </p:txBody>
      </p:sp>
    </p:spTree>
    <p:extLst>
      <p:ext uri="{BB962C8B-B14F-4D97-AF65-F5344CB8AC3E}">
        <p14:creationId xmlns:p14="http://schemas.microsoft.com/office/powerpoint/2010/main" val="296346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13</a:t>
            </a:fld>
            <a:endParaRPr lang="zh-CN" altLang="en-US"/>
          </a:p>
        </p:txBody>
      </p:sp>
    </p:spTree>
    <p:extLst>
      <p:ext uri="{BB962C8B-B14F-4D97-AF65-F5344CB8AC3E}">
        <p14:creationId xmlns:p14="http://schemas.microsoft.com/office/powerpoint/2010/main" val="2795355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如图所示，一条生产路径由通过该条通路上的成员机组组成。一个合同要求的产品可由一条或多条生产路径来完成。本课题主要研究炼钢</a:t>
            </a:r>
            <a:r>
              <a:rPr lang="en-US" altLang="zh-CN" dirty="0"/>
              <a:t>-</a:t>
            </a:r>
            <a:r>
              <a:rPr lang="zh-CN" altLang="en-US" dirty="0"/>
              <a:t>连铸、热轧和冷轧这几个主要的炼钢工序。由于质量设计推荐的主制程未必匹配工序产能，所以提出了制程优化这个课题。</a:t>
            </a:r>
          </a:p>
          <a:p>
            <a:r>
              <a:rPr lang="zh-CN" altLang="en-US" dirty="0"/>
              <a:t>合同计划的编制是由质量管理和生产管理</a:t>
            </a:r>
            <a:r>
              <a:rPr lang="en-US" altLang="zh-CN" dirty="0"/>
              <a:t>2</a:t>
            </a:r>
            <a:r>
              <a:rPr lang="zh-CN" altLang="en-US" dirty="0"/>
              <a:t>个独立部门协作完成的。质量设计是将用户合同的产品质量指标要求转换成生产过程每一道工序的加工工艺参数要求</a:t>
            </a:r>
          </a:p>
          <a:p>
            <a:endParaRPr lang="zh-CN" altLang="en-US" dirty="0"/>
          </a:p>
        </p:txBody>
      </p:sp>
      <p:sp>
        <p:nvSpPr>
          <p:cNvPr id="4" name="灯片编号占位符 3"/>
          <p:cNvSpPr>
            <a:spLocks noGrp="1"/>
          </p:cNvSpPr>
          <p:nvPr>
            <p:ph type="sldNum" sz="quarter" idx="5"/>
          </p:nvPr>
        </p:nvSpPr>
        <p:spPr/>
        <p:txBody>
          <a:bodyPr/>
          <a:lstStyle/>
          <a:p>
            <a:fld id="{AB014379-9AA5-4B71-872D-05C2A7389586}" type="slidenum">
              <a:rPr lang="zh-CN" altLang="en-US" smtClean="0"/>
              <a:pPr/>
              <a:t>14</a:t>
            </a:fld>
            <a:endParaRPr lang="zh-CN" altLang="en-US"/>
          </a:p>
        </p:txBody>
      </p:sp>
    </p:spTree>
    <p:extLst>
      <p:ext uri="{BB962C8B-B14F-4D97-AF65-F5344CB8AC3E}">
        <p14:creationId xmlns:p14="http://schemas.microsoft.com/office/powerpoint/2010/main" val="3779130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15</a:t>
            </a:fld>
            <a:endParaRPr lang="zh-CN" altLang="en-US"/>
          </a:p>
        </p:txBody>
      </p:sp>
    </p:spTree>
    <p:extLst>
      <p:ext uri="{BB962C8B-B14F-4D97-AF65-F5344CB8AC3E}">
        <p14:creationId xmlns:p14="http://schemas.microsoft.com/office/powerpoint/2010/main" val="3943964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014379-9AA5-4B71-872D-05C2A7389586}" type="slidenum">
              <a:rPr lang="zh-CN" altLang="en-US" smtClean="0"/>
              <a:pPr/>
              <a:t>16</a:t>
            </a:fld>
            <a:endParaRPr lang="zh-CN" altLang="en-US"/>
          </a:p>
        </p:txBody>
      </p:sp>
    </p:spTree>
    <p:extLst>
      <p:ext uri="{BB962C8B-B14F-4D97-AF65-F5344CB8AC3E}">
        <p14:creationId xmlns:p14="http://schemas.microsoft.com/office/powerpoint/2010/main" val="2193507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18</a:t>
            </a:fld>
            <a:endParaRPr lang="zh-CN" altLang="en-US"/>
          </a:p>
        </p:txBody>
      </p:sp>
    </p:spTree>
    <p:extLst>
      <p:ext uri="{BB962C8B-B14F-4D97-AF65-F5344CB8AC3E}">
        <p14:creationId xmlns:p14="http://schemas.microsoft.com/office/powerpoint/2010/main" val="2006731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针对此课题，我将从以上六个部分来进行说明。</a:t>
            </a:r>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19</a:t>
            </a:fld>
            <a:endParaRPr lang="zh-CN" altLang="en-US"/>
          </a:p>
        </p:txBody>
      </p:sp>
    </p:spTree>
    <p:extLst>
      <p:ext uri="{BB962C8B-B14F-4D97-AF65-F5344CB8AC3E}">
        <p14:creationId xmlns:p14="http://schemas.microsoft.com/office/powerpoint/2010/main" val="2119854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014379-9AA5-4B71-872D-05C2A7389586}" type="slidenum">
              <a:rPr lang="zh-CN" altLang="en-US" smtClean="0"/>
              <a:pPr/>
              <a:t>21</a:t>
            </a:fld>
            <a:endParaRPr lang="zh-CN" altLang="en-US"/>
          </a:p>
        </p:txBody>
      </p:sp>
    </p:spTree>
    <p:extLst>
      <p:ext uri="{BB962C8B-B14F-4D97-AF65-F5344CB8AC3E}">
        <p14:creationId xmlns:p14="http://schemas.microsoft.com/office/powerpoint/2010/main" val="3727099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C422043-42C6-44D2-AC91-6A8FCF365AAC}"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E0CA936-51EE-484A-A2B5-0A7EAA17800C}"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377D9DD-8396-44B6-BB8D-52E055354F76}"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4366822-853F-4C78-9CB8-55E46DC5AEA9}"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984C1989-F8AE-4CC3-9649-1D887E630CBB}"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93FA102B-F031-41B8-958E-9678B243ACA2}"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4F0BB9E-0658-47FF-B535-BA8C4CCDDF12}"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C12664-8234-492F-9074-32CD7A16DCC8}"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502C199-CFD2-4FFB-A8E4-21C780F2A93A}"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9CB7869-F1D9-45A9-87DD-2D51971F5222}"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10048A-4519-4E69-90F7-063304CD34CB}"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B95C5B83-1E09-4C45-821E-59B46CFBE43E}"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C422043-42C6-44D2-AC91-6A8FCF365AAC}" type="slidenum">
              <a:rPr lang="en-US" altLang="zh-CN"/>
              <a:pPr/>
              <a:t>‹#›</a:t>
            </a:fld>
            <a:endParaRPr lang="en-US" altLang="zh-CN"/>
          </a:p>
        </p:txBody>
      </p:sp>
    </p:spTree>
    <p:extLst>
      <p:ext uri="{BB962C8B-B14F-4D97-AF65-F5344CB8AC3E}">
        <p14:creationId xmlns:p14="http://schemas.microsoft.com/office/powerpoint/2010/main" val="4130887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E0CA936-51EE-484A-A2B5-0A7EAA17800C}" type="slidenum">
              <a:rPr lang="en-US" altLang="zh-CN"/>
              <a:pPr/>
              <a:t>‹#›</a:t>
            </a:fld>
            <a:endParaRPr lang="en-US" altLang="zh-CN"/>
          </a:p>
        </p:txBody>
      </p:sp>
    </p:spTree>
    <p:extLst>
      <p:ext uri="{BB962C8B-B14F-4D97-AF65-F5344CB8AC3E}">
        <p14:creationId xmlns:p14="http://schemas.microsoft.com/office/powerpoint/2010/main" val="251339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377D9DD-8396-44B6-BB8D-52E055354F76}" type="slidenum">
              <a:rPr lang="en-US" altLang="zh-CN"/>
              <a:pPr/>
              <a:t>‹#›</a:t>
            </a:fld>
            <a:endParaRPr lang="en-US" altLang="zh-CN"/>
          </a:p>
        </p:txBody>
      </p:sp>
    </p:spTree>
    <p:extLst>
      <p:ext uri="{BB962C8B-B14F-4D97-AF65-F5344CB8AC3E}">
        <p14:creationId xmlns:p14="http://schemas.microsoft.com/office/powerpoint/2010/main" val="849835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4366822-853F-4C78-9CB8-55E46DC5AEA9}" type="slidenum">
              <a:rPr lang="en-US" altLang="zh-CN"/>
              <a:pPr/>
              <a:t>‹#›</a:t>
            </a:fld>
            <a:endParaRPr lang="en-US" altLang="zh-CN"/>
          </a:p>
        </p:txBody>
      </p:sp>
    </p:spTree>
    <p:extLst>
      <p:ext uri="{BB962C8B-B14F-4D97-AF65-F5344CB8AC3E}">
        <p14:creationId xmlns:p14="http://schemas.microsoft.com/office/powerpoint/2010/main" val="3857936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984C1989-F8AE-4CC3-9649-1D887E630CBB}" type="slidenum">
              <a:rPr lang="en-US" altLang="zh-CN"/>
              <a:pPr/>
              <a:t>‹#›</a:t>
            </a:fld>
            <a:endParaRPr lang="en-US" altLang="zh-CN"/>
          </a:p>
        </p:txBody>
      </p:sp>
    </p:spTree>
    <p:extLst>
      <p:ext uri="{BB962C8B-B14F-4D97-AF65-F5344CB8AC3E}">
        <p14:creationId xmlns:p14="http://schemas.microsoft.com/office/powerpoint/2010/main" val="3689402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93FA102B-F031-41B8-958E-9678B243ACA2}" type="slidenum">
              <a:rPr lang="en-US" altLang="zh-CN"/>
              <a:pPr/>
              <a:t>‹#›</a:t>
            </a:fld>
            <a:endParaRPr lang="en-US" altLang="zh-CN"/>
          </a:p>
        </p:txBody>
      </p:sp>
    </p:spTree>
    <p:extLst>
      <p:ext uri="{BB962C8B-B14F-4D97-AF65-F5344CB8AC3E}">
        <p14:creationId xmlns:p14="http://schemas.microsoft.com/office/powerpoint/2010/main" val="26625980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4F0BB9E-0658-47FF-B535-BA8C4CCDDF12}" type="slidenum">
              <a:rPr lang="en-US" altLang="zh-CN"/>
              <a:pPr/>
              <a:t>‹#›</a:t>
            </a:fld>
            <a:endParaRPr lang="en-US" altLang="zh-CN"/>
          </a:p>
        </p:txBody>
      </p:sp>
    </p:spTree>
    <p:extLst>
      <p:ext uri="{BB962C8B-B14F-4D97-AF65-F5344CB8AC3E}">
        <p14:creationId xmlns:p14="http://schemas.microsoft.com/office/powerpoint/2010/main" val="1364472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C12664-8234-492F-9074-32CD7A16DCC8}" type="slidenum">
              <a:rPr lang="en-US" altLang="zh-CN"/>
              <a:pPr/>
              <a:t>‹#›</a:t>
            </a:fld>
            <a:endParaRPr lang="en-US" altLang="zh-CN"/>
          </a:p>
        </p:txBody>
      </p:sp>
    </p:spTree>
    <p:extLst>
      <p:ext uri="{BB962C8B-B14F-4D97-AF65-F5344CB8AC3E}">
        <p14:creationId xmlns:p14="http://schemas.microsoft.com/office/powerpoint/2010/main" val="2166116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502C199-CFD2-4FFB-A8E4-21C780F2A93A}" type="slidenum">
              <a:rPr lang="en-US" altLang="zh-CN"/>
              <a:pPr/>
              <a:t>‹#›</a:t>
            </a:fld>
            <a:endParaRPr lang="en-US" altLang="zh-CN"/>
          </a:p>
        </p:txBody>
      </p:sp>
    </p:spTree>
    <p:extLst>
      <p:ext uri="{BB962C8B-B14F-4D97-AF65-F5344CB8AC3E}">
        <p14:creationId xmlns:p14="http://schemas.microsoft.com/office/powerpoint/2010/main" val="22336901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9CB7869-F1D9-45A9-87DD-2D51971F5222}" type="slidenum">
              <a:rPr lang="en-US" altLang="zh-CN"/>
              <a:pPr/>
              <a:t>‹#›</a:t>
            </a:fld>
            <a:endParaRPr lang="en-US" altLang="zh-CN"/>
          </a:p>
        </p:txBody>
      </p:sp>
    </p:spTree>
    <p:extLst>
      <p:ext uri="{BB962C8B-B14F-4D97-AF65-F5344CB8AC3E}">
        <p14:creationId xmlns:p14="http://schemas.microsoft.com/office/powerpoint/2010/main" val="32752082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10048A-4519-4E69-90F7-063304CD34CB}" type="slidenum">
              <a:rPr lang="en-US" altLang="zh-CN"/>
              <a:pPr/>
              <a:t>‹#›</a:t>
            </a:fld>
            <a:endParaRPr lang="en-US" altLang="zh-CN"/>
          </a:p>
        </p:txBody>
      </p:sp>
    </p:spTree>
    <p:extLst>
      <p:ext uri="{BB962C8B-B14F-4D97-AF65-F5344CB8AC3E}">
        <p14:creationId xmlns:p14="http://schemas.microsoft.com/office/powerpoint/2010/main" val="29711444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B95C5B83-1E09-4C45-821E-59B46CFBE43E}" type="slidenum">
              <a:rPr lang="en-US" altLang="zh-CN"/>
              <a:pPr/>
              <a:t>‹#›</a:t>
            </a:fld>
            <a:endParaRPr lang="en-US" altLang="zh-CN"/>
          </a:p>
        </p:txBody>
      </p:sp>
    </p:spTree>
    <p:extLst>
      <p:ext uri="{BB962C8B-B14F-4D97-AF65-F5344CB8AC3E}">
        <p14:creationId xmlns:p14="http://schemas.microsoft.com/office/powerpoint/2010/main" val="2408088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ln>
          <a:effec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D446C367-865F-4C84-938D-069FB8667E3D}"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446C367-865F-4C84-938D-069FB8667E3D}" type="slidenum">
              <a:rPr lang="en-US" altLang="zh-CN"/>
              <a:pPr/>
              <a:t>‹#›</a:t>
            </a:fld>
            <a:endParaRPr lang="en-US" altLang="zh-CN"/>
          </a:p>
        </p:txBody>
      </p:sp>
    </p:spTree>
    <p:extLst>
      <p:ext uri="{BB962C8B-B14F-4D97-AF65-F5344CB8AC3E}">
        <p14:creationId xmlns:p14="http://schemas.microsoft.com/office/powerpoint/2010/main" val="230528541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charset="-122"/>
        </a:defRPr>
      </a:lvl2pPr>
      <a:lvl3pPr algn="ctr" rtl="0" fontAlgn="base">
        <a:spcBef>
          <a:spcPct val="0"/>
        </a:spcBef>
        <a:spcAft>
          <a:spcPct val="0"/>
        </a:spcAft>
        <a:defRPr sz="4400">
          <a:solidFill>
            <a:schemeClr val="tx2"/>
          </a:solidFill>
          <a:latin typeface="Arial" charset="0"/>
          <a:ea typeface="宋体" charset="-122"/>
        </a:defRPr>
      </a:lvl3pPr>
      <a:lvl4pPr algn="ctr" rtl="0" fontAlgn="base">
        <a:spcBef>
          <a:spcPct val="0"/>
        </a:spcBef>
        <a:spcAft>
          <a:spcPct val="0"/>
        </a:spcAft>
        <a:defRPr sz="4400">
          <a:solidFill>
            <a:schemeClr val="tx2"/>
          </a:solidFill>
          <a:latin typeface="Arial" charset="0"/>
          <a:ea typeface="宋体" charset="-122"/>
        </a:defRPr>
      </a:lvl4pPr>
      <a:lvl5pPr algn="ctr" rtl="0" fontAlgn="base">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Visio___.vsdx"/></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6"/>
          <p:cNvSpPr/>
          <p:nvPr/>
        </p:nvSpPr>
        <p:spPr>
          <a:xfrm>
            <a:off x="251520" y="1474766"/>
            <a:ext cx="8568952" cy="10901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a:solidFill>
                  <a:schemeClr val="tx1"/>
                </a:solidFill>
                <a:latin typeface="黑体" panose="02010609060101010101" pitchFamily="49" charset="-122"/>
                <a:ea typeface="黑体" panose="02010609060101010101" pitchFamily="49" charset="-122"/>
              </a:rPr>
              <a:t>钢铁生产流程合同制程优化模型与算法</a:t>
            </a:r>
          </a:p>
        </p:txBody>
      </p:sp>
      <p:sp>
        <p:nvSpPr>
          <p:cNvPr id="6" name="矩形 5"/>
          <p:cNvSpPr/>
          <p:nvPr/>
        </p:nvSpPr>
        <p:spPr>
          <a:xfrm>
            <a:off x="2776540" y="2911077"/>
            <a:ext cx="3518912" cy="400110"/>
          </a:xfrm>
          <a:prstGeom prst="rect">
            <a:avLst/>
          </a:prstGeom>
        </p:spPr>
        <p:txBody>
          <a:bodyPr wrap="none">
            <a:spAutoFit/>
          </a:bodyPr>
          <a:lstStyle/>
          <a:p>
            <a:r>
              <a:rPr lang="en-US" altLang="zh-CN" sz="2000" b="1" dirty="0">
                <a:latin typeface="黑体" panose="02010609060101010101" pitchFamily="49" charset="-122"/>
                <a:ea typeface="黑体" panose="02010609060101010101" pitchFamily="49" charset="-122"/>
              </a:rPr>
              <a:t>2018</a:t>
            </a:r>
            <a:r>
              <a:rPr lang="zh-CN" altLang="en-US" sz="2000" b="1" dirty="0">
                <a:latin typeface="黑体" panose="02010609060101010101" pitchFamily="49" charset="-122"/>
                <a:ea typeface="黑体" panose="02010609060101010101" pitchFamily="49" charset="-122"/>
              </a:rPr>
              <a:t>级硕士学位论文开题答辩</a:t>
            </a:r>
          </a:p>
        </p:txBody>
      </p:sp>
      <p:sp>
        <p:nvSpPr>
          <p:cNvPr id="8" name="TextBox 7"/>
          <p:cNvSpPr txBox="1"/>
          <p:nvPr/>
        </p:nvSpPr>
        <p:spPr>
          <a:xfrm>
            <a:off x="1505496" y="4216201"/>
            <a:ext cx="2709396" cy="523220"/>
          </a:xfrm>
          <a:prstGeom prst="rect">
            <a:avLst/>
          </a:prstGeom>
          <a:noFill/>
        </p:spPr>
        <p:txBody>
          <a:bodyPr wrap="none" rtlCol="0">
            <a:spAutoFit/>
          </a:bodyPr>
          <a:lstStyle/>
          <a:p>
            <a:r>
              <a:rPr lang="zh-CN" altLang="en-US" sz="2800" b="1" dirty="0"/>
              <a:t>答辩人：张卓涵</a:t>
            </a:r>
          </a:p>
        </p:txBody>
      </p:sp>
      <p:sp>
        <p:nvSpPr>
          <p:cNvPr id="9" name="TextBox 8"/>
          <p:cNvSpPr txBox="1"/>
          <p:nvPr/>
        </p:nvSpPr>
        <p:spPr>
          <a:xfrm>
            <a:off x="4827566" y="4228583"/>
            <a:ext cx="3608680" cy="523220"/>
          </a:xfrm>
          <a:prstGeom prst="rect">
            <a:avLst/>
          </a:prstGeom>
          <a:noFill/>
        </p:spPr>
        <p:txBody>
          <a:bodyPr wrap="none" rtlCol="0">
            <a:spAutoFit/>
          </a:bodyPr>
          <a:lstStyle/>
          <a:p>
            <a:r>
              <a:rPr lang="zh-CN" altLang="en-US" sz="2800" b="1" dirty="0"/>
              <a:t>导师：徐建有  副教授</a:t>
            </a:r>
          </a:p>
        </p:txBody>
      </p:sp>
      <p:sp>
        <p:nvSpPr>
          <p:cNvPr id="10" name="TextBox 9"/>
          <p:cNvSpPr txBox="1"/>
          <p:nvPr/>
        </p:nvSpPr>
        <p:spPr>
          <a:xfrm>
            <a:off x="1403648" y="5018782"/>
            <a:ext cx="2794355" cy="523220"/>
          </a:xfrm>
          <a:prstGeom prst="rect">
            <a:avLst/>
          </a:prstGeom>
          <a:noFill/>
        </p:spPr>
        <p:txBody>
          <a:bodyPr wrap="none" rtlCol="0">
            <a:spAutoFit/>
          </a:bodyPr>
          <a:lstStyle/>
          <a:p>
            <a:r>
              <a:rPr lang="zh-CN" altLang="en-US" sz="2400" b="1" dirty="0">
                <a:solidFill>
                  <a:srgbClr val="072063"/>
                </a:solidFill>
              </a:rPr>
              <a:t> </a:t>
            </a:r>
            <a:r>
              <a:rPr lang="zh-CN" altLang="en-US" sz="2800" b="1" dirty="0"/>
              <a:t>专业：系统工程</a:t>
            </a:r>
          </a:p>
        </p:txBody>
      </p:sp>
      <p:sp>
        <p:nvSpPr>
          <p:cNvPr id="11" name="TextBox 10"/>
          <p:cNvSpPr txBox="1"/>
          <p:nvPr/>
        </p:nvSpPr>
        <p:spPr>
          <a:xfrm>
            <a:off x="4827566" y="5014303"/>
            <a:ext cx="2702984" cy="523220"/>
          </a:xfrm>
          <a:prstGeom prst="rect">
            <a:avLst/>
          </a:prstGeom>
          <a:noFill/>
        </p:spPr>
        <p:txBody>
          <a:bodyPr wrap="none" rtlCol="0">
            <a:spAutoFit/>
          </a:bodyPr>
          <a:lstStyle/>
          <a:p>
            <a:r>
              <a:rPr lang="zh-CN" altLang="en-US" sz="2800" b="1" dirty="0"/>
              <a:t>日期：</a:t>
            </a:r>
            <a:r>
              <a:rPr lang="en-US" altLang="zh-CN" sz="2800" b="1" dirty="0">
                <a:latin typeface="Times New Roman" panose="02020603050405020304" pitchFamily="18" charset="0"/>
                <a:cs typeface="Times New Roman" panose="02020603050405020304" pitchFamily="18" charset="0"/>
              </a:rPr>
              <a:t>2019.7.20</a:t>
            </a:r>
            <a:endParaRPr lang="zh-CN" altLang="en-US" sz="2800" b="1" dirty="0">
              <a:latin typeface="Times New Roman" panose="02020603050405020304" pitchFamily="18" charset="0"/>
              <a:cs typeface="Times New Roman" panose="02020603050405020304" pitchFamily="18" charset="0"/>
            </a:endParaRPr>
          </a:p>
        </p:txBody>
      </p:sp>
      <p:sp>
        <p:nvSpPr>
          <p:cNvPr id="12" name="Text Box 19">
            <a:extLst>
              <a:ext uri="{FF2B5EF4-FFF2-40B4-BE49-F238E27FC236}">
                <a16:creationId xmlns:a16="http://schemas.microsoft.com/office/drawing/2014/main" id="{3D7A1FE2-9662-4037-9E5A-C4E953E8DAA4}"/>
              </a:ext>
            </a:extLst>
          </p:cNvPr>
          <p:cNvSpPr txBox="1">
            <a:spLocks noChangeArrowheads="1"/>
          </p:cNvSpPr>
          <p:nvPr/>
        </p:nvSpPr>
        <p:spPr bwMode="auto">
          <a:xfrm>
            <a:off x="34924" y="6418263"/>
            <a:ext cx="2644931"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transition advTm="982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4A8AA63A-CF46-42D5-A654-E495454CEF3C}"/>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
        <p:nvSpPr>
          <p:cNvPr id="2" name="文本框 1">
            <a:extLst>
              <a:ext uri="{FF2B5EF4-FFF2-40B4-BE49-F238E27FC236}">
                <a16:creationId xmlns:a16="http://schemas.microsoft.com/office/drawing/2014/main" id="{A17E6233-0851-4526-9D15-03AC4A74F8F6}"/>
              </a:ext>
            </a:extLst>
          </p:cNvPr>
          <p:cNvSpPr txBox="1"/>
          <p:nvPr/>
        </p:nvSpPr>
        <p:spPr>
          <a:xfrm>
            <a:off x="395536" y="2814316"/>
            <a:ext cx="1728192" cy="1200329"/>
          </a:xfrm>
          <a:prstGeom prst="rect">
            <a:avLst/>
          </a:prstGeom>
          <a:noFill/>
        </p:spPr>
        <p:txBody>
          <a:bodyPr wrap="square" rtlCol="0">
            <a:spAutoFit/>
          </a:bodyPr>
          <a:lstStyle/>
          <a:p>
            <a:r>
              <a:rPr lang="zh-CN" altLang="en-US" sz="2400" dirty="0">
                <a:solidFill>
                  <a:srgbClr val="FF0000"/>
                </a:solidFill>
              </a:rPr>
              <a:t>把</a:t>
            </a:r>
            <a:r>
              <a:rPr lang="en-US" altLang="zh-CN" sz="2400" dirty="0">
                <a:solidFill>
                  <a:srgbClr val="FF0000"/>
                </a:solidFill>
              </a:rPr>
              <a:t>3</a:t>
            </a:r>
            <a:r>
              <a:rPr lang="zh-CN" altLang="en-US" sz="2400" dirty="0">
                <a:solidFill>
                  <a:srgbClr val="FF0000"/>
                </a:solidFill>
              </a:rPr>
              <a:t>（文献综述）合并到</a:t>
            </a:r>
            <a:r>
              <a:rPr lang="en-US" altLang="zh-CN" sz="2400" dirty="0">
                <a:solidFill>
                  <a:srgbClr val="FF0000"/>
                </a:solidFill>
              </a:rPr>
              <a:t>2</a:t>
            </a:r>
            <a:r>
              <a:rPr lang="zh-CN" altLang="en-US" sz="2400" dirty="0">
                <a:solidFill>
                  <a:srgbClr val="FF0000"/>
                </a:solidFill>
              </a:rPr>
              <a:t>里</a:t>
            </a:r>
          </a:p>
        </p:txBody>
      </p:sp>
    </p:spTree>
  </p:cSld>
  <p:clrMapOvr>
    <a:masterClrMapping/>
  </p:clrMapOvr>
  <p:transition advTm="460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solidFill>
            <a:srgbClr val="00B050"/>
          </a:soli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ACCAC2C0-1B0A-4668-8650-554DB87D5D34}"/>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transition advTm="547"/>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19"/>
          <p:cNvSpPr txBox="1">
            <a:spLocks noChangeArrowheads="1"/>
          </p:cNvSpPr>
          <p:nvPr/>
        </p:nvSpPr>
        <p:spPr bwMode="auto">
          <a:xfrm>
            <a:off x="34925" y="6418263"/>
            <a:ext cx="2254250" cy="3968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rPr>
              <a:t>系统工程研究所</a:t>
            </a:r>
          </a:p>
        </p:txBody>
      </p:sp>
      <p:graphicFrame>
        <p:nvGraphicFramePr>
          <p:cNvPr id="9" name="对象 8"/>
          <p:cNvGraphicFramePr>
            <a:graphicFrameLocks noChangeAspect="1"/>
          </p:cNvGraphicFramePr>
          <p:nvPr>
            <p:extLst>
              <p:ext uri="{D42A27DB-BD31-4B8C-83A1-F6EECF244321}">
                <p14:modId xmlns:p14="http://schemas.microsoft.com/office/powerpoint/2010/main" val="3215631794"/>
              </p:ext>
            </p:extLst>
          </p:nvPr>
        </p:nvGraphicFramePr>
        <p:xfrm>
          <a:off x="952500" y="1340768"/>
          <a:ext cx="7239000" cy="4143375"/>
        </p:xfrm>
        <a:graphic>
          <a:graphicData uri="http://schemas.openxmlformats.org/presentationml/2006/ole">
            <mc:AlternateContent xmlns:mc="http://schemas.openxmlformats.org/markup-compatibility/2006">
              <mc:Choice xmlns:v="urn:schemas-microsoft-com:vml" Requires="v">
                <p:oleObj spid="_x0000_s2082" name="Visio" r:id="rId4" imgW="7245362" imgH="4153031" progId="Visio.Drawing.15">
                  <p:embed/>
                </p:oleObj>
              </mc:Choice>
              <mc:Fallback>
                <p:oleObj name="Visio" r:id="rId4" imgW="7245362" imgH="4153031" progId="Visio.Drawing.15">
                  <p:embed/>
                  <p:pic>
                    <p:nvPicPr>
                      <p:cNvPr id="9" name="对象 8"/>
                      <p:cNvPicPr/>
                      <p:nvPr/>
                    </p:nvPicPr>
                    <p:blipFill>
                      <a:blip r:embed="rId5"/>
                      <a:stretch>
                        <a:fillRect/>
                      </a:stretch>
                    </p:blipFill>
                    <p:spPr>
                      <a:xfrm>
                        <a:off x="952500" y="1340768"/>
                        <a:ext cx="7239000" cy="4143375"/>
                      </a:xfrm>
                      <a:prstGeom prst="rect">
                        <a:avLst/>
                      </a:prstGeom>
                    </p:spPr>
                  </p:pic>
                </p:oleObj>
              </mc:Fallback>
            </mc:AlternateContent>
          </a:graphicData>
        </a:graphic>
      </p:graphicFrame>
      <p:sp>
        <p:nvSpPr>
          <p:cNvPr id="19" name="TextBox 3"/>
          <p:cNvSpPr txBox="1">
            <a:spLocks noChangeArrowheads="1"/>
          </p:cNvSpPr>
          <p:nvPr/>
        </p:nvSpPr>
        <p:spPr bwMode="auto">
          <a:xfrm>
            <a:off x="6084168" y="97608"/>
            <a:ext cx="2555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eaLnBrk="0" hangingPunct="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eaLnBrk="0" hangingPunct="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eaLnBrk="0" hangingPunct="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eaLnBrk="0" hangingPunct="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prstClr val="white"/>
                </a:solidFill>
                <a:effectLst/>
                <a:uLnTx/>
                <a:uFillTx/>
                <a:latin typeface="宋体"/>
                <a:ea typeface="宋体"/>
                <a:cs typeface="+mn-cs"/>
              </a:rPr>
              <a:t>1</a:t>
            </a:r>
            <a:r>
              <a:rPr kumimoji="0" lang="zh-CN" altLang="en-US" sz="2400" b="1" i="0" u="none" strike="noStrike" kern="0" cap="none" spc="0" normalizeH="0" baseline="0" noProof="0" dirty="0">
                <a:ln>
                  <a:noFill/>
                </a:ln>
                <a:solidFill>
                  <a:prstClr val="white"/>
                </a:solidFill>
                <a:effectLst/>
                <a:uLnTx/>
                <a:uFillTx/>
                <a:latin typeface="宋体"/>
                <a:ea typeface="宋体"/>
                <a:cs typeface="+mn-cs"/>
              </a:rPr>
              <a:t>、前期工作总结</a:t>
            </a:r>
            <a:endParaRPr kumimoji="0" lang="zh-CN" altLang="en-US" sz="2400" b="1" i="0" u="none" strike="noStrike" kern="1200" cap="none" spc="0" normalizeH="0" baseline="0" noProof="0" dirty="0">
              <a:ln>
                <a:noFill/>
              </a:ln>
              <a:solidFill>
                <a:srgbClr val="FFFFFF"/>
              </a:solidFill>
              <a:effectLst/>
              <a:uLnTx/>
              <a:uFillTx/>
              <a:latin typeface="宋体"/>
              <a:ea typeface="宋体"/>
              <a:cs typeface="+mn-cs"/>
            </a:endParaRPr>
          </a:p>
        </p:txBody>
      </p:sp>
      <p:sp>
        <p:nvSpPr>
          <p:cNvPr id="2" name="矩形 1">
            <a:extLst>
              <a:ext uri="{FF2B5EF4-FFF2-40B4-BE49-F238E27FC236}">
                <a16:creationId xmlns:a16="http://schemas.microsoft.com/office/drawing/2014/main" id="{5CBAFF65-25EF-4651-A386-2912F54192B0}"/>
              </a:ext>
            </a:extLst>
          </p:cNvPr>
          <p:cNvSpPr/>
          <p:nvPr/>
        </p:nvSpPr>
        <p:spPr>
          <a:xfrm>
            <a:off x="683568" y="4365104"/>
            <a:ext cx="1569660" cy="369332"/>
          </a:xfrm>
          <a:prstGeom prst="rect">
            <a:avLst/>
          </a:prstGeom>
        </p:spPr>
        <p:txBody>
          <a:bodyPr wrap="none">
            <a:spAutoFit/>
          </a:bodyPr>
          <a:lstStyle/>
          <a:p>
            <a:r>
              <a:rPr lang="zh-CN" altLang="en-US" dirty="0">
                <a:solidFill>
                  <a:srgbClr val="FF0000"/>
                </a:solidFill>
                <a:latin typeface="Microsoft YaHei" panose="020B0503020204020204" pitchFamily="34" charset="-122"/>
                <a:ea typeface="Microsoft YaHei" panose="020B0503020204020204" pitchFamily="34" charset="-122"/>
              </a:rPr>
              <a:t>字号再大一点</a:t>
            </a:r>
            <a:endParaRPr lang="zh-CN" altLang="en-US" dirty="0">
              <a:solidFill>
                <a:srgbClr val="FF0000"/>
              </a:solidFill>
            </a:endParaRPr>
          </a:p>
        </p:txBody>
      </p:sp>
    </p:spTree>
    <p:extLst>
      <p:ext uri="{BB962C8B-B14F-4D97-AF65-F5344CB8AC3E}">
        <p14:creationId xmlns:p14="http://schemas.microsoft.com/office/powerpoint/2010/main" val="2505924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solidFill>
            <a:srgbClr val="00B050"/>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DC47A60F-7FE3-4080-86BF-831C3371CCA3}"/>
              </a:ext>
            </a:extLst>
          </p:cNvPr>
          <p:cNvSpPr txBox="1">
            <a:spLocks noChangeArrowheads="1"/>
          </p:cNvSpPr>
          <p:nvPr/>
        </p:nvSpPr>
        <p:spPr bwMode="auto">
          <a:xfrm>
            <a:off x="34925" y="6418263"/>
            <a:ext cx="2558244"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transition advTm="96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
          <p:cNvSpPr txBox="1">
            <a:spLocks noChangeArrowheads="1"/>
          </p:cNvSpPr>
          <p:nvPr/>
        </p:nvSpPr>
        <p:spPr bwMode="auto">
          <a:xfrm>
            <a:off x="5868144" y="97608"/>
            <a:ext cx="29523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2</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、选题背景及意义</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2" name="TextBox 1"/>
          <p:cNvSpPr txBox="1"/>
          <p:nvPr/>
        </p:nvSpPr>
        <p:spPr>
          <a:xfrm>
            <a:off x="827584" y="1947708"/>
            <a:ext cx="7920880" cy="21160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mn-ea"/>
                <a:ea typeface="+mn-ea"/>
              </a:rPr>
              <a:t>钢铁企业多为</a:t>
            </a:r>
            <a:r>
              <a:rPr lang="zh-CN" altLang="en-US" b="1" dirty="0">
                <a:solidFill>
                  <a:srgbClr val="FF0000"/>
                </a:solidFill>
                <a:latin typeface="+mn-ea"/>
                <a:ea typeface="+mn-ea"/>
              </a:rPr>
              <a:t>大规模</a:t>
            </a:r>
            <a:r>
              <a:rPr lang="zh-CN" altLang="en-US" dirty="0">
                <a:latin typeface="+mn-ea"/>
                <a:ea typeface="+mn-ea"/>
              </a:rPr>
              <a:t>，</a:t>
            </a:r>
            <a:r>
              <a:rPr lang="zh-CN" altLang="en-US" b="1" dirty="0">
                <a:solidFill>
                  <a:srgbClr val="FF0000"/>
                </a:solidFill>
                <a:latin typeface="+mn-ea"/>
                <a:ea typeface="+mn-ea"/>
              </a:rPr>
              <a:t>连续性</a:t>
            </a:r>
            <a:r>
              <a:rPr lang="zh-CN" altLang="en-US" dirty="0">
                <a:latin typeface="+mn-ea"/>
                <a:ea typeface="+mn-ea"/>
              </a:rPr>
              <a:t>生产</a:t>
            </a:r>
            <a:endParaRPr lang="en-US" altLang="zh-CN" dirty="0">
              <a:latin typeface="+mn-ea"/>
              <a:ea typeface="+mn-ea"/>
            </a:endParaRPr>
          </a:p>
          <a:p>
            <a:pPr marL="285750" indent="-285750">
              <a:lnSpc>
                <a:spcPct val="150000"/>
              </a:lnSpc>
              <a:buFont typeface="Arial" panose="020B0604020202020204" pitchFamily="34" charset="0"/>
              <a:buChar char="•"/>
            </a:pPr>
            <a:r>
              <a:rPr lang="zh-CN" altLang="en-US" b="1" dirty="0">
                <a:solidFill>
                  <a:srgbClr val="FF0000"/>
                </a:solidFill>
                <a:latin typeface="+mn-ea"/>
                <a:ea typeface="+mn-ea"/>
              </a:rPr>
              <a:t>多品种</a:t>
            </a:r>
            <a:r>
              <a:rPr lang="zh-CN" altLang="en-US" dirty="0">
                <a:latin typeface="+mn-ea"/>
                <a:ea typeface="+mn-ea"/>
              </a:rPr>
              <a:t>、</a:t>
            </a:r>
            <a:r>
              <a:rPr lang="zh-CN" altLang="en-US" b="1" dirty="0">
                <a:solidFill>
                  <a:srgbClr val="FF0000"/>
                </a:solidFill>
                <a:latin typeface="+mn-ea"/>
                <a:ea typeface="+mn-ea"/>
              </a:rPr>
              <a:t>小批量</a:t>
            </a:r>
            <a:r>
              <a:rPr lang="zh-CN" altLang="en-US" dirty="0">
                <a:latin typeface="+mn-ea"/>
                <a:ea typeface="+mn-ea"/>
              </a:rPr>
              <a:t>、</a:t>
            </a:r>
            <a:r>
              <a:rPr lang="zh-CN" altLang="en-US" b="1" dirty="0">
                <a:solidFill>
                  <a:srgbClr val="FF0000"/>
                </a:solidFill>
                <a:latin typeface="+mn-ea"/>
                <a:ea typeface="+mn-ea"/>
              </a:rPr>
              <a:t>个性化</a:t>
            </a:r>
            <a:r>
              <a:rPr lang="zh-CN" altLang="en-US" dirty="0">
                <a:latin typeface="+mn-ea"/>
                <a:ea typeface="+mn-ea"/>
              </a:rPr>
              <a:t>的客户需求使得生产过程复杂</a:t>
            </a:r>
            <a:endParaRPr lang="en-US" altLang="zh-CN" dirty="0">
              <a:latin typeface="+mn-ea"/>
              <a:ea typeface="+mn-ea"/>
            </a:endParaRPr>
          </a:p>
          <a:p>
            <a:pPr marL="285750" indent="-285750">
              <a:lnSpc>
                <a:spcPct val="150000"/>
              </a:lnSpc>
              <a:buFont typeface="Arial" panose="020B0604020202020204" pitchFamily="34" charset="0"/>
              <a:buChar char="•"/>
            </a:pPr>
            <a:r>
              <a:rPr lang="zh-CN" altLang="zh-CN" dirty="0"/>
              <a:t>各工艺的合同计划</a:t>
            </a:r>
            <a:r>
              <a:rPr lang="zh-CN" altLang="en-US" dirty="0"/>
              <a:t>仍是</a:t>
            </a:r>
            <a:r>
              <a:rPr lang="zh-CN" altLang="zh-CN" b="1" dirty="0">
                <a:solidFill>
                  <a:srgbClr val="FF0000"/>
                </a:solidFill>
                <a:latin typeface="+mn-ea"/>
                <a:ea typeface="+mn-ea"/>
              </a:rPr>
              <a:t>人为制定</a:t>
            </a:r>
            <a:r>
              <a:rPr lang="zh-CN" altLang="zh-CN" dirty="0"/>
              <a:t>，</a:t>
            </a:r>
            <a:r>
              <a:rPr lang="zh-CN" altLang="en-US" dirty="0"/>
              <a:t>而合同的组批及批调度是一个非常复杂的问题，</a:t>
            </a:r>
            <a:r>
              <a:rPr lang="zh-CN" altLang="zh-CN" dirty="0"/>
              <a:t>不仅导致生产组织困难，还不能实现个性化服务，大大降低了生产管理的效率</a:t>
            </a:r>
            <a:r>
              <a:rPr lang="zh-CN" altLang="en-US" dirty="0"/>
              <a:t>。</a:t>
            </a:r>
            <a:endParaRPr lang="en-US" altLang="zh-CN" dirty="0"/>
          </a:p>
        </p:txBody>
      </p:sp>
      <p:sp>
        <p:nvSpPr>
          <p:cNvPr id="3" name="矩形 2"/>
          <p:cNvSpPr/>
          <p:nvPr/>
        </p:nvSpPr>
        <p:spPr>
          <a:xfrm>
            <a:off x="792088" y="4149080"/>
            <a:ext cx="4572000" cy="1966372"/>
          </a:xfrm>
          <a:prstGeom prst="rect">
            <a:avLst/>
          </a:prstGeom>
        </p:spPr>
        <p:txBody>
          <a:bodyPr>
            <a:spAutoFit/>
          </a:bodyPr>
          <a:lstStyle/>
          <a:p>
            <a:r>
              <a:rPr lang="en-US" altLang="zh-CN" dirty="0">
                <a:latin typeface="+mn-ea"/>
              </a:rPr>
              <a:t> </a:t>
            </a:r>
            <a:r>
              <a:rPr lang="zh-CN" altLang="en-US" b="1" dirty="0">
                <a:latin typeface="+mn-ea"/>
              </a:rPr>
              <a:t>实际生产过程中出现的主要问题：</a:t>
            </a:r>
            <a:endParaRPr lang="en-US" altLang="zh-CN" b="1" dirty="0">
              <a:latin typeface="+mn-ea"/>
            </a:endParaRPr>
          </a:p>
          <a:p>
            <a:pPr marL="285750" indent="-285750">
              <a:lnSpc>
                <a:spcPct val="150000"/>
              </a:lnSpc>
              <a:buFont typeface="Wingdings" panose="05000000000000000000" pitchFamily="2" charset="2"/>
              <a:buChar char="Ø"/>
            </a:pPr>
            <a:r>
              <a:rPr lang="zh-CN" altLang="en-US" dirty="0">
                <a:latin typeface="+mn-ea"/>
              </a:rPr>
              <a:t>机组缺料闲置</a:t>
            </a:r>
          </a:p>
          <a:p>
            <a:pPr marL="285750" indent="-285750">
              <a:lnSpc>
                <a:spcPct val="150000"/>
              </a:lnSpc>
              <a:buFont typeface="Wingdings" panose="05000000000000000000" pitchFamily="2" charset="2"/>
              <a:buChar char="Ø"/>
            </a:pPr>
            <a:r>
              <a:rPr lang="zh-CN" altLang="en-US" dirty="0">
                <a:latin typeface="+mn-ea"/>
              </a:rPr>
              <a:t>库存积压大</a:t>
            </a:r>
            <a:endParaRPr lang="en-US" altLang="zh-CN" dirty="0">
              <a:latin typeface="+mn-ea"/>
            </a:endParaRPr>
          </a:p>
          <a:p>
            <a:pPr marL="285750" indent="-285750">
              <a:lnSpc>
                <a:spcPct val="150000"/>
              </a:lnSpc>
              <a:buFont typeface="Wingdings" panose="05000000000000000000" pitchFamily="2" charset="2"/>
              <a:buChar char="Ø"/>
            </a:pPr>
            <a:r>
              <a:rPr lang="zh-CN" altLang="en-US" dirty="0">
                <a:latin typeface="+mn-ea"/>
              </a:rPr>
              <a:t>产能浪费</a:t>
            </a:r>
            <a:endParaRPr lang="en-US" altLang="zh-CN" dirty="0">
              <a:latin typeface="+mn-ea"/>
            </a:endParaRPr>
          </a:p>
          <a:p>
            <a:pPr marL="285750" indent="-285750">
              <a:lnSpc>
                <a:spcPct val="150000"/>
              </a:lnSpc>
              <a:buFont typeface="Wingdings" panose="05000000000000000000" pitchFamily="2" charset="2"/>
              <a:buChar char="Ø"/>
            </a:pPr>
            <a:r>
              <a:rPr lang="zh-CN" altLang="en-US" dirty="0">
                <a:latin typeface="+mn-ea"/>
              </a:rPr>
              <a:t>合同拖期</a:t>
            </a:r>
          </a:p>
        </p:txBody>
      </p:sp>
      <p:sp>
        <p:nvSpPr>
          <p:cNvPr id="4" name="矩形 3">
            <a:extLst>
              <a:ext uri="{FF2B5EF4-FFF2-40B4-BE49-F238E27FC236}">
                <a16:creationId xmlns:a16="http://schemas.microsoft.com/office/drawing/2014/main" id="{46EE8F6D-269E-4FB0-A928-63750C271D3D}"/>
              </a:ext>
            </a:extLst>
          </p:cNvPr>
          <p:cNvSpPr/>
          <p:nvPr/>
        </p:nvSpPr>
        <p:spPr>
          <a:xfrm>
            <a:off x="633890" y="1294352"/>
            <a:ext cx="902811"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背景</a:t>
            </a:r>
            <a:endParaRPr lang="en-US" altLang="zh-CN" sz="2800" dirty="0">
              <a:latin typeface="微软雅黑" panose="020B0503020204020204" pitchFamily="34" charset="-122"/>
              <a:ea typeface="微软雅黑" panose="020B0503020204020204" pitchFamily="34" charset="-122"/>
            </a:endParaRPr>
          </a:p>
        </p:txBody>
      </p:sp>
      <p:sp>
        <p:nvSpPr>
          <p:cNvPr id="7" name="Text Box 19">
            <a:extLst>
              <a:ext uri="{FF2B5EF4-FFF2-40B4-BE49-F238E27FC236}">
                <a16:creationId xmlns:a16="http://schemas.microsoft.com/office/drawing/2014/main" id="{B984E290-0866-4DEB-BF7C-A6A94C4C32D4}"/>
              </a:ext>
            </a:extLst>
          </p:cNvPr>
          <p:cNvSpPr txBox="1">
            <a:spLocks noChangeArrowheads="1"/>
          </p:cNvSpPr>
          <p:nvPr/>
        </p:nvSpPr>
        <p:spPr bwMode="auto">
          <a:xfrm>
            <a:off x="34924" y="6418263"/>
            <a:ext cx="2808883"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transition advTm="4785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5868144" y="97608"/>
            <a:ext cx="29523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2</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、选题背景及意义</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3" name="TextBox 2"/>
          <p:cNvSpPr txBox="1"/>
          <p:nvPr/>
        </p:nvSpPr>
        <p:spPr>
          <a:xfrm>
            <a:off x="611560" y="4941168"/>
            <a:ext cx="8208912" cy="1231106"/>
          </a:xfrm>
          <a:prstGeom prst="rect">
            <a:avLst/>
          </a:prstGeom>
          <a:noFill/>
        </p:spPr>
        <p:txBody>
          <a:bodyPr wrap="square" rtlCol="0">
            <a:spAutoFit/>
          </a:bodyPr>
          <a:lstStyle/>
          <a:p>
            <a:r>
              <a:rPr lang="zh-CN" altLang="en-US" dirty="0"/>
              <a:t>炼钢</a:t>
            </a:r>
            <a:r>
              <a:rPr lang="en-US" altLang="zh-CN" dirty="0"/>
              <a:t>-</a:t>
            </a:r>
            <a:r>
              <a:rPr lang="zh-CN" altLang="en-US" dirty="0"/>
              <a:t>连铸</a:t>
            </a:r>
            <a:r>
              <a:rPr lang="en-US" altLang="zh-CN" dirty="0"/>
              <a:t>-</a:t>
            </a:r>
            <a:r>
              <a:rPr lang="zh-CN" altLang="en-US" dirty="0"/>
              <a:t>热轧</a:t>
            </a:r>
            <a:r>
              <a:rPr lang="en-US" altLang="zh-CN" dirty="0"/>
              <a:t>-</a:t>
            </a:r>
            <a:r>
              <a:rPr lang="zh-CN" altLang="en-US" dirty="0"/>
              <a:t>冷轧流程是钢铁产品生产的关键工序，对此流程</a:t>
            </a:r>
            <a:r>
              <a:rPr lang="zh-CN" altLang="en-US" b="1" dirty="0">
                <a:solidFill>
                  <a:srgbClr val="FF0000"/>
                </a:solidFill>
              </a:rPr>
              <a:t>合同计划制程的</a:t>
            </a:r>
            <a:r>
              <a:rPr lang="zh-CN" altLang="en-US" dirty="0"/>
              <a:t>优化可以</a:t>
            </a:r>
            <a:r>
              <a:rPr lang="zh-CN" altLang="zh-CN" dirty="0"/>
              <a:t>降低生产成本、物流成本和余材成本</a:t>
            </a:r>
            <a:r>
              <a:rPr lang="zh-CN" altLang="en-US" dirty="0"/>
              <a:t>，</a:t>
            </a:r>
            <a:r>
              <a:rPr lang="zh-CN" altLang="en-US" dirty="0">
                <a:solidFill>
                  <a:srgbClr val="FF0000"/>
                </a:solidFill>
                <a:latin typeface="Microsoft YaHei" panose="020B0503020204020204" pitchFamily="34" charset="-122"/>
                <a:ea typeface="Microsoft YaHei" panose="020B0503020204020204" pitchFamily="34" charset="-122"/>
              </a:rPr>
              <a:t>提高合同准时交货率</a:t>
            </a:r>
            <a:r>
              <a:rPr lang="zh-CN" altLang="en-US" dirty="0"/>
              <a:t>。</a:t>
            </a:r>
            <a:endParaRPr lang="en-US" altLang="zh-CN" dirty="0"/>
          </a:p>
          <a:p>
            <a:endParaRPr lang="en-US" altLang="zh-CN" dirty="0"/>
          </a:p>
          <a:p>
            <a:endParaRPr lang="zh-CN" altLang="en-US" sz="2000" b="1" dirty="0">
              <a:latin typeface="微软雅黑" panose="020B0503020204020204" pitchFamily="34" charset="-122"/>
              <a:ea typeface="微软雅黑" panose="020B0503020204020204" pitchFamily="34" charset="-122"/>
            </a:endParaRPr>
          </a:p>
        </p:txBody>
      </p:sp>
      <p:sp>
        <p:nvSpPr>
          <p:cNvPr id="4" name="矩形 3"/>
          <p:cNvSpPr/>
          <p:nvPr/>
        </p:nvSpPr>
        <p:spPr>
          <a:xfrm>
            <a:off x="467544" y="1196752"/>
            <a:ext cx="1224136"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意义</a:t>
            </a:r>
            <a:endParaRPr lang="en-US" altLang="zh-CN" sz="2800" b="1" dirty="0">
              <a:latin typeface="微软雅黑" panose="020B0503020204020204" pitchFamily="34" charset="-122"/>
              <a:ea typeface="微软雅黑" panose="020B0503020204020204" pitchFamily="34" charset="-122"/>
            </a:endParaRPr>
          </a:p>
        </p:txBody>
      </p:sp>
      <p:sp>
        <p:nvSpPr>
          <p:cNvPr id="6" name="圆角矩形 5"/>
          <p:cNvSpPr/>
          <p:nvPr/>
        </p:nvSpPr>
        <p:spPr>
          <a:xfrm>
            <a:off x="7017386" y="2014930"/>
            <a:ext cx="1947101" cy="108012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减低余材率</a:t>
            </a:r>
          </a:p>
        </p:txBody>
      </p:sp>
      <p:sp>
        <p:nvSpPr>
          <p:cNvPr id="7" name="圆角矩形 6"/>
          <p:cNvSpPr/>
          <p:nvPr/>
        </p:nvSpPr>
        <p:spPr>
          <a:xfrm>
            <a:off x="4720957" y="1988510"/>
            <a:ext cx="1800200" cy="108012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提高生产设备工作效率</a:t>
            </a:r>
          </a:p>
        </p:txBody>
      </p:sp>
      <p:sp>
        <p:nvSpPr>
          <p:cNvPr id="9" name="圆角矩形 8"/>
          <p:cNvSpPr/>
          <p:nvPr/>
        </p:nvSpPr>
        <p:spPr>
          <a:xfrm>
            <a:off x="251520" y="2005214"/>
            <a:ext cx="1800200" cy="108012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减少交叉物流量</a:t>
            </a:r>
          </a:p>
        </p:txBody>
      </p:sp>
      <p:sp>
        <p:nvSpPr>
          <p:cNvPr id="10" name="圆角矩形 9"/>
          <p:cNvSpPr/>
          <p:nvPr/>
        </p:nvSpPr>
        <p:spPr>
          <a:xfrm>
            <a:off x="3563888" y="3573016"/>
            <a:ext cx="1800200" cy="936104"/>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开发</a:t>
            </a:r>
            <a:r>
              <a:rPr lang="en-US" altLang="zh-CN" b="1" dirty="0">
                <a:solidFill>
                  <a:schemeClr val="tx1"/>
                </a:solidFill>
              </a:rPr>
              <a:t>OPS</a:t>
            </a:r>
            <a:r>
              <a:rPr lang="zh-CN" altLang="en-US" b="1" dirty="0">
                <a:solidFill>
                  <a:schemeClr val="tx1"/>
                </a:solidFill>
              </a:rPr>
              <a:t>合同计划制程系统</a:t>
            </a:r>
          </a:p>
        </p:txBody>
      </p:sp>
      <p:sp>
        <p:nvSpPr>
          <p:cNvPr id="12" name="右箭头 11"/>
          <p:cNvSpPr/>
          <p:nvPr/>
        </p:nvSpPr>
        <p:spPr>
          <a:xfrm>
            <a:off x="2070392" y="2312546"/>
            <a:ext cx="421060" cy="432048"/>
          </a:xfrm>
          <a:prstGeom prst="rightArrow">
            <a:avLst/>
          </a:prstGeom>
          <a:solidFill>
            <a:schemeClr val="tx2">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a:off x="4291652" y="2329250"/>
            <a:ext cx="390836" cy="432048"/>
          </a:xfrm>
          <a:prstGeom prst="rightArrow">
            <a:avLst/>
          </a:prstGeom>
          <a:solidFill>
            <a:schemeClr val="tx2">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大括号 16"/>
          <p:cNvSpPr/>
          <p:nvPr/>
        </p:nvSpPr>
        <p:spPr>
          <a:xfrm rot="5400000">
            <a:off x="4285996" y="-98706"/>
            <a:ext cx="355983" cy="6840760"/>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圆角矩形 7">
            <a:extLst>
              <a:ext uri="{FF2B5EF4-FFF2-40B4-BE49-F238E27FC236}">
                <a16:creationId xmlns:a16="http://schemas.microsoft.com/office/drawing/2014/main" id="{947E5DC9-2687-4ED4-BC41-5C0CD73B56CE}"/>
              </a:ext>
            </a:extLst>
          </p:cNvPr>
          <p:cNvSpPr/>
          <p:nvPr/>
        </p:nvSpPr>
        <p:spPr>
          <a:xfrm>
            <a:off x="2491452" y="2009325"/>
            <a:ext cx="1800200" cy="108012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rPr>
              <a:t>均衡各产线产能分配</a:t>
            </a:r>
          </a:p>
        </p:txBody>
      </p:sp>
      <p:sp>
        <p:nvSpPr>
          <p:cNvPr id="14" name="右箭头 15">
            <a:extLst>
              <a:ext uri="{FF2B5EF4-FFF2-40B4-BE49-F238E27FC236}">
                <a16:creationId xmlns:a16="http://schemas.microsoft.com/office/drawing/2014/main" id="{821A66A1-52BD-4C03-8BB7-CEB1A493F3F2}"/>
              </a:ext>
            </a:extLst>
          </p:cNvPr>
          <p:cNvSpPr/>
          <p:nvPr/>
        </p:nvSpPr>
        <p:spPr>
          <a:xfrm>
            <a:off x="6559626" y="2338966"/>
            <a:ext cx="390836" cy="432048"/>
          </a:xfrm>
          <a:prstGeom prst="rightArrow">
            <a:avLst/>
          </a:prstGeom>
          <a:solidFill>
            <a:schemeClr val="tx2">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 Box 19">
            <a:extLst>
              <a:ext uri="{FF2B5EF4-FFF2-40B4-BE49-F238E27FC236}">
                <a16:creationId xmlns:a16="http://schemas.microsoft.com/office/drawing/2014/main" id="{76C5EE2A-1CE4-41C2-A7F0-F74E7FBC73CE}"/>
              </a:ext>
            </a:extLst>
          </p:cNvPr>
          <p:cNvSpPr txBox="1">
            <a:spLocks noChangeArrowheads="1"/>
          </p:cNvSpPr>
          <p:nvPr/>
        </p:nvSpPr>
        <p:spPr bwMode="auto">
          <a:xfrm>
            <a:off x="34924" y="6418263"/>
            <a:ext cx="2736875"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
        <p:nvSpPr>
          <p:cNvPr id="18" name="矩形 17">
            <a:extLst>
              <a:ext uri="{FF2B5EF4-FFF2-40B4-BE49-F238E27FC236}">
                <a16:creationId xmlns:a16="http://schemas.microsoft.com/office/drawing/2014/main" id="{952AEF45-5344-451A-AD92-4EFB960C280A}"/>
              </a:ext>
            </a:extLst>
          </p:cNvPr>
          <p:cNvSpPr/>
          <p:nvPr/>
        </p:nvSpPr>
        <p:spPr>
          <a:xfrm>
            <a:off x="6012160" y="1196752"/>
            <a:ext cx="2954655" cy="461665"/>
          </a:xfrm>
          <a:prstGeom prst="rect">
            <a:avLst/>
          </a:prstGeom>
        </p:spPr>
        <p:txBody>
          <a:bodyPr wrap="none">
            <a:spAutoFit/>
          </a:bodyPr>
          <a:lstStyle/>
          <a:p>
            <a:r>
              <a:rPr lang="zh-CN" altLang="en-US" sz="2400" dirty="0">
                <a:solidFill>
                  <a:srgbClr val="FF0000"/>
                </a:solidFill>
                <a:latin typeface="Microsoft YaHei" panose="020B0503020204020204" pitchFamily="34" charset="-122"/>
                <a:ea typeface="Microsoft YaHei" panose="020B0503020204020204" pitchFamily="34" charset="-122"/>
              </a:rPr>
              <a:t>提高合同准时交货率</a:t>
            </a:r>
            <a:endParaRPr lang="zh-CN" altLang="en-US" sz="2400" dirty="0">
              <a:solidFill>
                <a:srgbClr val="FF0000"/>
              </a:solidFill>
            </a:endParaRPr>
          </a:p>
        </p:txBody>
      </p:sp>
    </p:spTree>
  </p:cSld>
  <p:clrMapOvr>
    <a:masterClrMapping/>
  </p:clrMapOvr>
  <p:transition advTm="41922"/>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a:spLocks noChangeArrowheads="1"/>
          </p:cNvSpPr>
          <p:nvPr/>
        </p:nvSpPr>
        <p:spPr bwMode="auto">
          <a:xfrm>
            <a:off x="5868144" y="97608"/>
            <a:ext cx="29523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2</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、选题背景及意义</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4" name="矩形 3"/>
          <p:cNvSpPr/>
          <p:nvPr/>
        </p:nvSpPr>
        <p:spPr>
          <a:xfrm>
            <a:off x="467544" y="1196752"/>
            <a:ext cx="2448272"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现有研究不足：</a:t>
            </a:r>
          </a:p>
        </p:txBody>
      </p:sp>
      <p:sp>
        <p:nvSpPr>
          <p:cNvPr id="7" name="TextBox 6"/>
          <p:cNvSpPr txBox="1"/>
          <p:nvPr/>
        </p:nvSpPr>
        <p:spPr>
          <a:xfrm>
            <a:off x="467544" y="1988840"/>
            <a:ext cx="8208912" cy="4062651"/>
          </a:xfrm>
          <a:prstGeom prst="rect">
            <a:avLst/>
          </a:prstGeom>
          <a:noFill/>
        </p:spPr>
        <p:txBody>
          <a:bodyPr wrap="square" rtlCol="0">
            <a:spAutoFit/>
          </a:bodyPr>
          <a:lstStyle/>
          <a:p>
            <a:pPr>
              <a:lnSpc>
                <a:spcPct val="150000"/>
              </a:lnSpc>
              <a:buFont typeface="Wingdings" pitchFamily="2" charset="2"/>
              <a:buChar char="u"/>
            </a:pPr>
            <a:r>
              <a:rPr lang="en-US" altLang="zh-CN" sz="2000" dirty="0"/>
              <a:t>OPS</a:t>
            </a:r>
            <a:r>
              <a:rPr lang="zh-CN" altLang="en-US" sz="2000" dirty="0"/>
              <a:t>制程计划在实际中是一类带有复杂约束的问题，很难解决，大多在实际生产中会用启发式的方法求解，</a:t>
            </a:r>
            <a:r>
              <a:rPr lang="zh-CN" altLang="en-US" sz="2000" b="1" dirty="0">
                <a:solidFill>
                  <a:srgbClr val="FF0000"/>
                </a:solidFill>
              </a:rPr>
              <a:t>采用精确算法的研究是很少的</a:t>
            </a:r>
            <a:r>
              <a:rPr lang="zh-CN" altLang="en-US" sz="2000" dirty="0"/>
              <a:t>。</a:t>
            </a:r>
            <a:endParaRPr lang="en-US" altLang="zh-CN" sz="2000" dirty="0"/>
          </a:p>
          <a:p>
            <a:pPr>
              <a:lnSpc>
                <a:spcPct val="150000"/>
              </a:lnSpc>
              <a:buFont typeface="Wingdings" pitchFamily="2" charset="2"/>
              <a:buChar char="u"/>
            </a:pPr>
            <a:endParaRPr lang="en-US" altLang="zh-CN" sz="2000" dirty="0"/>
          </a:p>
          <a:p>
            <a:pPr>
              <a:lnSpc>
                <a:spcPct val="150000"/>
              </a:lnSpc>
              <a:buFont typeface="Wingdings" pitchFamily="2" charset="2"/>
              <a:buChar char="u"/>
            </a:pPr>
            <a:r>
              <a:rPr lang="zh-CN" altLang="en-US" sz="2000" dirty="0"/>
              <a:t>在理论研究上可以归类为</a:t>
            </a:r>
            <a:r>
              <a:rPr lang="zh-CN" altLang="en-US" sz="2000" b="1" dirty="0">
                <a:solidFill>
                  <a:srgbClr val="FF0000"/>
                </a:solidFill>
              </a:rPr>
              <a:t>复杂的组合优化问题</a:t>
            </a:r>
            <a:r>
              <a:rPr lang="zh-CN" altLang="en-US" sz="2000" dirty="0"/>
              <a:t>，中小规模问题通过</a:t>
            </a:r>
            <a:r>
              <a:rPr lang="zh-CN" altLang="en-US" sz="2000" b="1" dirty="0">
                <a:solidFill>
                  <a:srgbClr val="FF0000"/>
                </a:solidFill>
              </a:rPr>
              <a:t>数学规划</a:t>
            </a:r>
            <a:r>
              <a:rPr lang="zh-CN" altLang="en-US" sz="2000" dirty="0"/>
              <a:t>可以求得精确解。</a:t>
            </a:r>
            <a:endParaRPr lang="en-US" altLang="zh-CN" sz="2000" dirty="0"/>
          </a:p>
          <a:p>
            <a:pPr>
              <a:lnSpc>
                <a:spcPct val="150000"/>
              </a:lnSpc>
            </a:pPr>
            <a:endParaRPr lang="en-US" altLang="zh-CN" sz="2000" dirty="0"/>
          </a:p>
          <a:p>
            <a:pPr>
              <a:lnSpc>
                <a:spcPct val="150000"/>
              </a:lnSpc>
              <a:buFont typeface="Wingdings" pitchFamily="2" charset="2"/>
              <a:buChar char="u"/>
            </a:pPr>
            <a:r>
              <a:rPr lang="zh-CN" altLang="en-US" sz="2000" dirty="0"/>
              <a:t>从学术价值的角度来说，</a:t>
            </a:r>
            <a:r>
              <a:rPr lang="zh-CN" altLang="en-US" sz="2000" b="1" dirty="0">
                <a:solidFill>
                  <a:srgbClr val="FF0000"/>
                </a:solidFill>
              </a:rPr>
              <a:t>精确算法</a:t>
            </a:r>
            <a:r>
              <a:rPr lang="zh-CN" altLang="en-US" sz="2000" dirty="0"/>
              <a:t>可以为启发式算法的</a:t>
            </a:r>
            <a:r>
              <a:rPr lang="zh-CN" altLang="en-US" sz="2000" b="1" dirty="0">
                <a:solidFill>
                  <a:srgbClr val="FF0000"/>
                </a:solidFill>
              </a:rPr>
              <a:t>性能评价</a:t>
            </a:r>
            <a:r>
              <a:rPr lang="zh-CN" altLang="en-US" sz="2000" dirty="0"/>
              <a:t>提供重要依据，这具有很</a:t>
            </a:r>
            <a:r>
              <a:rPr lang="zh-CN" altLang="en-US" sz="2000" dirty="0">
                <a:solidFill>
                  <a:srgbClr val="FF0000"/>
                </a:solidFill>
              </a:rPr>
              <a:t>重要的理论</a:t>
            </a:r>
            <a:r>
              <a:rPr lang="zh-CN" altLang="en-US" sz="2000" dirty="0"/>
              <a:t>意义。</a:t>
            </a:r>
            <a:endParaRPr lang="zh-CN" altLang="zh-CN" sz="2000" dirty="0"/>
          </a:p>
          <a:p>
            <a:endParaRPr lang="zh-CN" altLang="en-US" dirty="0"/>
          </a:p>
        </p:txBody>
      </p:sp>
      <p:sp>
        <p:nvSpPr>
          <p:cNvPr id="5" name="Text Box 19">
            <a:extLst>
              <a:ext uri="{FF2B5EF4-FFF2-40B4-BE49-F238E27FC236}">
                <a16:creationId xmlns:a16="http://schemas.microsoft.com/office/drawing/2014/main" id="{19EC9B2B-03E0-4C15-B3DE-889E240403E7}"/>
              </a:ext>
            </a:extLst>
          </p:cNvPr>
          <p:cNvSpPr txBox="1">
            <a:spLocks noChangeArrowheads="1"/>
          </p:cNvSpPr>
          <p:nvPr/>
        </p:nvSpPr>
        <p:spPr bwMode="auto">
          <a:xfrm>
            <a:off x="34925" y="6418263"/>
            <a:ext cx="2254250" cy="707886"/>
          </a:xfrm>
          <a:prstGeom prst="rect">
            <a:avLst/>
          </a:prstGeom>
          <a:noFill/>
          <a:ln w="9525">
            <a:noFill/>
            <a:miter lim="800000"/>
          </a:ln>
          <a:effectLst/>
        </p:spPr>
        <p:txBody>
          <a:bodyPr>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transition advTm="49063"/>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solidFill>
            <a:srgbClr val="00B050"/>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24B9933C-32EA-4FDE-BC19-4B39F520A0E7}"/>
              </a:ext>
            </a:extLst>
          </p:cNvPr>
          <p:cNvSpPr txBox="1">
            <a:spLocks noChangeArrowheads="1"/>
          </p:cNvSpPr>
          <p:nvPr/>
        </p:nvSpPr>
        <p:spPr bwMode="auto">
          <a:xfrm>
            <a:off x="34925" y="6413266"/>
            <a:ext cx="2558244"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CC1B9617-86AC-4B9C-9F33-83E962ACA747}"/>
              </a:ext>
            </a:extLst>
          </p:cNvPr>
          <p:cNvSpPr txBox="1">
            <a:spLocks noChangeArrowheads="1"/>
          </p:cNvSpPr>
          <p:nvPr/>
        </p:nvSpPr>
        <p:spPr bwMode="auto">
          <a:xfrm>
            <a:off x="6544087" y="97608"/>
            <a:ext cx="209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3</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、文献综述</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2070E4D3-C4A7-4A06-B5C0-46B24A3E4848}"/>
              </a:ext>
            </a:extLst>
          </p:cNvPr>
          <p:cNvGraphicFramePr>
            <a:graphicFrameLocks noGrp="1"/>
          </p:cNvGraphicFramePr>
          <p:nvPr>
            <p:extLst>
              <p:ext uri="{D42A27DB-BD31-4B8C-83A1-F6EECF244321}">
                <p14:modId xmlns:p14="http://schemas.microsoft.com/office/powerpoint/2010/main" val="4001448044"/>
              </p:ext>
            </p:extLst>
          </p:nvPr>
        </p:nvGraphicFramePr>
        <p:xfrm>
          <a:off x="107504" y="1052736"/>
          <a:ext cx="9000999" cy="4950331"/>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gridCol w="2016223">
                  <a:extLst>
                    <a:ext uri="{9D8B030D-6E8A-4147-A177-3AD203B41FA5}">
                      <a16:colId xmlns:a16="http://schemas.microsoft.com/office/drawing/2014/main" val="20002"/>
                    </a:ext>
                  </a:extLst>
                </a:gridCol>
              </a:tblGrid>
              <a:tr h="469771">
                <a:tc>
                  <a:txBody>
                    <a:bodyPr/>
                    <a:lstStyle/>
                    <a:p>
                      <a:pPr algn="ctr"/>
                      <a:r>
                        <a:rPr lang="zh-CN" altLang="en-US" sz="1800" b="1" dirty="0">
                          <a:latin typeface="Times New Roman" pitchFamily="18" charset="0"/>
                          <a:ea typeface="+mj-ea"/>
                          <a:cs typeface="Times New Roman" pitchFamily="18" charset="0"/>
                        </a:rPr>
                        <a:t>方法</a:t>
                      </a:r>
                    </a:p>
                  </a:txBody>
                  <a:tcPr marL="91439" marR="91439"/>
                </a:tc>
                <a:tc>
                  <a:txBody>
                    <a:bodyPr/>
                    <a:lstStyle/>
                    <a:p>
                      <a:pPr algn="ctr"/>
                      <a:r>
                        <a:rPr lang="zh-CN" altLang="en-US" sz="1800" b="1" dirty="0">
                          <a:latin typeface="Times New Roman" pitchFamily="18" charset="0"/>
                          <a:ea typeface="+mj-ea"/>
                          <a:cs typeface="Times New Roman" pitchFamily="18" charset="0"/>
                        </a:rPr>
                        <a:t>作者、文献名</a:t>
                      </a:r>
                    </a:p>
                  </a:txBody>
                  <a:tcPr marL="91439" marR="91439"/>
                </a:tc>
                <a:tc>
                  <a:txBody>
                    <a:bodyPr/>
                    <a:lstStyle/>
                    <a:p>
                      <a:pPr algn="ctr"/>
                      <a:r>
                        <a:rPr lang="zh-CN" altLang="en-US" sz="1800" b="1" dirty="0">
                          <a:latin typeface="Times New Roman" pitchFamily="18" charset="0"/>
                          <a:ea typeface="+mj-ea"/>
                          <a:cs typeface="Times New Roman" pitchFamily="18" charset="0"/>
                        </a:rPr>
                        <a:t>特点</a:t>
                      </a:r>
                    </a:p>
                  </a:txBody>
                  <a:tcPr marL="91439" marR="91439"/>
                </a:tc>
                <a:extLst>
                  <a:ext uri="{0D108BD9-81ED-4DB2-BD59-A6C34878D82A}">
                    <a16:rowId xmlns:a16="http://schemas.microsoft.com/office/drawing/2014/main" val="10000"/>
                  </a:ext>
                </a:extLst>
              </a:tr>
              <a:tr h="1215349">
                <a:tc rowSpan="3">
                  <a:txBody>
                    <a:bodyPr/>
                    <a:lstStyle/>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r>
                        <a:rPr lang="zh-CN" altLang="en-US" sz="1800" b="0" dirty="0">
                          <a:latin typeface="+mn-ea"/>
                          <a:ea typeface="+mn-ea"/>
                          <a:cs typeface="Times New Roman" pitchFamily="18" charset="0"/>
                        </a:rPr>
                        <a:t>列生成</a:t>
                      </a:r>
                    </a:p>
                  </a:txBody>
                  <a:tcPr marL="91439" marR="9143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800" kern="1200" dirty="0">
                          <a:solidFill>
                            <a:schemeClr val="tx1"/>
                          </a:solidFill>
                          <a:effectLst/>
                          <a:latin typeface="Times New Roman" panose="02020603050405020304" pitchFamily="18" charset="0"/>
                          <a:ea typeface="+mn-ea"/>
                          <a:cs typeface="Times New Roman" panose="02020603050405020304" pitchFamily="18" charset="0"/>
                        </a:rPr>
                        <a:t>Dominique </a:t>
                      </a:r>
                      <a:r>
                        <a:rPr lang="en-US" altLang="zh-CN" sz="1800" kern="1200" dirty="0" err="1">
                          <a:solidFill>
                            <a:schemeClr val="tx1"/>
                          </a:solidFill>
                          <a:effectLst/>
                          <a:latin typeface="Times New Roman" panose="02020603050405020304" pitchFamily="18" charset="0"/>
                          <a:ea typeface="+mn-ea"/>
                          <a:cs typeface="Times New Roman" panose="02020603050405020304" pitchFamily="18" charset="0"/>
                        </a:rPr>
                        <a:t>Feillet</a:t>
                      </a:r>
                      <a:r>
                        <a:rPr lang="en-US" altLang="zh-CN" sz="1800" kern="1200" dirty="0">
                          <a:solidFill>
                            <a:schemeClr val="tx1"/>
                          </a:solidFill>
                          <a:effectLst/>
                          <a:latin typeface="Times New Roman" panose="02020603050405020304" pitchFamily="18" charset="0"/>
                          <a:ea typeface="+mn-ea"/>
                          <a:cs typeface="Times New Roman" panose="02020603050405020304" pitchFamily="18" charset="0"/>
                        </a:rPr>
                        <a:t>. A tutorial on column generation and branch-and-price for vehicle routing problems. 4OR-Q J </a:t>
                      </a:r>
                      <a:r>
                        <a:rPr lang="en-US" altLang="zh-CN" sz="1800" kern="1200" dirty="0" err="1">
                          <a:solidFill>
                            <a:schemeClr val="tx1"/>
                          </a:solidFill>
                          <a:effectLst/>
                          <a:latin typeface="Times New Roman" panose="02020603050405020304" pitchFamily="18" charset="0"/>
                          <a:ea typeface="+mn-ea"/>
                          <a:cs typeface="Times New Roman" panose="02020603050405020304" pitchFamily="18" charset="0"/>
                        </a:rPr>
                        <a:t>Oper</a:t>
                      </a:r>
                      <a:r>
                        <a:rPr lang="en-US" altLang="zh-CN" sz="1800" kern="1200" dirty="0">
                          <a:solidFill>
                            <a:schemeClr val="tx1"/>
                          </a:solidFill>
                          <a:effectLst/>
                          <a:latin typeface="Times New Roman" panose="02020603050405020304" pitchFamily="18" charset="0"/>
                          <a:ea typeface="+mn-ea"/>
                          <a:cs typeface="Times New Roman" panose="02020603050405020304" pitchFamily="18" charset="0"/>
                        </a:rPr>
                        <a:t> Res, 2010, 8:407–424.</a:t>
                      </a:r>
                    </a:p>
                  </a:txBody>
                  <a:tcPr marL="91439" marR="91439"/>
                </a:tc>
                <a:tc rowSpan="3">
                  <a:txBody>
                    <a:bodyPr/>
                    <a:lstStyle/>
                    <a:p>
                      <a:pPr marL="0" indent="0" algn="ctr">
                        <a:lnSpc>
                          <a:spcPct val="150000"/>
                        </a:lnSpc>
                        <a:buFont typeface="Arial" panose="020B0604020202020204" pitchFamily="34" charset="0"/>
                        <a:buNone/>
                      </a:pPr>
                      <a:endParaRPr lang="en-US" altLang="zh-CN" b="1" kern="0" dirty="0">
                        <a:solidFill>
                          <a:srgbClr val="002060"/>
                        </a:solidFill>
                        <a:latin typeface="Microsoft JhengHei" panose="020B0604030504040204" pitchFamily="34" charset="-120"/>
                      </a:endParaRPr>
                    </a:p>
                    <a:p>
                      <a:pPr marL="0" indent="0" algn="ctr">
                        <a:lnSpc>
                          <a:spcPct val="150000"/>
                        </a:lnSpc>
                        <a:buFont typeface="Arial" panose="020B0604020202020204" pitchFamily="34" charset="0"/>
                        <a:buNone/>
                      </a:pPr>
                      <a:endParaRPr lang="en-US" altLang="zh-CN" b="1" kern="0" dirty="0">
                        <a:solidFill>
                          <a:srgbClr val="002060"/>
                        </a:solidFill>
                        <a:latin typeface="Microsoft JhengHei" panose="020B0604030504040204" pitchFamily="34" charset="-120"/>
                      </a:endParaRPr>
                    </a:p>
                    <a:p>
                      <a:pPr marL="0" indent="0" algn="ctr">
                        <a:lnSpc>
                          <a:spcPct val="150000"/>
                        </a:lnSpc>
                        <a:buFont typeface="Arial" panose="020B0604020202020204" pitchFamily="34" charset="0"/>
                        <a:buNone/>
                      </a:pPr>
                      <a:r>
                        <a:rPr lang="zh-CN" altLang="en-US" b="1" kern="0" dirty="0">
                          <a:solidFill>
                            <a:srgbClr val="002060"/>
                          </a:solidFill>
                          <a:latin typeface="Microsoft JhengHei" panose="020B0604030504040204" pitchFamily="34" charset="-120"/>
                        </a:rPr>
                        <a:t>运用</a:t>
                      </a:r>
                      <a:r>
                        <a:rPr lang="en-US" altLang="zh-CN" b="1" kern="0" dirty="0">
                          <a:solidFill>
                            <a:srgbClr val="002060"/>
                          </a:solidFill>
                          <a:latin typeface="Microsoft JhengHei" panose="020B0604030504040204" pitchFamily="34" charset="-120"/>
                        </a:rPr>
                        <a:t>D-W</a:t>
                      </a:r>
                      <a:r>
                        <a:rPr lang="zh-CN" altLang="en-US" b="1" kern="0" dirty="0">
                          <a:solidFill>
                            <a:srgbClr val="002060"/>
                          </a:solidFill>
                          <a:latin typeface="Microsoft JhengHei" panose="020B0604030504040204" pitchFamily="34" charset="-120"/>
                        </a:rPr>
                        <a:t>分解方法以及单纯形法特点将问题分解为适合计算的主问题和子问题，通过主问题传递对偶信息进行迭</a:t>
                      </a:r>
                      <a:endParaRPr lang="en-US" altLang="zh-CN" b="1" kern="0" dirty="0">
                        <a:solidFill>
                          <a:srgbClr val="002060"/>
                        </a:solidFill>
                        <a:latin typeface="Microsoft JhengHei" panose="020B0604030504040204" pitchFamily="34" charset="-120"/>
                      </a:endParaRPr>
                    </a:p>
                    <a:p>
                      <a:pPr marL="0" indent="0" algn="l">
                        <a:lnSpc>
                          <a:spcPct val="150000"/>
                        </a:lnSpc>
                        <a:buFont typeface="Arial" panose="020B0604020202020204" pitchFamily="34" charset="0"/>
                        <a:buNone/>
                      </a:pPr>
                      <a:r>
                        <a:rPr lang="en-US" altLang="zh-CN" b="1" kern="0" baseline="0" dirty="0">
                          <a:solidFill>
                            <a:srgbClr val="002060"/>
                          </a:solidFill>
                          <a:latin typeface="Microsoft JhengHei" panose="020B0604030504040204" pitchFamily="34" charset="-120"/>
                        </a:rPr>
                        <a:t> </a:t>
                      </a:r>
                      <a:r>
                        <a:rPr lang="zh-CN" altLang="en-US" b="1" kern="0" dirty="0">
                          <a:solidFill>
                            <a:srgbClr val="002060"/>
                          </a:solidFill>
                          <a:latin typeface="Microsoft JhengHei" panose="020B0604030504040204" pitchFamily="34" charset="-120"/>
                        </a:rPr>
                        <a:t>代计算。</a:t>
                      </a:r>
                      <a:endParaRPr lang="en-US" altLang="zh-CN" b="1" kern="0" dirty="0">
                        <a:solidFill>
                          <a:srgbClr val="002060"/>
                        </a:solidFill>
                        <a:latin typeface="Microsoft JhengHei" panose="020B0604030504040204" pitchFamily="34" charset="-120"/>
                      </a:endParaRPr>
                    </a:p>
                    <a:p>
                      <a:pPr algn="l"/>
                      <a:endParaRPr lang="zh-CN" altLang="en-US" sz="1800" b="0" dirty="0">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1"/>
                  </a:ext>
                </a:extLst>
              </a:tr>
              <a:tr h="1627248">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lvl="0"/>
                      <a:endParaRPr lang="en-US" altLang="zh-CN" sz="1800" b="0" i="0" u="none" strike="noStrike" kern="1200" dirty="0">
                        <a:solidFill>
                          <a:schemeClr val="dk1"/>
                        </a:solidFill>
                        <a:latin typeface="Times New Roman" pitchFamily="18" charset="0"/>
                        <a:ea typeface="+mn-ea"/>
                        <a:cs typeface="Times New Roman" pitchFamily="18" charset="0"/>
                      </a:endParaRPr>
                    </a:p>
                    <a:p>
                      <a:pPr lvl="0"/>
                      <a:r>
                        <a:rPr lang="en-US" altLang="zh-CN" sz="1800" b="0" i="0" u="none" strike="noStrike" kern="1200" dirty="0">
                          <a:solidFill>
                            <a:schemeClr val="dk1"/>
                          </a:solidFill>
                          <a:latin typeface="Times New Roman" pitchFamily="18" charset="0"/>
                          <a:ea typeface="+mn-ea"/>
                          <a:cs typeface="Times New Roman" pitchFamily="18" charset="0"/>
                        </a:rPr>
                        <a:t>Jin M, Liu K, </a:t>
                      </a:r>
                      <a:r>
                        <a:rPr lang="en-US" altLang="zh-CN" sz="1800" b="0" i="0" u="none" strike="noStrike" kern="1200" dirty="0" err="1">
                          <a:solidFill>
                            <a:schemeClr val="dk1"/>
                          </a:solidFill>
                          <a:latin typeface="Times New Roman" pitchFamily="18" charset="0"/>
                          <a:ea typeface="+mn-ea"/>
                          <a:cs typeface="Times New Roman" pitchFamily="18" charset="0"/>
                        </a:rPr>
                        <a:t>Eksioglu</a:t>
                      </a:r>
                      <a:r>
                        <a:rPr lang="en-US" altLang="zh-CN" sz="1800" b="0" i="0" u="none" strike="noStrike" kern="1200" dirty="0">
                          <a:solidFill>
                            <a:schemeClr val="dk1"/>
                          </a:solidFill>
                          <a:latin typeface="Times New Roman" pitchFamily="18" charset="0"/>
                          <a:ea typeface="+mn-ea"/>
                          <a:cs typeface="Times New Roman" pitchFamily="18" charset="0"/>
                        </a:rPr>
                        <a:t> B. A column generation approach for the split delivery vehicle routing problem[J]. Operations Research Letters, 2011, 58(4):265-270.</a:t>
                      </a:r>
                      <a:endParaRPr lang="zh-CN" altLang="zh-CN" sz="1800" kern="1200" dirty="0">
                        <a:solidFill>
                          <a:schemeClr val="dk1"/>
                        </a:solidFill>
                        <a:effectLst/>
                        <a:latin typeface="Times New Roman" pitchFamily="18" charset="0"/>
                        <a:ea typeface="+mn-ea"/>
                        <a:cs typeface="Times New Roman" pitchFamily="18" charset="0"/>
                      </a:endParaRPr>
                    </a:p>
                  </a:txBody>
                  <a:tcPr marL="91439" marR="91439"/>
                </a:tc>
                <a:tc vMerge="1">
                  <a:txBody>
                    <a:bodyPr/>
                    <a:lstStyle/>
                    <a:p>
                      <a:pPr algn="l"/>
                      <a:endParaRPr lang="zh-CN" altLang="en-US" sz="1800" b="0" kern="1200" dirty="0">
                        <a:solidFill>
                          <a:schemeClr val="dk1"/>
                        </a:solidFill>
                        <a:latin typeface="Times New Roman" pitchFamily="18" charset="0"/>
                        <a:ea typeface="+mn-ea"/>
                        <a:cs typeface="Times New Roman" pitchFamily="18" charset="0"/>
                      </a:endParaRPr>
                    </a:p>
                  </a:txBody>
                  <a:tcPr marL="91439" marR="91439"/>
                </a:tc>
                <a:extLst>
                  <a:ext uri="{0D108BD9-81ED-4DB2-BD59-A6C34878D82A}">
                    <a16:rowId xmlns:a16="http://schemas.microsoft.com/office/drawing/2014/main" val="10002"/>
                  </a:ext>
                </a:extLst>
              </a:tr>
              <a:tr h="1452052">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marL="0" algn="l" defTabSz="914400" rtl="0" eaLnBrk="1" latinLnBrk="0" hangingPunct="1"/>
                      <a:r>
                        <a:rPr lang="en-US" altLang="zh-CN" sz="1800" b="0" i="0" u="none" strike="noStrike" kern="1200" dirty="0" err="1">
                          <a:solidFill>
                            <a:schemeClr val="dk1"/>
                          </a:solidFill>
                          <a:latin typeface="Times New Roman" pitchFamily="18" charset="0"/>
                          <a:ea typeface="+mn-ea"/>
                          <a:cs typeface="Times New Roman" pitchFamily="18" charset="0"/>
                        </a:rPr>
                        <a:t>Jaumard</a:t>
                      </a:r>
                      <a:r>
                        <a:rPr lang="en-US" altLang="zh-CN" sz="1800" b="0" i="0" u="none" strike="noStrike" kern="1200" dirty="0">
                          <a:solidFill>
                            <a:schemeClr val="dk1"/>
                          </a:solidFill>
                          <a:latin typeface="Times New Roman" pitchFamily="18" charset="0"/>
                          <a:ea typeface="+mn-ea"/>
                          <a:cs typeface="Times New Roman" pitchFamily="18" charset="0"/>
                        </a:rPr>
                        <a:t> B, Hansen P, De </a:t>
                      </a:r>
                      <a:r>
                        <a:rPr lang="en-US" altLang="zh-CN" sz="1800" b="0" i="0" u="none" strike="noStrike" kern="1200" dirty="0" err="1">
                          <a:solidFill>
                            <a:schemeClr val="dk1"/>
                          </a:solidFill>
                          <a:latin typeface="Times New Roman" pitchFamily="18" charset="0"/>
                          <a:ea typeface="+mn-ea"/>
                          <a:cs typeface="Times New Roman" pitchFamily="18" charset="0"/>
                        </a:rPr>
                        <a:t>Aragao</a:t>
                      </a:r>
                      <a:r>
                        <a:rPr lang="en-US" altLang="zh-CN" sz="1800" b="0" i="0" u="none" strike="noStrike" kern="1200" dirty="0">
                          <a:solidFill>
                            <a:schemeClr val="dk1"/>
                          </a:solidFill>
                          <a:latin typeface="Times New Roman" pitchFamily="18" charset="0"/>
                          <a:ea typeface="+mn-ea"/>
                          <a:cs typeface="Times New Roman" pitchFamily="18" charset="0"/>
                        </a:rPr>
                        <a:t> M P. Column Generation Methods for Probabilistic Logic[J]. </a:t>
                      </a:r>
                      <a:r>
                        <a:rPr lang="en-US" altLang="zh-CN" sz="1800" b="0" i="0" u="none" strike="noStrike" kern="1200" dirty="0" err="1">
                          <a:solidFill>
                            <a:schemeClr val="dk1"/>
                          </a:solidFill>
                          <a:latin typeface="Times New Roman" pitchFamily="18" charset="0"/>
                          <a:ea typeface="+mn-ea"/>
                          <a:cs typeface="Times New Roman" pitchFamily="18" charset="0"/>
                        </a:rPr>
                        <a:t>Orsa</a:t>
                      </a:r>
                      <a:r>
                        <a:rPr lang="en-US" altLang="zh-CN" sz="1800" b="0" i="0" u="none" strike="noStrike" kern="1200" dirty="0">
                          <a:solidFill>
                            <a:schemeClr val="dk1"/>
                          </a:solidFill>
                          <a:latin typeface="Times New Roman" pitchFamily="18" charset="0"/>
                          <a:ea typeface="+mn-ea"/>
                          <a:cs typeface="Times New Roman" pitchFamily="18" charset="0"/>
                        </a:rPr>
                        <a:t> Journal on Computing, 2017, 3(3):313-331.</a:t>
                      </a:r>
                      <a:endParaRPr lang="zh-CN" altLang="en-US" sz="1800" b="1" kern="1200" dirty="0">
                        <a:solidFill>
                          <a:schemeClr val="dk1"/>
                        </a:solidFill>
                        <a:latin typeface="Times New Roman" pitchFamily="18" charset="0"/>
                        <a:ea typeface="+mn-ea"/>
                        <a:cs typeface="Times New Roman" pitchFamily="18" charset="0"/>
                      </a:endParaRPr>
                    </a:p>
                  </a:txBody>
                  <a:tcPr marL="91439" marR="91439"/>
                </a:tc>
                <a:tc vMerge="1">
                  <a:txBody>
                    <a:bodyPr/>
                    <a:lstStyle/>
                    <a:p>
                      <a:pPr algn="l"/>
                      <a:endParaRPr kumimoji="0" lang="zh-CN" altLang="en-US" sz="1800" b="0" kern="1200" dirty="0">
                        <a:solidFill>
                          <a:schemeClr val="dk1"/>
                        </a:solidFill>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3"/>
                  </a:ext>
                </a:extLst>
              </a:tr>
            </a:tbl>
          </a:graphicData>
        </a:graphic>
      </p:graphicFrame>
      <p:sp>
        <p:nvSpPr>
          <p:cNvPr id="4" name="Text Box 19">
            <a:extLst>
              <a:ext uri="{FF2B5EF4-FFF2-40B4-BE49-F238E27FC236}">
                <a16:creationId xmlns:a16="http://schemas.microsoft.com/office/drawing/2014/main" id="{6DEBD73D-5717-4C73-8BDC-22D2FB76B4B7}"/>
              </a:ext>
            </a:extLst>
          </p:cNvPr>
          <p:cNvSpPr txBox="1">
            <a:spLocks noChangeArrowheads="1"/>
          </p:cNvSpPr>
          <p:nvPr/>
        </p:nvSpPr>
        <p:spPr bwMode="auto">
          <a:xfrm>
            <a:off x="34924" y="6418263"/>
            <a:ext cx="2736875"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extLst>
      <p:ext uri="{BB962C8B-B14F-4D97-AF65-F5344CB8AC3E}">
        <p14:creationId xmlns:p14="http://schemas.microsoft.com/office/powerpoint/2010/main" val="2664735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B317E997-1695-444F-BA83-E24FA535DDB4}"/>
              </a:ext>
            </a:extLst>
          </p:cNvPr>
          <p:cNvGraphicFramePr>
            <a:graphicFrameLocks noGrp="1"/>
          </p:cNvGraphicFramePr>
          <p:nvPr>
            <p:extLst>
              <p:ext uri="{D42A27DB-BD31-4B8C-83A1-F6EECF244321}">
                <p14:modId xmlns:p14="http://schemas.microsoft.com/office/powerpoint/2010/main" val="2369175568"/>
              </p:ext>
            </p:extLst>
          </p:nvPr>
        </p:nvGraphicFramePr>
        <p:xfrm>
          <a:off x="107504" y="1052736"/>
          <a:ext cx="9000999" cy="5052452"/>
        </p:xfrm>
        <a:graphic>
          <a:graphicData uri="http://schemas.openxmlformats.org/drawingml/2006/table">
            <a:tbl>
              <a:tblPr firstRow="1" bandRow="1">
                <a:tableStyleId>{21E4AEA4-8DFA-4A89-87EB-49C32662AFE0}</a:tableStyleId>
              </a:tblPr>
              <a:tblGrid>
                <a:gridCol w="1224136">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gridCol w="2016223">
                  <a:extLst>
                    <a:ext uri="{9D8B030D-6E8A-4147-A177-3AD203B41FA5}">
                      <a16:colId xmlns:a16="http://schemas.microsoft.com/office/drawing/2014/main" val="20002"/>
                    </a:ext>
                  </a:extLst>
                </a:gridCol>
              </a:tblGrid>
              <a:tr h="469771">
                <a:tc>
                  <a:txBody>
                    <a:bodyPr/>
                    <a:lstStyle/>
                    <a:p>
                      <a:pPr algn="ctr"/>
                      <a:r>
                        <a:rPr lang="zh-CN" altLang="en-US" sz="1800" b="1" dirty="0">
                          <a:latin typeface="Times New Roman" pitchFamily="18" charset="0"/>
                          <a:ea typeface="+mj-ea"/>
                          <a:cs typeface="Times New Roman" pitchFamily="18" charset="0"/>
                        </a:rPr>
                        <a:t>方法</a:t>
                      </a:r>
                    </a:p>
                  </a:txBody>
                  <a:tcPr marL="91439" marR="91439"/>
                </a:tc>
                <a:tc>
                  <a:txBody>
                    <a:bodyPr/>
                    <a:lstStyle/>
                    <a:p>
                      <a:pPr algn="ctr"/>
                      <a:r>
                        <a:rPr lang="zh-CN" altLang="en-US" sz="1800" b="1" dirty="0">
                          <a:latin typeface="Times New Roman" pitchFamily="18" charset="0"/>
                          <a:ea typeface="+mj-ea"/>
                          <a:cs typeface="Times New Roman" pitchFamily="18" charset="0"/>
                        </a:rPr>
                        <a:t>作者、文献名</a:t>
                      </a:r>
                    </a:p>
                  </a:txBody>
                  <a:tcPr marL="91439" marR="91439"/>
                </a:tc>
                <a:tc>
                  <a:txBody>
                    <a:bodyPr/>
                    <a:lstStyle/>
                    <a:p>
                      <a:pPr algn="ctr"/>
                      <a:r>
                        <a:rPr lang="zh-CN" altLang="en-US" sz="1800" b="1" dirty="0">
                          <a:latin typeface="Times New Roman" pitchFamily="18" charset="0"/>
                          <a:ea typeface="+mj-ea"/>
                          <a:cs typeface="Times New Roman" pitchFamily="18" charset="0"/>
                        </a:rPr>
                        <a:t>特点</a:t>
                      </a:r>
                    </a:p>
                  </a:txBody>
                  <a:tcPr marL="91439" marR="91439"/>
                </a:tc>
                <a:extLst>
                  <a:ext uri="{0D108BD9-81ED-4DB2-BD59-A6C34878D82A}">
                    <a16:rowId xmlns:a16="http://schemas.microsoft.com/office/drawing/2014/main" val="10000"/>
                  </a:ext>
                </a:extLst>
              </a:tr>
              <a:tr h="1215349">
                <a:tc rowSpan="3">
                  <a:txBody>
                    <a:bodyPr/>
                    <a:lstStyle/>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r>
                        <a:rPr lang="zh-CN" altLang="en-US" sz="1800" b="0" dirty="0">
                          <a:latin typeface="+mn-ea"/>
                          <a:ea typeface="+mn-ea"/>
                          <a:cs typeface="Times New Roman" pitchFamily="18" charset="0"/>
                        </a:rPr>
                        <a:t>分支定价</a:t>
                      </a:r>
                    </a:p>
                  </a:txBody>
                  <a:tcPr marL="91439" marR="91439"/>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800" kern="1200" dirty="0">
                          <a:solidFill>
                            <a:schemeClr val="dk1"/>
                          </a:solidFill>
                          <a:latin typeface="Times New Roman" pitchFamily="18" charset="0"/>
                          <a:ea typeface="+mn-ea"/>
                          <a:cs typeface="Times New Roman" pitchFamily="18" charset="0"/>
                        </a:rPr>
                        <a:t>Martin </a:t>
                      </a:r>
                      <a:r>
                        <a:rPr lang="en-US" altLang="zh-CN" sz="1800" kern="1200" dirty="0" err="1">
                          <a:solidFill>
                            <a:schemeClr val="dk1"/>
                          </a:solidFill>
                          <a:latin typeface="Times New Roman" pitchFamily="18" charset="0"/>
                          <a:ea typeface="+mn-ea"/>
                          <a:cs typeface="Times New Roman" pitchFamily="18" charset="0"/>
                        </a:rPr>
                        <a:t>Savelsbergh</a:t>
                      </a:r>
                      <a:r>
                        <a:rPr lang="en-US" altLang="zh-CN" sz="1800" kern="1200" dirty="0">
                          <a:solidFill>
                            <a:schemeClr val="dk1"/>
                          </a:solidFill>
                          <a:latin typeface="Times New Roman" pitchFamily="18" charset="0"/>
                          <a:ea typeface="+mn-ea"/>
                          <a:cs typeface="Times New Roman" pitchFamily="18" charset="0"/>
                        </a:rPr>
                        <a:t>, A Branch-and-Price Algorithm for The Generalized Assignment Problem, Operations Research, Vol. 45(6), 831-841, 1997.</a:t>
                      </a:r>
                      <a:endParaRPr lang="zh-CN" altLang="zh-CN" sz="1800" kern="1200" dirty="0">
                        <a:solidFill>
                          <a:schemeClr val="dk1"/>
                        </a:solidFill>
                        <a:latin typeface="Times New Roman" pitchFamily="18" charset="0"/>
                        <a:ea typeface="+mn-ea"/>
                        <a:cs typeface="Times New Roman" pitchFamily="18" charset="0"/>
                      </a:endParaRPr>
                    </a:p>
                    <a:p>
                      <a:pPr>
                        <a:lnSpc>
                          <a:spcPct val="150000"/>
                        </a:lnSpc>
                      </a:pPr>
                      <a:endParaRPr lang="en-US" altLang="zh-C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9" marR="91439"/>
                </a:tc>
                <a:tc rowSpan="3">
                  <a:txBody>
                    <a:bodyPr/>
                    <a:lstStyle/>
                    <a:p>
                      <a:pPr marL="285750" indent="-285750" algn="just">
                        <a:lnSpc>
                          <a:spcPct val="150000"/>
                        </a:lnSpc>
                        <a:buFont typeface="Arial" panose="020B0604020202020204" pitchFamily="34" charset="0"/>
                        <a:buNone/>
                      </a:pPr>
                      <a:r>
                        <a:rPr lang="zh-CN" altLang="en-US" b="1" kern="0" dirty="0">
                          <a:solidFill>
                            <a:srgbClr val="002060"/>
                          </a:solidFill>
                          <a:latin typeface="Microsoft JhengHei" panose="020B0604030504040204" pitchFamily="34" charset="-120"/>
                        </a:rPr>
                        <a:t>    </a:t>
                      </a:r>
                      <a:endParaRPr lang="en-US" altLang="zh-CN" b="1" kern="0" dirty="0">
                        <a:solidFill>
                          <a:srgbClr val="002060"/>
                        </a:solidFill>
                        <a:latin typeface="Microsoft JhengHei" panose="020B0604030504040204" pitchFamily="34" charset="-120"/>
                      </a:endParaRPr>
                    </a:p>
                    <a:p>
                      <a:pPr marL="285750" indent="-285750" algn="l">
                        <a:lnSpc>
                          <a:spcPct val="150000"/>
                        </a:lnSpc>
                        <a:buFont typeface="Arial" panose="020B0604020202020204" pitchFamily="34" charset="0"/>
                        <a:buNone/>
                      </a:pPr>
                      <a:r>
                        <a:rPr lang="en-US" altLang="zh-CN" b="1" kern="0" baseline="0" dirty="0">
                          <a:solidFill>
                            <a:srgbClr val="002060"/>
                          </a:solidFill>
                          <a:latin typeface="Microsoft JhengHei" panose="020B0604030504040204" pitchFamily="34" charset="-120"/>
                        </a:rPr>
                        <a:t>     </a:t>
                      </a:r>
                      <a:r>
                        <a:rPr lang="zh-CN" altLang="en-US" b="1" kern="0" dirty="0">
                          <a:solidFill>
                            <a:srgbClr val="002060"/>
                          </a:solidFill>
                          <a:latin typeface="Microsoft JhengHei" panose="020B0604030504040204" pitchFamily="34" charset="-120"/>
                        </a:rPr>
                        <a:t>划分解空间为小的子集，称为分支；并且在划分的子集内计算目标下界，超过当前最优解的子集不予考虑，此为剪枝。</a:t>
                      </a:r>
                      <a:endParaRPr lang="en-US" altLang="zh-CN" b="1" kern="0" dirty="0">
                        <a:solidFill>
                          <a:srgbClr val="002060"/>
                        </a:solidFill>
                        <a:latin typeface="Microsoft JhengHei" panose="020B0604030504040204" pitchFamily="34" charset="-120"/>
                      </a:endParaRPr>
                    </a:p>
                    <a:p>
                      <a:pPr algn="l"/>
                      <a:endParaRPr lang="zh-CN" altLang="en-US" sz="1800" b="0" dirty="0">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1"/>
                  </a:ext>
                </a:extLst>
              </a:tr>
              <a:tr h="1442545">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lvl="0"/>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Cynthia Barnhart, Ellis L. Johnson, George L. </a:t>
                      </a:r>
                      <a:r>
                        <a:rPr lang="en-US" altLang="zh-CN" sz="1800" kern="1200" dirty="0" err="1">
                          <a:solidFill>
                            <a:schemeClr val="dk1"/>
                          </a:solidFill>
                          <a:effectLst/>
                          <a:latin typeface="Times New Roman" panose="02020603050405020304" pitchFamily="18" charset="0"/>
                          <a:ea typeface="+mn-ea"/>
                          <a:cs typeface="Times New Roman" panose="02020603050405020304" pitchFamily="18" charset="0"/>
                        </a:rPr>
                        <a:t>Nemhauser</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 Martin W. P. </a:t>
                      </a:r>
                      <a:r>
                        <a:rPr lang="en-US" altLang="zh-CN" sz="1800" kern="1200" dirty="0" err="1">
                          <a:solidFill>
                            <a:schemeClr val="dk1"/>
                          </a:solidFill>
                          <a:effectLst/>
                          <a:latin typeface="Times New Roman" panose="02020603050405020304" pitchFamily="18" charset="0"/>
                          <a:ea typeface="+mn-ea"/>
                          <a:cs typeface="Times New Roman" panose="02020603050405020304" pitchFamily="18" charset="0"/>
                        </a:rPr>
                        <a:t>Savelsbergh</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 and Pamela H. Vance, Branch-and-Price: Column Generation for Solving Huge Integer Programs, Operations Research, Vol. 46(3), 316-329, 1998</a:t>
                      </a:r>
                      <a:r>
                        <a:rPr lang="en-US" altLang="zh-CN" sz="1800" kern="1200" dirty="0">
                          <a:solidFill>
                            <a:schemeClr val="dk1"/>
                          </a:solidFill>
                          <a:effectLst/>
                          <a:latin typeface="+mn-lt"/>
                          <a:ea typeface="+mn-ea"/>
                          <a:cs typeface="+mn-cs"/>
                        </a:rPr>
                        <a:t>.</a:t>
                      </a:r>
                      <a:endParaRPr lang="zh-CN" altLang="zh-CN" sz="1800" kern="1200" dirty="0">
                        <a:solidFill>
                          <a:schemeClr val="dk1"/>
                        </a:solidFill>
                        <a:effectLst/>
                        <a:latin typeface="+mn-lt"/>
                        <a:ea typeface="+mn-ea"/>
                        <a:cs typeface="+mn-cs"/>
                      </a:endParaRPr>
                    </a:p>
                  </a:txBody>
                  <a:tcPr marL="91439" marR="91439"/>
                </a:tc>
                <a:tc vMerge="1">
                  <a:txBody>
                    <a:bodyPr/>
                    <a:lstStyle/>
                    <a:p>
                      <a:pPr algn="l"/>
                      <a:endParaRPr lang="zh-CN" altLang="en-US" sz="1800" b="0" kern="1200" dirty="0">
                        <a:solidFill>
                          <a:schemeClr val="dk1"/>
                        </a:solidFill>
                        <a:latin typeface="Times New Roman" pitchFamily="18" charset="0"/>
                        <a:ea typeface="+mn-ea"/>
                        <a:cs typeface="Times New Roman" pitchFamily="18" charset="0"/>
                      </a:endParaRPr>
                    </a:p>
                  </a:txBody>
                  <a:tcPr marL="91439" marR="91439"/>
                </a:tc>
                <a:extLst>
                  <a:ext uri="{0D108BD9-81ED-4DB2-BD59-A6C34878D82A}">
                    <a16:rowId xmlns:a16="http://schemas.microsoft.com/office/drawing/2014/main" val="10002"/>
                  </a:ext>
                </a:extLst>
              </a:tr>
              <a:tr h="1452052">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marL="0" algn="l" defTabSz="914400" rtl="0" eaLnBrk="1" latinLnBrk="0" hangingPunct="1"/>
                      <a:r>
                        <a:rPr lang="en-US" altLang="zh-CN" sz="1800" b="0" i="0" u="none" strike="noStrike" kern="1200" dirty="0" err="1">
                          <a:solidFill>
                            <a:schemeClr val="dk1"/>
                          </a:solidFill>
                          <a:latin typeface="Times New Roman" pitchFamily="18" charset="0"/>
                          <a:ea typeface="+mn-ea"/>
                          <a:cs typeface="Times New Roman" pitchFamily="18" charset="0"/>
                        </a:rPr>
                        <a:t>Ceselli</a:t>
                      </a:r>
                      <a:r>
                        <a:rPr lang="en-US" altLang="zh-CN" sz="1800" b="0" i="0" u="none" strike="noStrike" kern="1200" dirty="0">
                          <a:solidFill>
                            <a:schemeClr val="dk1"/>
                          </a:solidFill>
                          <a:latin typeface="Times New Roman" pitchFamily="18" charset="0"/>
                          <a:ea typeface="+mn-ea"/>
                          <a:cs typeface="Times New Roman" pitchFamily="18" charset="0"/>
                        </a:rPr>
                        <a:t> A, </a:t>
                      </a:r>
                      <a:r>
                        <a:rPr lang="en-US" altLang="zh-CN" sz="1800" b="0" i="0" u="none" strike="noStrike" kern="1200" dirty="0" err="1">
                          <a:solidFill>
                            <a:schemeClr val="dk1"/>
                          </a:solidFill>
                          <a:latin typeface="Times New Roman" pitchFamily="18" charset="0"/>
                          <a:ea typeface="+mn-ea"/>
                          <a:cs typeface="Times New Roman" pitchFamily="18" charset="0"/>
                        </a:rPr>
                        <a:t>Righini</a:t>
                      </a:r>
                      <a:r>
                        <a:rPr lang="en-US" altLang="zh-CN" sz="1800" b="0" i="0" u="none" strike="noStrike" kern="1200" dirty="0">
                          <a:solidFill>
                            <a:schemeClr val="dk1"/>
                          </a:solidFill>
                          <a:latin typeface="Times New Roman" pitchFamily="18" charset="0"/>
                          <a:ea typeface="+mn-ea"/>
                          <a:cs typeface="Times New Roman" pitchFamily="18" charset="0"/>
                        </a:rPr>
                        <a:t> G. A Branch-and-Price Algorithm for the Multilevel Generalized Assignment Problem[J]. Operations Research, 2006, 54(6):1172-1184.</a:t>
                      </a:r>
                      <a:endParaRPr lang="zh-CN" altLang="en-US" sz="1800" b="1" kern="1200" dirty="0">
                        <a:solidFill>
                          <a:schemeClr val="dk1"/>
                        </a:solidFill>
                        <a:latin typeface="Times New Roman" pitchFamily="18" charset="0"/>
                        <a:ea typeface="+mn-ea"/>
                        <a:cs typeface="Times New Roman" pitchFamily="18" charset="0"/>
                      </a:endParaRPr>
                    </a:p>
                  </a:txBody>
                  <a:tcPr marL="91439" marR="91439"/>
                </a:tc>
                <a:tc vMerge="1">
                  <a:txBody>
                    <a:bodyPr/>
                    <a:lstStyle/>
                    <a:p>
                      <a:pPr algn="l"/>
                      <a:endParaRPr kumimoji="0" lang="zh-CN" altLang="en-US" sz="1800" b="0" kern="1200" dirty="0">
                        <a:solidFill>
                          <a:schemeClr val="dk1"/>
                        </a:solidFill>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3"/>
                  </a:ext>
                </a:extLst>
              </a:tr>
            </a:tbl>
          </a:graphicData>
        </a:graphic>
      </p:graphicFrame>
      <p:sp>
        <p:nvSpPr>
          <p:cNvPr id="3" name="TextBox 3">
            <a:extLst>
              <a:ext uri="{FF2B5EF4-FFF2-40B4-BE49-F238E27FC236}">
                <a16:creationId xmlns:a16="http://schemas.microsoft.com/office/drawing/2014/main" id="{1EE22E14-0DAD-4133-937C-F462772A2988}"/>
              </a:ext>
            </a:extLst>
          </p:cNvPr>
          <p:cNvSpPr txBox="1">
            <a:spLocks noChangeArrowheads="1"/>
          </p:cNvSpPr>
          <p:nvPr/>
        </p:nvSpPr>
        <p:spPr bwMode="auto">
          <a:xfrm>
            <a:off x="7013003" y="116632"/>
            <a:ext cx="209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3</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、文献综述</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4" name="Text Box 19">
            <a:extLst>
              <a:ext uri="{FF2B5EF4-FFF2-40B4-BE49-F238E27FC236}">
                <a16:creationId xmlns:a16="http://schemas.microsoft.com/office/drawing/2014/main" id="{1B66E792-0B63-4A8A-B738-51A221DA27CC}"/>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extLst>
      <p:ext uri="{BB962C8B-B14F-4D97-AF65-F5344CB8AC3E}">
        <p14:creationId xmlns:p14="http://schemas.microsoft.com/office/powerpoint/2010/main" val="2941450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B317E997-1695-444F-BA83-E24FA535DDB4}"/>
              </a:ext>
            </a:extLst>
          </p:cNvPr>
          <p:cNvGraphicFramePr>
            <a:graphicFrameLocks noGrp="1"/>
          </p:cNvGraphicFramePr>
          <p:nvPr>
            <p:extLst>
              <p:ext uri="{D42A27DB-BD31-4B8C-83A1-F6EECF244321}">
                <p14:modId xmlns:p14="http://schemas.microsoft.com/office/powerpoint/2010/main" val="2150154108"/>
              </p:ext>
            </p:extLst>
          </p:nvPr>
        </p:nvGraphicFramePr>
        <p:xfrm>
          <a:off x="107505" y="1040844"/>
          <a:ext cx="9000999" cy="5124460"/>
        </p:xfrm>
        <a:graphic>
          <a:graphicData uri="http://schemas.openxmlformats.org/drawingml/2006/table">
            <a:tbl>
              <a:tblPr firstRow="1" bandRow="1">
                <a:tableStyleId>{21E4AEA4-8DFA-4A89-87EB-49C32662AFE0}</a:tableStyleId>
              </a:tblPr>
              <a:tblGrid>
                <a:gridCol w="1224136">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gridCol w="2016223">
                  <a:extLst>
                    <a:ext uri="{9D8B030D-6E8A-4147-A177-3AD203B41FA5}">
                      <a16:colId xmlns:a16="http://schemas.microsoft.com/office/drawing/2014/main" val="20002"/>
                    </a:ext>
                  </a:extLst>
                </a:gridCol>
              </a:tblGrid>
              <a:tr h="469771">
                <a:tc>
                  <a:txBody>
                    <a:bodyPr/>
                    <a:lstStyle/>
                    <a:p>
                      <a:pPr algn="ctr"/>
                      <a:r>
                        <a:rPr lang="zh-CN" altLang="en-US" sz="1800" b="1" dirty="0">
                          <a:latin typeface="Times New Roman" pitchFamily="18" charset="0"/>
                          <a:ea typeface="+mj-ea"/>
                          <a:cs typeface="Times New Roman" pitchFamily="18" charset="0"/>
                        </a:rPr>
                        <a:t>方法</a:t>
                      </a:r>
                    </a:p>
                  </a:txBody>
                  <a:tcPr marL="91439" marR="91439"/>
                </a:tc>
                <a:tc>
                  <a:txBody>
                    <a:bodyPr/>
                    <a:lstStyle/>
                    <a:p>
                      <a:pPr algn="ctr"/>
                      <a:r>
                        <a:rPr lang="zh-CN" altLang="en-US" sz="1800" b="1" dirty="0">
                          <a:latin typeface="Times New Roman" pitchFamily="18" charset="0"/>
                          <a:ea typeface="+mj-ea"/>
                          <a:cs typeface="Times New Roman" pitchFamily="18" charset="0"/>
                        </a:rPr>
                        <a:t>作者、文献名</a:t>
                      </a:r>
                    </a:p>
                  </a:txBody>
                  <a:tcPr marL="91439" marR="91439"/>
                </a:tc>
                <a:tc>
                  <a:txBody>
                    <a:bodyPr/>
                    <a:lstStyle/>
                    <a:p>
                      <a:pPr algn="ctr"/>
                      <a:r>
                        <a:rPr lang="zh-CN" altLang="en-US" sz="1800" b="1" dirty="0">
                          <a:latin typeface="Times New Roman" pitchFamily="18" charset="0"/>
                          <a:ea typeface="+mj-ea"/>
                          <a:cs typeface="Times New Roman" pitchFamily="18" charset="0"/>
                        </a:rPr>
                        <a:t>特点</a:t>
                      </a:r>
                    </a:p>
                  </a:txBody>
                  <a:tcPr marL="91439" marR="91439"/>
                </a:tc>
                <a:extLst>
                  <a:ext uri="{0D108BD9-81ED-4DB2-BD59-A6C34878D82A}">
                    <a16:rowId xmlns:a16="http://schemas.microsoft.com/office/drawing/2014/main" val="10000"/>
                  </a:ext>
                </a:extLst>
              </a:tr>
              <a:tr h="1215349">
                <a:tc rowSpan="3">
                  <a:txBody>
                    <a:bodyPr/>
                    <a:lstStyle/>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mn-ea"/>
                        <a:ea typeface="+mn-ea"/>
                        <a:cs typeface="Times New Roman" pitchFamily="18" charset="0"/>
                      </a:endParaRPr>
                    </a:p>
                    <a:p>
                      <a:pPr algn="ctr"/>
                      <a:endParaRPr lang="en-US" altLang="zh-CN" sz="1800" b="0" dirty="0">
                        <a:latin typeface="Times New Roman" pitchFamily="18" charset="0"/>
                        <a:ea typeface="+mn-ea"/>
                        <a:cs typeface="Times New Roman" pitchFamily="18" charset="0"/>
                      </a:endParaRPr>
                    </a:p>
                    <a:p>
                      <a:pPr algn="ctr"/>
                      <a:r>
                        <a:rPr lang="en-US" altLang="zh-CN" sz="1800" dirty="0">
                          <a:latin typeface="Times New Roman" pitchFamily="18" charset="0"/>
                          <a:cs typeface="Times New Roman" pitchFamily="18" charset="0"/>
                        </a:rPr>
                        <a:t>Benders</a:t>
                      </a:r>
                      <a:endParaRPr lang="zh-CN" altLang="en-US" sz="1800" dirty="0">
                        <a:latin typeface="Times New Roman" pitchFamily="18" charset="0"/>
                        <a:cs typeface="Times New Roman" pitchFamily="18" charset="0"/>
                      </a:endParaRPr>
                    </a:p>
                  </a:txBody>
                  <a:tcPr marL="91439" marR="91439"/>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800" b="0" i="0" u="none" strike="noStrike" kern="1200" dirty="0">
                          <a:solidFill>
                            <a:schemeClr val="dk1"/>
                          </a:solidFill>
                          <a:latin typeface="Times New Roman" pitchFamily="18" charset="0"/>
                          <a:ea typeface="+mn-ea"/>
                          <a:cs typeface="Times New Roman" pitchFamily="18" charset="0"/>
                        </a:rPr>
                        <a:t>Tang L, Jiang W, </a:t>
                      </a:r>
                      <a:r>
                        <a:rPr lang="en-US" altLang="zh-CN" sz="1800" b="0" i="0" u="none" strike="noStrike" kern="1200" dirty="0" err="1">
                          <a:solidFill>
                            <a:schemeClr val="dk1"/>
                          </a:solidFill>
                          <a:latin typeface="Times New Roman" pitchFamily="18" charset="0"/>
                          <a:ea typeface="+mn-ea"/>
                          <a:cs typeface="Times New Roman" pitchFamily="18" charset="0"/>
                        </a:rPr>
                        <a:t>Saharidis</a:t>
                      </a:r>
                      <a:r>
                        <a:rPr lang="en-US" altLang="zh-CN" sz="1800" b="0" i="0" u="none" strike="noStrike" kern="1200" dirty="0">
                          <a:solidFill>
                            <a:schemeClr val="dk1"/>
                          </a:solidFill>
                          <a:latin typeface="Times New Roman" pitchFamily="18" charset="0"/>
                          <a:ea typeface="+mn-ea"/>
                          <a:cs typeface="Times New Roman" pitchFamily="18" charset="0"/>
                        </a:rPr>
                        <a:t> G K D. An improved Benders decomposition algorithm for the logistics facility location problem with capacity expansions[J]. Annals of Operations Research, 2013, 210(1):165-190</a:t>
                      </a:r>
                      <a:r>
                        <a:rPr lang="en-US" altLang="zh-CN" sz="1800" b="0" i="0" u="none" strike="noStrike" kern="1200" dirty="0">
                          <a:solidFill>
                            <a:schemeClr val="dk1"/>
                          </a:solidFill>
                          <a:latin typeface="+mn-lt"/>
                          <a:ea typeface="+mn-ea"/>
                          <a:cs typeface="+mn-cs"/>
                        </a:rPr>
                        <a:t>.</a:t>
                      </a:r>
                      <a:endParaRPr lang="zh-CN" altLang="zh-CN" sz="1800" kern="1200" dirty="0">
                        <a:solidFill>
                          <a:schemeClr val="dk1"/>
                        </a:solidFill>
                        <a:latin typeface="Times New Roman" pitchFamily="18" charset="0"/>
                        <a:ea typeface="+mn-ea"/>
                        <a:cs typeface="Times New Roman" pitchFamily="18" charset="0"/>
                      </a:endParaRPr>
                    </a:p>
                  </a:txBody>
                  <a:tcPr marL="91439" marR="91439"/>
                </a:tc>
                <a:tc rowSpan="3">
                  <a:txBody>
                    <a:bodyPr/>
                    <a:lstStyle/>
                    <a:p>
                      <a:pPr marL="285750" indent="-285750" algn="just">
                        <a:lnSpc>
                          <a:spcPct val="150000"/>
                        </a:lnSpc>
                        <a:buFont typeface="Arial" panose="020B0604020202020204" pitchFamily="34" charset="0"/>
                        <a:buNone/>
                      </a:pPr>
                      <a:r>
                        <a:rPr lang="zh-CN" altLang="en-US" b="1" kern="0" dirty="0">
                          <a:solidFill>
                            <a:srgbClr val="002060"/>
                          </a:solidFill>
                          <a:latin typeface="Microsoft JhengHei" panose="020B0604030504040204" pitchFamily="34" charset="-120"/>
                        </a:rPr>
                        <a:t>    </a:t>
                      </a:r>
                      <a:endParaRPr lang="en-US" altLang="zh-CN" b="1" kern="0" dirty="0">
                        <a:solidFill>
                          <a:srgbClr val="002060"/>
                        </a:solidFill>
                        <a:latin typeface="Microsoft JhengHei" panose="020B0604030504040204" pitchFamily="34" charset="-120"/>
                      </a:endParaRPr>
                    </a:p>
                    <a:p>
                      <a:pPr marL="285750" indent="-285750">
                        <a:lnSpc>
                          <a:spcPct val="150000"/>
                        </a:lnSpc>
                        <a:buFont typeface="Arial" panose="020B0604020202020204" pitchFamily="34" charset="0"/>
                        <a:buNone/>
                      </a:pPr>
                      <a:r>
                        <a:rPr lang="zh-CN" altLang="en-US" b="1" kern="0" dirty="0">
                          <a:solidFill>
                            <a:srgbClr val="002060"/>
                          </a:solidFill>
                          <a:latin typeface="Microsoft JhengHei" panose="020B0604030504040204" pitchFamily="34" charset="-120"/>
                        </a:rPr>
                        <a:t>     将复杂变量的规划问题分解为线性规划和整数规划，分解为主问题</a:t>
                      </a:r>
                      <a:r>
                        <a:rPr lang="en-US" altLang="zh-CN" b="1" kern="0" dirty="0">
                          <a:solidFill>
                            <a:srgbClr val="002060"/>
                          </a:solidFill>
                          <a:latin typeface="Microsoft JhengHei" panose="020B0604030504040204" pitchFamily="34" charset="-120"/>
                        </a:rPr>
                        <a:t> </a:t>
                      </a:r>
                      <a:r>
                        <a:rPr lang="zh-CN" altLang="en-US" b="1" kern="0" dirty="0">
                          <a:solidFill>
                            <a:srgbClr val="002060"/>
                          </a:solidFill>
                          <a:latin typeface="Microsoft JhengHei" panose="020B0604030504040204" pitchFamily="34" charset="-120"/>
                        </a:rPr>
                        <a:t>和子问题，用迭代的方法求出最优解。</a:t>
                      </a:r>
                      <a:endParaRPr lang="en-US" altLang="zh-CN" b="1" kern="0" dirty="0">
                        <a:solidFill>
                          <a:srgbClr val="002060"/>
                        </a:solidFill>
                        <a:latin typeface="Microsoft JhengHei" panose="020B0604030504040204" pitchFamily="34" charset="-120"/>
                      </a:endParaRPr>
                    </a:p>
                    <a:p>
                      <a:pPr algn="l"/>
                      <a:endParaRPr lang="zh-CN" altLang="en-US" sz="1800" b="0" dirty="0">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1"/>
                  </a:ext>
                </a:extLst>
              </a:tr>
              <a:tr h="1514870">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lvl="0"/>
                      <a:r>
                        <a:rPr lang="en-US" altLang="zh-CN" sz="1800" b="0" i="0" u="none" strike="noStrike" kern="1200" dirty="0" err="1">
                          <a:solidFill>
                            <a:schemeClr val="dk1"/>
                          </a:solidFill>
                          <a:latin typeface="Times New Roman" pitchFamily="18" charset="0"/>
                          <a:ea typeface="+mn-ea"/>
                          <a:cs typeface="Times New Roman" pitchFamily="18" charset="0"/>
                        </a:rPr>
                        <a:t>Jian</a:t>
                      </a:r>
                      <a:r>
                        <a:rPr lang="en-US" altLang="zh-CN" sz="1800" b="0" i="0" u="none" strike="noStrike" kern="1200" dirty="0">
                          <a:solidFill>
                            <a:schemeClr val="dk1"/>
                          </a:solidFill>
                          <a:latin typeface="Times New Roman" pitchFamily="18" charset="0"/>
                          <a:ea typeface="+mn-ea"/>
                          <a:cs typeface="Times New Roman" pitchFamily="18" charset="0"/>
                        </a:rPr>
                        <a:t>-Xiang L I, Tang L X, </a:t>
                      </a:r>
                      <a:r>
                        <a:rPr lang="en-US" altLang="zh-CN" sz="1800" b="0" i="0" u="none" strike="noStrike" kern="1200" dirty="0" err="1">
                          <a:solidFill>
                            <a:schemeClr val="dk1"/>
                          </a:solidFill>
                          <a:latin typeface="Times New Roman" pitchFamily="18" charset="0"/>
                          <a:ea typeface="+mn-ea"/>
                          <a:cs typeface="Times New Roman" pitchFamily="18" charset="0"/>
                        </a:rPr>
                        <a:t>Hui</a:t>
                      </a:r>
                      <a:r>
                        <a:rPr lang="en-US" altLang="zh-CN" sz="1800" b="0" i="0" u="none" strike="noStrike" kern="1200" dirty="0">
                          <a:solidFill>
                            <a:schemeClr val="dk1"/>
                          </a:solidFill>
                          <a:latin typeface="Times New Roman" pitchFamily="18" charset="0"/>
                          <a:ea typeface="+mn-ea"/>
                          <a:cs typeface="Times New Roman" pitchFamily="18" charset="0"/>
                        </a:rPr>
                        <a:t>-Jiang W U. Modeling of the Coordinated Production Planning of a Two-Stage Mineral Industry Supply Chain[J]. Journal of Northeastern University, 2004, 25(4):352-355.</a:t>
                      </a:r>
                      <a:endParaRPr lang="zh-CN" altLang="zh-CN" sz="1800" kern="1200" dirty="0">
                        <a:solidFill>
                          <a:schemeClr val="dk1"/>
                        </a:solidFill>
                        <a:effectLst/>
                        <a:latin typeface="Times New Roman" pitchFamily="18" charset="0"/>
                        <a:ea typeface="+mn-ea"/>
                        <a:cs typeface="Times New Roman" pitchFamily="18" charset="0"/>
                      </a:endParaRPr>
                    </a:p>
                  </a:txBody>
                  <a:tcPr marL="91439" marR="91439"/>
                </a:tc>
                <a:tc vMerge="1">
                  <a:txBody>
                    <a:bodyPr/>
                    <a:lstStyle/>
                    <a:p>
                      <a:pPr algn="l"/>
                      <a:endParaRPr lang="zh-CN" altLang="en-US" sz="1800" b="0" kern="1200" dirty="0">
                        <a:solidFill>
                          <a:schemeClr val="dk1"/>
                        </a:solidFill>
                        <a:latin typeface="Times New Roman" pitchFamily="18" charset="0"/>
                        <a:ea typeface="+mn-ea"/>
                        <a:cs typeface="Times New Roman" pitchFamily="18" charset="0"/>
                      </a:endParaRPr>
                    </a:p>
                  </a:txBody>
                  <a:tcPr marL="91439" marR="91439"/>
                </a:tc>
                <a:extLst>
                  <a:ext uri="{0D108BD9-81ED-4DB2-BD59-A6C34878D82A}">
                    <a16:rowId xmlns:a16="http://schemas.microsoft.com/office/drawing/2014/main" val="10002"/>
                  </a:ext>
                </a:extLst>
              </a:tr>
              <a:tr h="1452052">
                <a:tc vMerge="1">
                  <a:txBody>
                    <a:bodyPr/>
                    <a:lstStyle/>
                    <a:p>
                      <a:pPr algn="ctr"/>
                      <a:endParaRPr lang="zh-CN" altLang="en-US" sz="1800" b="0" dirty="0">
                        <a:latin typeface="+mn-ea"/>
                        <a:ea typeface="+mn-ea"/>
                        <a:cs typeface="Times New Roman" pitchFamily="18" charset="0"/>
                      </a:endParaRPr>
                    </a:p>
                  </a:txBody>
                  <a:tcPr marL="91439" marR="91439"/>
                </a:tc>
                <a:tc>
                  <a:txBody>
                    <a:bodyPr/>
                    <a:lstStyle/>
                    <a:p>
                      <a:pPr marL="0" algn="l" defTabSz="914400" rtl="0" eaLnBrk="1" latinLnBrk="0" hangingPunct="1"/>
                      <a:r>
                        <a:rPr lang="en-US" altLang="zh-CN" sz="1800" b="0" i="0" u="none" strike="noStrike" kern="1200" dirty="0" err="1">
                          <a:solidFill>
                            <a:srgbClr val="FF0000"/>
                          </a:solidFill>
                          <a:latin typeface="Times New Roman" pitchFamily="18" charset="0"/>
                          <a:ea typeface="+mn-ea"/>
                          <a:cs typeface="Times New Roman" pitchFamily="18" charset="0"/>
                        </a:rPr>
                        <a:t>Ceselli</a:t>
                      </a:r>
                      <a:r>
                        <a:rPr lang="en-US" altLang="zh-CN" sz="1800" b="0" i="0" u="none" strike="noStrike" kern="1200" dirty="0">
                          <a:solidFill>
                            <a:srgbClr val="FF0000"/>
                          </a:solidFill>
                          <a:latin typeface="Times New Roman" pitchFamily="18" charset="0"/>
                          <a:ea typeface="+mn-ea"/>
                          <a:cs typeface="Times New Roman" pitchFamily="18" charset="0"/>
                        </a:rPr>
                        <a:t> A, </a:t>
                      </a:r>
                      <a:r>
                        <a:rPr lang="en-US" altLang="zh-CN" sz="1800" b="0" i="0" u="none" strike="noStrike" kern="1200" dirty="0" err="1">
                          <a:solidFill>
                            <a:srgbClr val="FF0000"/>
                          </a:solidFill>
                          <a:latin typeface="Times New Roman" pitchFamily="18" charset="0"/>
                          <a:ea typeface="+mn-ea"/>
                          <a:cs typeface="Times New Roman" pitchFamily="18" charset="0"/>
                        </a:rPr>
                        <a:t>Righini</a:t>
                      </a:r>
                      <a:r>
                        <a:rPr lang="en-US" altLang="zh-CN" sz="1800" b="0" i="0" u="none" strike="noStrike" kern="1200" dirty="0">
                          <a:solidFill>
                            <a:srgbClr val="FF0000"/>
                          </a:solidFill>
                          <a:latin typeface="Times New Roman" pitchFamily="18" charset="0"/>
                          <a:ea typeface="+mn-ea"/>
                          <a:cs typeface="Times New Roman" pitchFamily="18" charset="0"/>
                        </a:rPr>
                        <a:t> G. A Branch-and-Price Algorithm for the Multilevel Generalized Assignment Problem[J]. Operations Research, 2006, 54(6):1172-1184. </a:t>
                      </a:r>
                      <a:r>
                        <a:rPr lang="zh-CN" altLang="en-US" sz="1800" b="0" i="0" u="none" strike="noStrike" kern="1200" dirty="0">
                          <a:solidFill>
                            <a:srgbClr val="FF0000"/>
                          </a:solidFill>
                          <a:latin typeface="Times New Roman" pitchFamily="18" charset="0"/>
                          <a:ea typeface="+mn-ea"/>
                          <a:cs typeface="Times New Roman" pitchFamily="18" charset="0"/>
                        </a:rPr>
                        <a:t>与上页重复了，把文献归类，不要列这么多</a:t>
                      </a:r>
                      <a:endParaRPr lang="zh-CN" altLang="en-US" sz="1800" b="1" kern="1200" dirty="0">
                        <a:solidFill>
                          <a:srgbClr val="FF0000"/>
                        </a:solidFill>
                        <a:latin typeface="Times New Roman" pitchFamily="18" charset="0"/>
                        <a:ea typeface="+mn-ea"/>
                        <a:cs typeface="Times New Roman" pitchFamily="18" charset="0"/>
                      </a:endParaRPr>
                    </a:p>
                  </a:txBody>
                  <a:tcPr marL="91439" marR="91439"/>
                </a:tc>
                <a:tc vMerge="1">
                  <a:txBody>
                    <a:bodyPr/>
                    <a:lstStyle/>
                    <a:p>
                      <a:pPr algn="l"/>
                      <a:endParaRPr kumimoji="0" lang="zh-CN" altLang="en-US" sz="1800" b="0" kern="1200" dirty="0">
                        <a:solidFill>
                          <a:schemeClr val="dk1"/>
                        </a:solidFill>
                        <a:latin typeface="Times New Roman" pitchFamily="18" charset="0"/>
                        <a:ea typeface="+mj-ea"/>
                        <a:cs typeface="Times New Roman" pitchFamily="18" charset="0"/>
                      </a:endParaRPr>
                    </a:p>
                  </a:txBody>
                  <a:tcPr marL="91439" marR="91439"/>
                </a:tc>
                <a:extLst>
                  <a:ext uri="{0D108BD9-81ED-4DB2-BD59-A6C34878D82A}">
                    <a16:rowId xmlns:a16="http://schemas.microsoft.com/office/drawing/2014/main" val="10003"/>
                  </a:ext>
                </a:extLst>
              </a:tr>
            </a:tbl>
          </a:graphicData>
        </a:graphic>
      </p:graphicFrame>
      <p:sp>
        <p:nvSpPr>
          <p:cNvPr id="3" name="TextBox 3">
            <a:extLst>
              <a:ext uri="{FF2B5EF4-FFF2-40B4-BE49-F238E27FC236}">
                <a16:creationId xmlns:a16="http://schemas.microsoft.com/office/drawing/2014/main" id="{1EE22E14-0DAD-4133-937C-F462772A2988}"/>
              </a:ext>
            </a:extLst>
          </p:cNvPr>
          <p:cNvSpPr txBox="1">
            <a:spLocks noChangeArrowheads="1"/>
          </p:cNvSpPr>
          <p:nvPr/>
        </p:nvSpPr>
        <p:spPr bwMode="auto">
          <a:xfrm>
            <a:off x="7013003" y="116632"/>
            <a:ext cx="209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3</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、文献综述</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4" name="Text Box 19">
            <a:extLst>
              <a:ext uri="{FF2B5EF4-FFF2-40B4-BE49-F238E27FC236}">
                <a16:creationId xmlns:a16="http://schemas.microsoft.com/office/drawing/2014/main" id="{8C4FBCC0-D524-4564-9766-30B36F492E98}"/>
              </a:ext>
            </a:extLst>
          </p:cNvPr>
          <p:cNvSpPr txBox="1">
            <a:spLocks noChangeArrowheads="1"/>
          </p:cNvSpPr>
          <p:nvPr/>
        </p:nvSpPr>
        <p:spPr bwMode="auto">
          <a:xfrm>
            <a:off x="34924" y="6418263"/>
            <a:ext cx="2592859"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19"/>
          <p:cNvSpPr txBox="1">
            <a:spLocks noChangeArrowheads="1"/>
          </p:cNvSpPr>
          <p:nvPr/>
        </p:nvSpPr>
        <p:spPr bwMode="auto">
          <a:xfrm>
            <a:off x="34925" y="6418263"/>
            <a:ext cx="2807866"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solidFill>
            <a:srgbClr val="00B050"/>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6012160" y="188640"/>
            <a:ext cx="34915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4</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、研究内容</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3" name="矩形 2"/>
          <p:cNvSpPr/>
          <p:nvPr/>
        </p:nvSpPr>
        <p:spPr>
          <a:xfrm>
            <a:off x="377788" y="1029407"/>
            <a:ext cx="8298668" cy="2962414"/>
          </a:xfrm>
          <a:prstGeom prst="rect">
            <a:avLst/>
          </a:prstGeom>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cs typeface="Tahoma" panose="020B0604030504040204" pitchFamily="34" charset="0"/>
              </a:rPr>
              <a:t>问题描述：</a:t>
            </a:r>
            <a:r>
              <a:rPr lang="zh-CN" altLang="en-US" dirty="0">
                <a:latin typeface="+mn-ea"/>
                <a:cs typeface="Tahoma" panose="020B0604030504040204" pitchFamily="34" charset="0"/>
              </a:rPr>
              <a:t>给定合同及每个合同所包含的制程生产线，希望同类型的机组间是产能平衡的，排产量是齐头并进，初始主制程选择的是工艺路线最佳的，但可能并没有考虑机组间的产能平衡，则希望通过将某些合同转制程进行优化，目标是希望所有机组排产量与最佳排产量相差最少。</a:t>
            </a:r>
            <a:endParaRPr lang="en-US" altLang="zh-CN" b="1" dirty="0">
              <a:solidFill>
                <a:schemeClr val="accent4"/>
              </a:solidFill>
              <a:latin typeface="+mn-ea"/>
            </a:endParaRPr>
          </a:p>
          <a:p>
            <a:r>
              <a:rPr lang="zh-CN" altLang="en-US" b="1" dirty="0">
                <a:solidFill>
                  <a:schemeClr val="accent4"/>
                </a:solidFill>
                <a:latin typeface="+mn-ea"/>
              </a:rPr>
              <a:t>约束：</a:t>
            </a:r>
            <a:r>
              <a:rPr lang="en-US" altLang="zh-CN" b="1" dirty="0">
                <a:solidFill>
                  <a:schemeClr val="accent4"/>
                </a:solidFill>
                <a:latin typeface="+mn-ea"/>
              </a:rPr>
              <a:t>    </a:t>
            </a:r>
            <a:r>
              <a:rPr lang="zh-CN" altLang="en-US" dirty="0">
                <a:solidFill>
                  <a:schemeClr val="accent4"/>
                </a:solidFill>
                <a:latin typeface="+mn-ea"/>
              </a:rPr>
              <a:t>生产工艺约束；机组的产能</a:t>
            </a:r>
            <a:r>
              <a:rPr lang="zh-CN" altLang="en-US" dirty="0">
                <a:solidFill>
                  <a:srgbClr val="FF0000"/>
                </a:solidFill>
                <a:latin typeface="+mn-ea"/>
              </a:rPr>
              <a:t>，合同交货期等</a:t>
            </a:r>
          </a:p>
          <a:p>
            <a:pPr>
              <a:lnSpc>
                <a:spcPct val="150000"/>
              </a:lnSpc>
              <a:spcBef>
                <a:spcPts val="600"/>
              </a:spcBef>
            </a:pPr>
            <a:endParaRPr lang="en-US" altLang="zh-CN" dirty="0">
              <a:solidFill>
                <a:schemeClr val="accent4"/>
              </a:solidFill>
              <a:latin typeface="+mn-ea"/>
            </a:endParaRPr>
          </a:p>
          <a:p>
            <a:pPr>
              <a:lnSpc>
                <a:spcPct val="150000"/>
              </a:lnSpc>
              <a:spcBef>
                <a:spcPts val="600"/>
              </a:spcBef>
            </a:pPr>
            <a:r>
              <a:rPr lang="en-US" altLang="zh-CN" dirty="0">
                <a:solidFill>
                  <a:schemeClr val="accent4"/>
                </a:solidFill>
                <a:latin typeface="+mn-ea"/>
              </a:rPr>
              <a:t>        </a:t>
            </a:r>
            <a:r>
              <a:rPr lang="zh-CN" altLang="en-US" dirty="0">
                <a:solidFill>
                  <a:schemeClr val="accent4"/>
                </a:solidFill>
                <a:latin typeface="+mn-ea"/>
              </a:rPr>
              <a:t>  </a:t>
            </a:r>
            <a:endParaRPr lang="zh-CN" altLang="en-US" dirty="0"/>
          </a:p>
        </p:txBody>
      </p:sp>
      <p:sp>
        <p:nvSpPr>
          <p:cNvPr id="8" name="Text Box 19">
            <a:extLst>
              <a:ext uri="{FF2B5EF4-FFF2-40B4-BE49-F238E27FC236}">
                <a16:creationId xmlns:a16="http://schemas.microsoft.com/office/drawing/2014/main" id="{19D3C0C7-A2ED-4BFD-B79E-D4D6728195CE}"/>
              </a:ext>
            </a:extLst>
          </p:cNvPr>
          <p:cNvSpPr txBox="1">
            <a:spLocks noChangeArrowheads="1"/>
          </p:cNvSpPr>
          <p:nvPr/>
        </p:nvSpPr>
        <p:spPr bwMode="auto">
          <a:xfrm>
            <a:off x="34924" y="6418263"/>
            <a:ext cx="2592859"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graphicFrame>
        <p:nvGraphicFramePr>
          <p:cNvPr id="5" name="对象 4">
            <a:extLst>
              <a:ext uri="{FF2B5EF4-FFF2-40B4-BE49-F238E27FC236}">
                <a16:creationId xmlns:a16="http://schemas.microsoft.com/office/drawing/2014/main" id="{E04CA73B-9870-4BFD-9405-328D051CDCD3}"/>
              </a:ext>
            </a:extLst>
          </p:cNvPr>
          <p:cNvGraphicFramePr>
            <a:graphicFrameLocks noChangeAspect="1"/>
          </p:cNvGraphicFramePr>
          <p:nvPr>
            <p:extLst>
              <p:ext uri="{D42A27DB-BD31-4B8C-83A1-F6EECF244321}">
                <p14:modId xmlns:p14="http://schemas.microsoft.com/office/powerpoint/2010/main" val="802289352"/>
              </p:ext>
            </p:extLst>
          </p:nvPr>
        </p:nvGraphicFramePr>
        <p:xfrm>
          <a:off x="1259632" y="3079672"/>
          <a:ext cx="6388578" cy="4129306"/>
        </p:xfrm>
        <a:graphic>
          <a:graphicData uri="http://schemas.openxmlformats.org/presentationml/2006/ole">
            <mc:AlternateContent xmlns:mc="http://schemas.openxmlformats.org/markup-compatibility/2006">
              <mc:Choice xmlns:v="urn:schemas-microsoft-com:vml" Requires="v">
                <p:oleObj spid="_x0000_s5147" name="Visio" r:id="rId4" imgW="4794336" imgH="3098712" progId="Visio.Drawing.11">
                  <p:embed/>
                </p:oleObj>
              </mc:Choice>
              <mc:Fallback>
                <p:oleObj name="Visio" r:id="rId4" imgW="4794336" imgH="3098712" progId="Visio.Drawing.11">
                  <p:embed/>
                  <p:pic>
                    <p:nvPicPr>
                      <p:cNvPr id="8" name="对象 7">
                        <a:extLst>
                          <a:ext uri="{FF2B5EF4-FFF2-40B4-BE49-F238E27FC236}">
                            <a16:creationId xmlns:a16="http://schemas.microsoft.com/office/drawing/2014/main" id="{473967E7-C20F-462D-83BF-8EB039AA0093}"/>
                          </a:ext>
                        </a:extLst>
                      </p:cNvPr>
                      <p:cNvPicPr/>
                      <p:nvPr/>
                    </p:nvPicPr>
                    <p:blipFill>
                      <a:blip r:embed="rId5"/>
                      <a:stretch>
                        <a:fillRect/>
                      </a:stretch>
                    </p:blipFill>
                    <p:spPr>
                      <a:xfrm>
                        <a:off x="1259632" y="3079672"/>
                        <a:ext cx="6388578" cy="4129306"/>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146F32AC-C637-4522-9EA8-30E8EF359DC6}"/>
              </a:ext>
            </a:extLst>
          </p:cNvPr>
          <p:cNvSpPr txBox="1"/>
          <p:nvPr/>
        </p:nvSpPr>
        <p:spPr>
          <a:xfrm>
            <a:off x="6768065" y="4543322"/>
            <a:ext cx="1979712" cy="1631216"/>
          </a:xfrm>
          <a:prstGeom prst="rect">
            <a:avLst/>
          </a:prstGeom>
          <a:noFill/>
        </p:spPr>
        <p:txBody>
          <a:bodyPr wrap="square" rtlCol="0">
            <a:spAutoFit/>
          </a:bodyPr>
          <a:lstStyle/>
          <a:p>
            <a:r>
              <a:rPr lang="zh-CN" altLang="en-US" sz="2000" b="1" dirty="0">
                <a:solidFill>
                  <a:srgbClr val="FF0000"/>
                </a:solidFill>
              </a:rPr>
              <a:t>钢铁生产过程更像树状结构，越往后工艺路径划分越精细，产品也多样化</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solidFill>
            <a:srgbClr val="00B050"/>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AF9BF02A-920C-49BC-8128-9ADE7A61D7B0}"/>
              </a:ext>
            </a:extLst>
          </p:cNvPr>
          <p:cNvSpPr txBox="1">
            <a:spLocks noChangeArrowheads="1"/>
          </p:cNvSpPr>
          <p:nvPr/>
        </p:nvSpPr>
        <p:spPr bwMode="auto">
          <a:xfrm>
            <a:off x="34925" y="6418263"/>
            <a:ext cx="2553428"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7FF32-7BC0-4864-9C43-24DBC052F93D}"/>
              </a:ext>
            </a:extLst>
          </p:cNvPr>
          <p:cNvSpPr txBox="1"/>
          <p:nvPr/>
        </p:nvSpPr>
        <p:spPr>
          <a:xfrm>
            <a:off x="488975" y="1124744"/>
            <a:ext cx="18002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模型建立</a:t>
            </a:r>
          </a:p>
        </p:txBody>
      </p:sp>
      <p:sp>
        <p:nvSpPr>
          <p:cNvPr id="3" name="TextBox 3">
            <a:extLst>
              <a:ext uri="{FF2B5EF4-FFF2-40B4-BE49-F238E27FC236}">
                <a16:creationId xmlns:a16="http://schemas.microsoft.com/office/drawing/2014/main" id="{EBBD2C40-F6A2-4B98-A4FA-3AA048E8D70D}"/>
              </a:ext>
            </a:extLst>
          </p:cNvPr>
          <p:cNvSpPr txBox="1">
            <a:spLocks noChangeArrowheads="1"/>
          </p:cNvSpPr>
          <p:nvPr/>
        </p:nvSpPr>
        <p:spPr bwMode="auto">
          <a:xfrm>
            <a:off x="5220072" y="97608"/>
            <a:ext cx="34195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algn="ctr" eaLnBrk="1" hangingPunct="1">
              <a:lnSpc>
                <a:spcPct val="100000"/>
              </a:lnSpc>
              <a:spcBef>
                <a:spcPct val="0"/>
              </a:spcBef>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5</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、研究方法</a:t>
            </a:r>
            <a:endParaRPr lang="zh-CN" altLang="en-US" sz="2400" b="1" dirty="0">
              <a:solidFill>
                <a:srgbClr val="FFFFFF"/>
              </a:solidFill>
              <a:latin typeface="宋体" panose="02010600030101010101" pitchFamily="2" charset="-122"/>
              <a:ea typeface="宋体" panose="02010600030101010101" pitchFamily="2" charset="-122"/>
            </a:endParaRPr>
          </a:p>
          <a:p>
            <a:pPr algn="ctr" eaLnBrk="1" hangingPunct="1">
              <a:lnSpc>
                <a:spcPct val="100000"/>
              </a:lnSpc>
              <a:spcBef>
                <a:spcPct val="0"/>
              </a:spcBef>
              <a:buFontTx/>
              <a:buNone/>
            </a:pP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4" name="文本框 3">
            <a:extLst>
              <a:ext uri="{FF2B5EF4-FFF2-40B4-BE49-F238E27FC236}">
                <a16:creationId xmlns:a16="http://schemas.microsoft.com/office/drawing/2014/main" id="{1CF361D2-65C6-4059-8754-25D5ABFE7EA3}"/>
              </a:ext>
            </a:extLst>
          </p:cNvPr>
          <p:cNvSpPr txBox="1"/>
          <p:nvPr/>
        </p:nvSpPr>
        <p:spPr>
          <a:xfrm>
            <a:off x="971600" y="3155993"/>
            <a:ext cx="1440160" cy="369332"/>
          </a:xfrm>
          <a:prstGeom prst="rect">
            <a:avLst/>
          </a:prstGeom>
          <a:noFill/>
        </p:spPr>
        <p:txBody>
          <a:bodyPr wrap="square" rtlCol="0">
            <a:spAutoFit/>
          </a:bodyPr>
          <a:lstStyle/>
          <a:p>
            <a:r>
              <a:rPr lang="zh-CN" altLang="en-US" b="1" dirty="0"/>
              <a:t>数据输入</a:t>
            </a:r>
          </a:p>
        </p:txBody>
      </p:sp>
      <p:sp>
        <p:nvSpPr>
          <p:cNvPr id="5" name="文本框 4">
            <a:extLst>
              <a:ext uri="{FF2B5EF4-FFF2-40B4-BE49-F238E27FC236}">
                <a16:creationId xmlns:a16="http://schemas.microsoft.com/office/drawing/2014/main" id="{47B31450-63B2-47A5-AEE1-B3D18D6BD4A4}"/>
              </a:ext>
            </a:extLst>
          </p:cNvPr>
          <p:cNvSpPr txBox="1"/>
          <p:nvPr/>
        </p:nvSpPr>
        <p:spPr>
          <a:xfrm>
            <a:off x="2919264" y="3154448"/>
            <a:ext cx="1440160" cy="369332"/>
          </a:xfrm>
          <a:prstGeom prst="rect">
            <a:avLst/>
          </a:prstGeom>
          <a:noFill/>
        </p:spPr>
        <p:txBody>
          <a:bodyPr wrap="square" rtlCol="0">
            <a:spAutoFit/>
          </a:bodyPr>
          <a:lstStyle/>
          <a:p>
            <a:r>
              <a:rPr lang="zh-CN" altLang="en-US" b="1" dirty="0"/>
              <a:t>决策变量</a:t>
            </a:r>
          </a:p>
        </p:txBody>
      </p:sp>
      <p:sp>
        <p:nvSpPr>
          <p:cNvPr id="6" name="文本框 5">
            <a:extLst>
              <a:ext uri="{FF2B5EF4-FFF2-40B4-BE49-F238E27FC236}">
                <a16:creationId xmlns:a16="http://schemas.microsoft.com/office/drawing/2014/main" id="{16F19EB7-CDF0-44F7-AFEA-FE14AE3F07BF}"/>
              </a:ext>
            </a:extLst>
          </p:cNvPr>
          <p:cNvSpPr txBox="1"/>
          <p:nvPr/>
        </p:nvSpPr>
        <p:spPr>
          <a:xfrm>
            <a:off x="6948264" y="3154448"/>
            <a:ext cx="1440160" cy="369332"/>
          </a:xfrm>
          <a:prstGeom prst="rect">
            <a:avLst/>
          </a:prstGeom>
          <a:noFill/>
        </p:spPr>
        <p:txBody>
          <a:bodyPr wrap="square" rtlCol="0">
            <a:spAutoFit/>
          </a:bodyPr>
          <a:lstStyle/>
          <a:p>
            <a:r>
              <a:rPr lang="zh-CN" altLang="en-US" b="1" dirty="0"/>
              <a:t>优化目标</a:t>
            </a:r>
          </a:p>
        </p:txBody>
      </p:sp>
      <p:sp>
        <p:nvSpPr>
          <p:cNvPr id="7" name="文本框 6">
            <a:extLst>
              <a:ext uri="{FF2B5EF4-FFF2-40B4-BE49-F238E27FC236}">
                <a16:creationId xmlns:a16="http://schemas.microsoft.com/office/drawing/2014/main" id="{FEA81C7E-D53E-4694-B393-BFCE83384B08}"/>
              </a:ext>
            </a:extLst>
          </p:cNvPr>
          <p:cNvSpPr txBox="1"/>
          <p:nvPr/>
        </p:nvSpPr>
        <p:spPr>
          <a:xfrm>
            <a:off x="4866928" y="3167618"/>
            <a:ext cx="1440160" cy="369332"/>
          </a:xfrm>
          <a:prstGeom prst="rect">
            <a:avLst/>
          </a:prstGeom>
          <a:noFill/>
        </p:spPr>
        <p:txBody>
          <a:bodyPr wrap="square" rtlCol="0">
            <a:spAutoFit/>
          </a:bodyPr>
          <a:lstStyle/>
          <a:p>
            <a:r>
              <a:rPr lang="zh-CN" altLang="en-US" b="1" dirty="0"/>
              <a:t>约束条件</a:t>
            </a:r>
          </a:p>
        </p:txBody>
      </p:sp>
      <p:sp>
        <p:nvSpPr>
          <p:cNvPr id="8" name="矩形 7">
            <a:extLst>
              <a:ext uri="{FF2B5EF4-FFF2-40B4-BE49-F238E27FC236}">
                <a16:creationId xmlns:a16="http://schemas.microsoft.com/office/drawing/2014/main" id="{069104EB-633E-44B0-8B87-78DC2B77A5DD}"/>
              </a:ext>
            </a:extLst>
          </p:cNvPr>
          <p:cNvSpPr/>
          <p:nvPr/>
        </p:nvSpPr>
        <p:spPr>
          <a:xfrm>
            <a:off x="2898778" y="1964872"/>
            <a:ext cx="3329406" cy="67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一体化合同计划制程模型</a:t>
            </a:r>
          </a:p>
        </p:txBody>
      </p:sp>
      <p:sp>
        <p:nvSpPr>
          <p:cNvPr id="9" name="左大括号 8">
            <a:extLst>
              <a:ext uri="{FF2B5EF4-FFF2-40B4-BE49-F238E27FC236}">
                <a16:creationId xmlns:a16="http://schemas.microsoft.com/office/drawing/2014/main" id="{E524F2D8-9F15-49BC-A848-2E63E5C6087F}"/>
              </a:ext>
            </a:extLst>
          </p:cNvPr>
          <p:cNvSpPr/>
          <p:nvPr/>
        </p:nvSpPr>
        <p:spPr>
          <a:xfrm rot="5400000">
            <a:off x="4277228" y="-92652"/>
            <a:ext cx="517536" cy="5976664"/>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1CF464B-0911-4A2A-897B-06BE015678B6}"/>
              </a:ext>
            </a:extLst>
          </p:cNvPr>
          <p:cNvSpPr/>
          <p:nvPr/>
        </p:nvSpPr>
        <p:spPr>
          <a:xfrm>
            <a:off x="750627" y="3717032"/>
            <a:ext cx="1589125"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endParaRPr>
          </a:p>
          <a:p>
            <a:pPr algn="ctr"/>
            <a:r>
              <a:rPr lang="zh-CN" altLang="en-US" dirty="0">
                <a:solidFill>
                  <a:schemeClr val="tx1"/>
                </a:solidFill>
              </a:rPr>
              <a:t>合同信息</a:t>
            </a:r>
            <a:endParaRPr lang="en-US" altLang="zh-CN" dirty="0">
              <a:solidFill>
                <a:schemeClr val="tx1"/>
              </a:solidFill>
            </a:endParaRPr>
          </a:p>
          <a:p>
            <a:pPr algn="ctr"/>
            <a:r>
              <a:rPr lang="zh-CN" altLang="en-US" dirty="0">
                <a:solidFill>
                  <a:schemeClr val="tx1"/>
                </a:solidFill>
              </a:rPr>
              <a:t>合同制程信息合同工序信息</a:t>
            </a:r>
            <a:endParaRPr lang="en-US" altLang="zh-CN" dirty="0">
              <a:solidFill>
                <a:schemeClr val="tx1"/>
              </a:solidFill>
            </a:endParaRPr>
          </a:p>
          <a:p>
            <a:pPr algn="ctr"/>
            <a:endParaRPr lang="zh-CN" altLang="en-US" dirty="0"/>
          </a:p>
        </p:txBody>
      </p:sp>
      <p:sp>
        <p:nvSpPr>
          <p:cNvPr id="11" name="矩形 10">
            <a:extLst>
              <a:ext uri="{FF2B5EF4-FFF2-40B4-BE49-F238E27FC236}">
                <a16:creationId xmlns:a16="http://schemas.microsoft.com/office/drawing/2014/main" id="{748CFB12-4A3D-471C-B3E3-1E3750828AC3}"/>
              </a:ext>
            </a:extLst>
          </p:cNvPr>
          <p:cNvSpPr/>
          <p:nvPr/>
        </p:nvSpPr>
        <p:spPr>
          <a:xfrm>
            <a:off x="6732240" y="3717032"/>
            <a:ext cx="1656184"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所有机组排产量与最佳值差异最少</a:t>
            </a:r>
            <a:endParaRPr lang="zh-CN" altLang="en-US" dirty="0">
              <a:solidFill>
                <a:schemeClr val="tx1"/>
              </a:solidFill>
            </a:endParaRPr>
          </a:p>
        </p:txBody>
      </p:sp>
      <p:sp>
        <p:nvSpPr>
          <p:cNvPr id="12" name="矩形 11">
            <a:extLst>
              <a:ext uri="{FF2B5EF4-FFF2-40B4-BE49-F238E27FC236}">
                <a16:creationId xmlns:a16="http://schemas.microsoft.com/office/drawing/2014/main" id="{518A3699-FBFE-49BE-8839-9A7AB2F18A0C}"/>
              </a:ext>
            </a:extLst>
          </p:cNvPr>
          <p:cNvSpPr/>
          <p:nvPr/>
        </p:nvSpPr>
        <p:spPr>
          <a:xfrm>
            <a:off x="4716016" y="3717032"/>
            <a:ext cx="1584176"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生产工艺规则</a:t>
            </a:r>
            <a:endParaRPr lang="en-US" altLang="zh-CN" dirty="0">
              <a:solidFill>
                <a:schemeClr val="tx1"/>
              </a:solidFill>
            </a:endParaRPr>
          </a:p>
          <a:p>
            <a:pPr algn="ctr"/>
            <a:r>
              <a:rPr lang="zh-CN" altLang="en-US" dirty="0">
                <a:solidFill>
                  <a:schemeClr val="tx1"/>
                </a:solidFill>
              </a:rPr>
              <a:t>机组的产能</a:t>
            </a:r>
            <a:endParaRPr lang="en-US" altLang="zh-CN" dirty="0">
              <a:solidFill>
                <a:schemeClr val="tx1"/>
              </a:solidFill>
            </a:endParaRPr>
          </a:p>
        </p:txBody>
      </p:sp>
      <p:sp>
        <p:nvSpPr>
          <p:cNvPr id="13" name="矩形 12">
            <a:extLst>
              <a:ext uri="{FF2B5EF4-FFF2-40B4-BE49-F238E27FC236}">
                <a16:creationId xmlns:a16="http://schemas.microsoft.com/office/drawing/2014/main" id="{0716E614-E693-4580-A355-B6A5E490B779}"/>
              </a:ext>
            </a:extLst>
          </p:cNvPr>
          <p:cNvSpPr/>
          <p:nvPr/>
        </p:nvSpPr>
        <p:spPr>
          <a:xfrm>
            <a:off x="2771800" y="3717032"/>
            <a:ext cx="1584176"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合同选择哪条制程进行排产</a:t>
            </a:r>
          </a:p>
        </p:txBody>
      </p:sp>
      <p:cxnSp>
        <p:nvCxnSpPr>
          <p:cNvPr id="15" name="直接连接符 14">
            <a:extLst>
              <a:ext uri="{FF2B5EF4-FFF2-40B4-BE49-F238E27FC236}">
                <a16:creationId xmlns:a16="http://schemas.microsoft.com/office/drawing/2014/main" id="{994C716F-24D6-4484-A1B1-754508C9BB1F}"/>
              </a:ext>
            </a:extLst>
          </p:cNvPr>
          <p:cNvCxnSpPr>
            <a:cxnSpLocks/>
            <a:stCxn id="10" idx="3"/>
            <a:endCxn id="13" idx="1"/>
          </p:cNvCxnSpPr>
          <p:nvPr/>
        </p:nvCxnSpPr>
        <p:spPr>
          <a:xfrm>
            <a:off x="2339752" y="4545124"/>
            <a:ext cx="432048" cy="0"/>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17" name="直接连接符 16">
            <a:extLst>
              <a:ext uri="{FF2B5EF4-FFF2-40B4-BE49-F238E27FC236}">
                <a16:creationId xmlns:a16="http://schemas.microsoft.com/office/drawing/2014/main" id="{36028F77-84E4-42B9-B582-1048B515B03B}"/>
              </a:ext>
            </a:extLst>
          </p:cNvPr>
          <p:cNvCxnSpPr>
            <a:cxnSpLocks/>
            <a:stCxn id="12" idx="3"/>
            <a:endCxn id="11" idx="1"/>
          </p:cNvCxnSpPr>
          <p:nvPr/>
        </p:nvCxnSpPr>
        <p:spPr>
          <a:xfrm>
            <a:off x="6300192" y="4545124"/>
            <a:ext cx="432048" cy="0"/>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19" name="直接连接符 18">
            <a:extLst>
              <a:ext uri="{FF2B5EF4-FFF2-40B4-BE49-F238E27FC236}">
                <a16:creationId xmlns:a16="http://schemas.microsoft.com/office/drawing/2014/main" id="{3253B0AA-2113-4F48-AD30-D1414B0A22AC}"/>
              </a:ext>
            </a:extLst>
          </p:cNvPr>
          <p:cNvCxnSpPr>
            <a:cxnSpLocks/>
            <a:stCxn id="13" idx="3"/>
            <a:endCxn id="12" idx="1"/>
          </p:cNvCxnSpPr>
          <p:nvPr/>
        </p:nvCxnSpPr>
        <p:spPr>
          <a:xfrm>
            <a:off x="4355976" y="4545124"/>
            <a:ext cx="360040"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8" name="Text Box 19">
            <a:extLst>
              <a:ext uri="{FF2B5EF4-FFF2-40B4-BE49-F238E27FC236}">
                <a16:creationId xmlns:a16="http://schemas.microsoft.com/office/drawing/2014/main" id="{4DDA7169-8794-490C-A799-70286A2836A2}"/>
              </a:ext>
            </a:extLst>
          </p:cNvPr>
          <p:cNvSpPr txBox="1">
            <a:spLocks noChangeArrowheads="1"/>
          </p:cNvSpPr>
          <p:nvPr/>
        </p:nvSpPr>
        <p:spPr bwMode="auto">
          <a:xfrm>
            <a:off x="34924" y="6418263"/>
            <a:ext cx="2736875"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extLst>
      <p:ext uri="{BB962C8B-B14F-4D97-AF65-F5344CB8AC3E}">
        <p14:creationId xmlns:p14="http://schemas.microsoft.com/office/powerpoint/2010/main" val="4149884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5220072" y="97608"/>
            <a:ext cx="34195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algn="ctr" eaLnBrk="1" hangingPunct="1">
              <a:lnSpc>
                <a:spcPct val="100000"/>
              </a:lnSpc>
              <a:spcBef>
                <a:spcPct val="0"/>
              </a:spcBef>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5</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、研究方法</a:t>
            </a:r>
            <a:endParaRPr lang="zh-CN" altLang="en-US" sz="2400" b="1" dirty="0">
              <a:solidFill>
                <a:srgbClr val="FFFFFF"/>
              </a:solidFill>
              <a:latin typeface="宋体" panose="02010600030101010101" pitchFamily="2" charset="-122"/>
              <a:ea typeface="宋体" panose="02010600030101010101" pitchFamily="2" charset="-122"/>
            </a:endParaRPr>
          </a:p>
          <a:p>
            <a:pPr algn="ctr" eaLnBrk="1" hangingPunct="1">
              <a:lnSpc>
                <a:spcPct val="100000"/>
              </a:lnSpc>
              <a:spcBef>
                <a:spcPct val="0"/>
              </a:spcBef>
              <a:buFontTx/>
              <a:buNone/>
            </a:pP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3" name="TextBox 2"/>
          <p:cNvSpPr txBox="1"/>
          <p:nvPr/>
        </p:nvSpPr>
        <p:spPr>
          <a:xfrm>
            <a:off x="323528" y="1200458"/>
            <a:ext cx="182163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算法求解</a:t>
            </a:r>
          </a:p>
        </p:txBody>
      </p:sp>
      <p:sp>
        <p:nvSpPr>
          <p:cNvPr id="6" name="Text Box 19">
            <a:extLst>
              <a:ext uri="{FF2B5EF4-FFF2-40B4-BE49-F238E27FC236}">
                <a16:creationId xmlns:a16="http://schemas.microsoft.com/office/drawing/2014/main" id="{DF0680B9-21CB-42DF-B1DC-32EE19A4B6C5}"/>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graphicFrame>
        <p:nvGraphicFramePr>
          <p:cNvPr id="4" name="对象 3">
            <a:extLst>
              <a:ext uri="{FF2B5EF4-FFF2-40B4-BE49-F238E27FC236}">
                <a16:creationId xmlns:a16="http://schemas.microsoft.com/office/drawing/2014/main" id="{13AC5795-5D49-4AF3-BD8B-1938851B5A8E}"/>
              </a:ext>
            </a:extLst>
          </p:cNvPr>
          <p:cNvGraphicFramePr>
            <a:graphicFrameLocks noChangeAspect="1"/>
          </p:cNvGraphicFramePr>
          <p:nvPr>
            <p:extLst>
              <p:ext uri="{D42A27DB-BD31-4B8C-83A1-F6EECF244321}">
                <p14:modId xmlns:p14="http://schemas.microsoft.com/office/powerpoint/2010/main" val="1604463277"/>
              </p:ext>
            </p:extLst>
          </p:nvPr>
        </p:nvGraphicFramePr>
        <p:xfrm>
          <a:off x="3914775" y="779361"/>
          <a:ext cx="1821630" cy="5638902"/>
        </p:xfrm>
        <a:graphic>
          <a:graphicData uri="http://schemas.openxmlformats.org/presentationml/2006/ole">
            <mc:AlternateContent xmlns:mc="http://schemas.openxmlformats.org/markup-compatibility/2006">
              <mc:Choice xmlns:v="urn:schemas-microsoft-com:vml" Requires="v">
                <p:oleObj spid="_x0000_s6159" name="Visio" r:id="rId3" imgW="2705125" imgH="8369125" progId="Visio.Drawing.11">
                  <p:embed/>
                </p:oleObj>
              </mc:Choice>
              <mc:Fallback>
                <p:oleObj name="Visio" r:id="rId3" imgW="2705125" imgH="8369125" progId="Visio.Drawing.11">
                  <p:embed/>
                  <p:pic>
                    <p:nvPicPr>
                      <p:cNvPr id="0" name=""/>
                      <p:cNvPicPr/>
                      <p:nvPr/>
                    </p:nvPicPr>
                    <p:blipFill>
                      <a:blip r:embed="rId4"/>
                      <a:stretch>
                        <a:fillRect/>
                      </a:stretch>
                    </p:blipFill>
                    <p:spPr>
                      <a:xfrm>
                        <a:off x="3914775" y="779361"/>
                        <a:ext cx="1821630" cy="5638902"/>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3AEDB5D1-7CEA-4566-88F7-9BF05655261A}"/>
              </a:ext>
            </a:extLst>
          </p:cNvPr>
          <p:cNvSpPr txBox="1"/>
          <p:nvPr/>
        </p:nvSpPr>
        <p:spPr>
          <a:xfrm>
            <a:off x="539552" y="3789040"/>
            <a:ext cx="2808312" cy="1815882"/>
          </a:xfrm>
          <a:prstGeom prst="rect">
            <a:avLst/>
          </a:prstGeom>
          <a:noFill/>
        </p:spPr>
        <p:txBody>
          <a:bodyPr wrap="square" rtlCol="0">
            <a:spAutoFit/>
          </a:bodyPr>
          <a:lstStyle/>
          <a:p>
            <a:r>
              <a:rPr lang="zh-CN" altLang="en-US" sz="2800" dirty="0">
                <a:solidFill>
                  <a:srgbClr val="FF0000"/>
                </a:solidFill>
              </a:rPr>
              <a:t>这张图不好，看不清楚。重画图或者改成伪代码方式表达</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3"/>
          <p:cNvSpPr txBox="1">
            <a:spLocks noChangeArrowheads="1"/>
          </p:cNvSpPr>
          <p:nvPr/>
        </p:nvSpPr>
        <p:spPr bwMode="auto">
          <a:xfrm>
            <a:off x="6544087" y="97608"/>
            <a:ext cx="209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a:solidFill>
                  <a:schemeClr val="bg1"/>
                </a:solidFill>
                <a:latin typeface="+mn-ea"/>
                <a:ea typeface="+mn-ea"/>
              </a:rPr>
              <a:t>       目录</a:t>
            </a:r>
          </a:p>
        </p:txBody>
      </p:sp>
      <p:sp>
        <p:nvSpPr>
          <p:cNvPr id="15" name="圆角矩形 14"/>
          <p:cNvSpPr/>
          <p:nvPr/>
        </p:nvSpPr>
        <p:spPr>
          <a:xfrm>
            <a:off x="2298729" y="1447464"/>
            <a:ext cx="4576510" cy="613386"/>
          </a:xfrm>
          <a:prstGeom prst="roundRect">
            <a:avLst/>
          </a:prstGeom>
          <a:gradFill>
            <a:gsLst>
              <a:gs pos="0">
                <a:srgbClr val="3A7CCB"/>
              </a:gs>
              <a:gs pos="100000">
                <a:srgbClr val="2C5D98"/>
              </a:gs>
            </a:gsLst>
            <a:lin ang="5400000" scaled="0"/>
          </a:gradFill>
          <a:ln w="28575" cap="rnd"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前期工作总结</a:t>
            </a:r>
          </a:p>
        </p:txBody>
      </p:sp>
      <p:sp>
        <p:nvSpPr>
          <p:cNvPr id="19" name="圆角矩形 18"/>
          <p:cNvSpPr/>
          <p:nvPr/>
        </p:nvSpPr>
        <p:spPr>
          <a:xfrm>
            <a:off x="2289175" y="220231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选题背景及意义</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298729" y="3678657"/>
            <a:ext cx="4576510"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研究内容</a:t>
            </a:r>
          </a:p>
        </p:txBody>
      </p:sp>
      <p:sp>
        <p:nvSpPr>
          <p:cNvPr id="23" name="圆角矩形 22"/>
          <p:cNvSpPr/>
          <p:nvPr/>
        </p:nvSpPr>
        <p:spPr>
          <a:xfrm>
            <a:off x="2289175" y="4437114"/>
            <a:ext cx="4586064" cy="612031"/>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rgbClr val="FFFFFF"/>
                </a:solidFill>
                <a:latin typeface="微软雅黑" panose="020B0503020204020204" pitchFamily="34" charset="-122"/>
                <a:ea typeface="微软雅黑" panose="020B0503020204020204" pitchFamily="34" charset="-122"/>
              </a:rPr>
              <a:t>    </a:t>
            </a:r>
            <a:r>
              <a:rPr lang="zh-CN" altLang="en-US" sz="2000" b="1" dirty="0">
                <a:solidFill>
                  <a:srgbClr val="FFFFFF"/>
                </a:solidFill>
                <a:latin typeface="微软雅黑" panose="020B0503020204020204" pitchFamily="34" charset="-122"/>
                <a:ea typeface="微软雅黑" panose="020B0503020204020204" pitchFamily="34" charset="-122"/>
              </a:rPr>
              <a:t>研究方法</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4" name="圆角矩形 23"/>
          <p:cNvSpPr/>
          <p:nvPr/>
        </p:nvSpPr>
        <p:spPr>
          <a:xfrm>
            <a:off x="2289175" y="5229200"/>
            <a:ext cx="4586064" cy="612000"/>
          </a:xfrm>
          <a:prstGeom prst="roundRect">
            <a:avLst/>
          </a:prstGeom>
          <a:solidFill>
            <a:srgbClr val="00B050"/>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    预期成果及工作计划</a:t>
            </a:r>
            <a:endParaRPr lang="zh-CN" altLang="en-US" sz="2400" b="1" dirty="0">
              <a:solidFill>
                <a:srgbClr val="FFFFFF"/>
              </a:solidFill>
              <a:latin typeface="黑体" panose="02010609060101010101" pitchFamily="49" charset="-122"/>
              <a:ea typeface="黑体" panose="02010609060101010101" pitchFamily="49" charset="-122"/>
            </a:endParaRPr>
          </a:p>
        </p:txBody>
      </p:sp>
      <p:sp>
        <p:nvSpPr>
          <p:cNvPr id="25" name="圆角矩形 24"/>
          <p:cNvSpPr/>
          <p:nvPr/>
        </p:nvSpPr>
        <p:spPr>
          <a:xfrm>
            <a:off x="2343546" y="1514799"/>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1</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6" name="圆角矩形 25"/>
          <p:cNvSpPr/>
          <p:nvPr/>
        </p:nvSpPr>
        <p:spPr>
          <a:xfrm>
            <a:off x="2289175" y="2924946"/>
            <a:ext cx="4586064" cy="612000"/>
          </a:xfrm>
          <a:prstGeom prst="roundRect">
            <a:avLst/>
          </a:prstGeom>
          <a:gradFill>
            <a:gsLst>
              <a:gs pos="0">
                <a:srgbClr val="3A7CCB"/>
              </a:gs>
              <a:gs pos="100000">
                <a:srgbClr val="2C5D98"/>
              </a:gs>
            </a:gsLst>
            <a:lin ang="5400000" scaled="0"/>
          </a:gra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000" b="1" dirty="0">
                <a:solidFill>
                  <a:srgbClr val="FFFFFF"/>
                </a:solidFill>
                <a:latin typeface="微软雅黑" panose="020B0503020204020204" pitchFamily="34" charset="-122"/>
                <a:ea typeface="微软雅黑" panose="020B0503020204020204" pitchFamily="34" charset="-122"/>
              </a:rPr>
              <a:t>    文献综述</a:t>
            </a:r>
          </a:p>
        </p:txBody>
      </p:sp>
      <p:sp>
        <p:nvSpPr>
          <p:cNvPr id="27" name="圆角矩形 26"/>
          <p:cNvSpPr/>
          <p:nvPr/>
        </p:nvSpPr>
        <p:spPr>
          <a:xfrm>
            <a:off x="2338732" y="2272256"/>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2</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8" name="圆角矩形 27"/>
          <p:cNvSpPr/>
          <p:nvPr/>
        </p:nvSpPr>
        <p:spPr>
          <a:xfrm>
            <a:off x="2338733" y="2985367"/>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3</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29" name="圆角矩形 28"/>
          <p:cNvSpPr/>
          <p:nvPr/>
        </p:nvSpPr>
        <p:spPr>
          <a:xfrm>
            <a:off x="2343547" y="3735143"/>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4</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0" name="圆角矩形 29"/>
          <p:cNvSpPr/>
          <p:nvPr/>
        </p:nvSpPr>
        <p:spPr>
          <a:xfrm>
            <a:off x="2338735" y="450782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5</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31" name="圆角矩形 30"/>
          <p:cNvSpPr/>
          <p:nvPr/>
        </p:nvSpPr>
        <p:spPr>
          <a:xfrm>
            <a:off x="2343548" y="5283488"/>
            <a:ext cx="499243" cy="470602"/>
          </a:xfrm>
          <a:prstGeom prst="roundRect">
            <a:avLst/>
          </a:prstGeom>
          <a:solidFill>
            <a:schemeClr val="bg1"/>
          </a:solidFill>
          <a:ln w="28575"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800" b="1" dirty="0">
                <a:solidFill>
                  <a:srgbClr val="2C5D98"/>
                </a:solidFill>
                <a:latin typeface="黑体" panose="02010609060101010101" pitchFamily="49" charset="-122"/>
                <a:ea typeface="黑体" panose="02010609060101010101" pitchFamily="49" charset="-122"/>
              </a:rPr>
              <a:t>6</a:t>
            </a:r>
            <a:endParaRPr lang="zh-CN" altLang="en-US" sz="2800" b="1" dirty="0">
              <a:solidFill>
                <a:srgbClr val="2C5D98"/>
              </a:solidFill>
              <a:latin typeface="黑体" panose="02010609060101010101" pitchFamily="49" charset="-122"/>
              <a:ea typeface="黑体" panose="02010609060101010101" pitchFamily="49" charset="-122"/>
            </a:endParaRPr>
          </a:p>
        </p:txBody>
      </p:sp>
      <p:sp>
        <p:nvSpPr>
          <p:cNvPr id="16" name="Text Box 19">
            <a:extLst>
              <a:ext uri="{FF2B5EF4-FFF2-40B4-BE49-F238E27FC236}">
                <a16:creationId xmlns:a16="http://schemas.microsoft.com/office/drawing/2014/main" id="{F4B82B33-A8E8-49D7-B029-6822366AD1E9}"/>
              </a:ext>
            </a:extLst>
          </p:cNvPr>
          <p:cNvSpPr txBox="1">
            <a:spLocks noChangeArrowheads="1"/>
          </p:cNvSpPr>
          <p:nvPr/>
        </p:nvSpPr>
        <p:spPr bwMode="auto">
          <a:xfrm>
            <a:off x="34925" y="6418263"/>
            <a:ext cx="2553428"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3"/>
          <p:cNvSpPr txBox="1">
            <a:spLocks noChangeArrowheads="1"/>
          </p:cNvSpPr>
          <p:nvPr/>
        </p:nvSpPr>
        <p:spPr bwMode="auto">
          <a:xfrm>
            <a:off x="5940152" y="97608"/>
            <a:ext cx="2880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6</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、预期成果及总结</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5" name="TextBox 4"/>
          <p:cNvSpPr txBox="1"/>
          <p:nvPr/>
        </p:nvSpPr>
        <p:spPr>
          <a:xfrm>
            <a:off x="323528" y="1200458"/>
            <a:ext cx="182163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预期成果</a:t>
            </a:r>
          </a:p>
        </p:txBody>
      </p:sp>
      <p:sp>
        <p:nvSpPr>
          <p:cNvPr id="2" name="矩形 1">
            <a:extLst>
              <a:ext uri="{FF2B5EF4-FFF2-40B4-BE49-F238E27FC236}">
                <a16:creationId xmlns:a16="http://schemas.microsoft.com/office/drawing/2014/main" id="{96CD6703-1BF8-4A54-8A13-93328CDC2D3D}"/>
              </a:ext>
            </a:extLst>
          </p:cNvPr>
          <p:cNvSpPr/>
          <p:nvPr/>
        </p:nvSpPr>
        <p:spPr>
          <a:xfrm>
            <a:off x="1452028" y="2420888"/>
            <a:ext cx="5280211" cy="2554545"/>
          </a:xfrm>
          <a:prstGeom prst="rect">
            <a:avLst/>
          </a:prstGeom>
        </p:spPr>
        <p:txBody>
          <a:bodyPr wrap="square">
            <a:spAutoFit/>
          </a:bodyPr>
          <a:lstStyle/>
          <a:p>
            <a:r>
              <a:rPr lang="en-US" altLang="zh-CN" sz="2000" dirty="0">
                <a:latin typeface="+mn-ea"/>
              </a:rPr>
              <a:t>1</a:t>
            </a:r>
            <a:r>
              <a:rPr lang="zh-CN" altLang="en-US" sz="2000" dirty="0">
                <a:latin typeface="+mn-ea"/>
              </a:rPr>
              <a:t>、建立一体化合同计划制程的数学模型。</a:t>
            </a:r>
            <a:endParaRPr lang="en-US" altLang="zh-CN" sz="2000" dirty="0">
              <a:latin typeface="+mn-ea"/>
            </a:endParaRPr>
          </a:p>
          <a:p>
            <a:endParaRPr lang="en-US" altLang="zh-CN" sz="2000" dirty="0">
              <a:latin typeface="+mn-ea"/>
            </a:endParaRPr>
          </a:p>
          <a:p>
            <a:r>
              <a:rPr lang="en-US" altLang="zh-CN" sz="2000" dirty="0">
                <a:latin typeface="+mn-ea"/>
              </a:rPr>
              <a:t>2</a:t>
            </a:r>
            <a:r>
              <a:rPr lang="zh-CN" altLang="en-US" sz="2000" dirty="0">
                <a:latin typeface="+mn-ea"/>
              </a:rPr>
              <a:t>、设计精确算法进行模型求解。</a:t>
            </a:r>
            <a:endParaRPr lang="en-US" altLang="zh-CN" sz="2000" dirty="0">
              <a:latin typeface="+mn-ea"/>
            </a:endParaRPr>
          </a:p>
          <a:p>
            <a:endParaRPr lang="en-US" altLang="zh-CN" sz="2000" dirty="0">
              <a:latin typeface="+mn-ea"/>
            </a:endParaRPr>
          </a:p>
          <a:p>
            <a:r>
              <a:rPr lang="en-US" altLang="zh-CN" sz="2000" dirty="0">
                <a:latin typeface="+mn-ea"/>
              </a:rPr>
              <a:t>3</a:t>
            </a:r>
            <a:r>
              <a:rPr lang="zh-CN" altLang="en-US" sz="2000" dirty="0">
                <a:latin typeface="+mn-ea"/>
              </a:rPr>
              <a:t>、为实际问题提供全局优化策略。</a:t>
            </a:r>
            <a:endParaRPr lang="en-US" altLang="zh-CN" sz="2000" dirty="0">
              <a:latin typeface="+mn-ea"/>
            </a:endParaRPr>
          </a:p>
          <a:p>
            <a:endParaRPr lang="en-US" altLang="zh-CN" sz="2000" dirty="0">
              <a:latin typeface="+mn-ea"/>
            </a:endParaRPr>
          </a:p>
          <a:p>
            <a:r>
              <a:rPr lang="en-US" altLang="zh-CN" sz="2000" dirty="0">
                <a:latin typeface="+mn-ea"/>
              </a:rPr>
              <a:t>4</a:t>
            </a:r>
            <a:r>
              <a:rPr lang="zh-CN" altLang="en-US" sz="2000" dirty="0">
                <a:latin typeface="+mn-ea"/>
              </a:rPr>
              <a:t>、为启发式算法的性能评价，提供依据。</a:t>
            </a:r>
          </a:p>
          <a:p>
            <a:endParaRPr lang="zh-CN" altLang="en-US" sz="2000" dirty="0">
              <a:latin typeface="+mn-ea"/>
            </a:endParaRPr>
          </a:p>
        </p:txBody>
      </p:sp>
      <p:sp>
        <p:nvSpPr>
          <p:cNvPr id="6" name="Text Box 19">
            <a:extLst>
              <a:ext uri="{FF2B5EF4-FFF2-40B4-BE49-F238E27FC236}">
                <a16:creationId xmlns:a16="http://schemas.microsoft.com/office/drawing/2014/main" id="{CE1B8A72-6251-4CBD-A1C2-856BF58EB002}"/>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4139077133"/>
              </p:ext>
            </p:extLst>
          </p:nvPr>
        </p:nvGraphicFramePr>
        <p:xfrm>
          <a:off x="395535" y="1196752"/>
          <a:ext cx="8424937" cy="5099631"/>
        </p:xfrm>
        <a:graphic>
          <a:graphicData uri="http://schemas.openxmlformats.org/drawingml/2006/table">
            <a:tbl>
              <a:tblPr firstRow="1" bandRow="1">
                <a:tableStyleId>{21E4AEA4-8DFA-4A89-87EB-49C32662AFE0}</a:tableStyleId>
              </a:tblPr>
              <a:tblGrid>
                <a:gridCol w="759625">
                  <a:extLst>
                    <a:ext uri="{9D8B030D-6E8A-4147-A177-3AD203B41FA5}">
                      <a16:colId xmlns:a16="http://schemas.microsoft.com/office/drawing/2014/main" val="20000"/>
                    </a:ext>
                  </a:extLst>
                </a:gridCol>
                <a:gridCol w="2347933">
                  <a:extLst>
                    <a:ext uri="{9D8B030D-6E8A-4147-A177-3AD203B41FA5}">
                      <a16:colId xmlns:a16="http://schemas.microsoft.com/office/drawing/2014/main" val="20001"/>
                    </a:ext>
                  </a:extLst>
                </a:gridCol>
                <a:gridCol w="2278876">
                  <a:extLst>
                    <a:ext uri="{9D8B030D-6E8A-4147-A177-3AD203B41FA5}">
                      <a16:colId xmlns:a16="http://schemas.microsoft.com/office/drawing/2014/main" val="20002"/>
                    </a:ext>
                  </a:extLst>
                </a:gridCol>
                <a:gridCol w="3038503">
                  <a:extLst>
                    <a:ext uri="{9D8B030D-6E8A-4147-A177-3AD203B41FA5}">
                      <a16:colId xmlns:a16="http://schemas.microsoft.com/office/drawing/2014/main" val="20003"/>
                    </a:ext>
                  </a:extLst>
                </a:gridCol>
              </a:tblGrid>
              <a:tr h="381166">
                <a:tc>
                  <a:txBody>
                    <a:bodyPr/>
                    <a:lstStyle/>
                    <a:p>
                      <a:pPr algn="ctr"/>
                      <a:r>
                        <a:rPr lang="zh-CN" altLang="en-US" dirty="0"/>
                        <a:t>序号</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en-US" dirty="0"/>
                        <a:t>阶段及内容</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en-US" dirty="0"/>
                        <a:t>起止时间</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en-US" dirty="0"/>
                        <a:t>阶段成果</a:t>
                      </a:r>
                      <a:endParaRPr lang="zh-CN" altLang="en-US" dirty="0">
                        <a:latin typeface="华文新魏" panose="02010800040101010101" pitchFamily="2" charset="-122"/>
                        <a:ea typeface="华文新魏" panose="02010800040101010101" pitchFamily="2" charset="-122"/>
                      </a:endParaRPr>
                    </a:p>
                  </a:txBody>
                  <a:tcPr anchor="ctr"/>
                </a:tc>
                <a:extLst>
                  <a:ext uri="{0D108BD9-81ED-4DB2-BD59-A6C34878D82A}">
                    <a16:rowId xmlns:a16="http://schemas.microsoft.com/office/drawing/2014/main" val="10000"/>
                  </a:ext>
                </a:extLst>
              </a:tr>
              <a:tr h="599462">
                <a:tc>
                  <a:txBody>
                    <a:bodyPr/>
                    <a:lstStyle/>
                    <a:p>
                      <a:pPr algn="ctr"/>
                      <a:r>
                        <a:rPr lang="en-US" altLang="zh-CN" sz="1600" dirty="0"/>
                        <a:t>1</a:t>
                      </a:r>
                      <a:endParaRPr lang="zh-CN" altLang="en-US" sz="1600" dirty="0">
                        <a:latin typeface="华文新魏" panose="02010800040101010101" pitchFamily="2" charset="-122"/>
                        <a:ea typeface="华文新魏" panose="02010800040101010101" pitchFamily="2" charset="-122"/>
                      </a:endParaRPr>
                    </a:p>
                  </a:txBody>
                  <a:tcPr anchor="ctr"/>
                </a:tc>
                <a:tc>
                  <a:txBody>
                    <a:bodyPr/>
                    <a:lstStyle/>
                    <a:p>
                      <a:pPr algn="ctr"/>
                      <a:r>
                        <a:rPr lang="zh-CN" altLang="zh-CN" sz="1800" kern="1200" dirty="0"/>
                        <a:t>查阅文献、搜集与课题相关的资料</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kumimoji="0" lang="en-US" altLang="zh-CN" sz="1800" kern="1200" dirty="0"/>
                        <a:t>2019.05–2019.06</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kumimoji="0" lang="zh-CN" altLang="en-US" sz="1800" kern="1200" dirty="0"/>
                        <a:t>文献综述，熟悉课题方向</a:t>
                      </a:r>
                      <a:endParaRPr lang="zh-CN" altLang="en-US" sz="1800" b="1" dirty="0">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1"/>
                  </a:ext>
                </a:extLst>
              </a:tr>
              <a:tr h="599462">
                <a:tc>
                  <a:txBody>
                    <a:bodyPr/>
                    <a:lstStyle/>
                    <a:p>
                      <a:pPr algn="ctr"/>
                      <a:r>
                        <a:rPr lang="en-US" altLang="zh-CN" sz="1600" dirty="0"/>
                        <a:t>2</a:t>
                      </a:r>
                      <a:endParaRPr lang="zh-CN" altLang="en-US" sz="1600" dirty="0">
                        <a:latin typeface="华文新魏" panose="02010800040101010101" pitchFamily="2" charset="-122"/>
                        <a:ea typeface="华文新魏" panose="02010800040101010101" pitchFamily="2" charset="-122"/>
                      </a:endParaRPr>
                    </a:p>
                  </a:txBody>
                  <a:tcPr anchor="ctr"/>
                </a:tc>
                <a:tc>
                  <a:txBody>
                    <a:bodyPr/>
                    <a:lstStyle/>
                    <a:p>
                      <a:pPr algn="ctr"/>
                      <a:r>
                        <a:rPr lang="zh-CN" altLang="zh-CN" sz="1800" kern="1200" dirty="0"/>
                        <a:t>制定研究方案</a:t>
                      </a:r>
                      <a:r>
                        <a:rPr lang="zh-CN" altLang="en-US" sz="1800" kern="1200" dirty="0"/>
                        <a:t>，</a:t>
                      </a:r>
                      <a:r>
                        <a:rPr lang="zh-CN" altLang="zh-CN" sz="1800" kern="1200" dirty="0"/>
                        <a:t>进行开题</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en-US" altLang="zh-CN" sz="1800" kern="1200" dirty="0"/>
                        <a:t>2019.07-2019.07</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kumimoji="0" lang="zh-CN" altLang="en-US" sz="1800" kern="1200" dirty="0"/>
                        <a:t>开题报告</a:t>
                      </a:r>
                      <a:endParaRPr lang="zh-CN" altLang="en-US" sz="1800" b="1" dirty="0">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2"/>
                  </a:ext>
                </a:extLst>
              </a:tr>
              <a:tr h="599462">
                <a:tc>
                  <a:txBody>
                    <a:bodyPr/>
                    <a:lstStyle/>
                    <a:p>
                      <a:pPr algn="ctr"/>
                      <a:r>
                        <a:rPr lang="en-US" altLang="zh-CN" sz="1600" dirty="0"/>
                        <a:t>3</a:t>
                      </a:r>
                      <a:endParaRPr lang="zh-CN" altLang="en-US" sz="1600" dirty="0">
                        <a:latin typeface="华文新魏" panose="02010800040101010101" pitchFamily="2" charset="-122"/>
                        <a:ea typeface="华文新魏" panose="02010800040101010101" pitchFamily="2" charset="-122"/>
                      </a:endParaRPr>
                    </a:p>
                  </a:txBody>
                  <a:tcPr anchor="ctr"/>
                </a:tc>
                <a:tc>
                  <a:txBody>
                    <a:bodyPr/>
                    <a:lstStyle/>
                    <a:p>
                      <a:pPr marL="0" algn="ctr" defTabSz="914400" rtl="0" eaLnBrk="1" latinLnBrk="0" hangingPunct="1"/>
                      <a:r>
                        <a:rPr lang="zh-CN" altLang="zh-CN" sz="1800" kern="1200" dirty="0">
                          <a:effectLst/>
                        </a:rPr>
                        <a:t>建立</a:t>
                      </a:r>
                      <a:r>
                        <a:rPr lang="zh-CN" altLang="zh-CN" sz="1800" kern="1200" dirty="0"/>
                        <a:t>合同计划排程模型</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en-US" altLang="zh-CN" sz="1800" kern="1200" dirty="0"/>
                        <a:t>2019.08-2019.10</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effectLst/>
                        </a:rPr>
                        <a:t>建立模型</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3"/>
                  </a:ext>
                </a:extLst>
              </a:tr>
              <a:tr h="599462">
                <a:tc>
                  <a:txBody>
                    <a:bodyPr/>
                    <a:lstStyle/>
                    <a:p>
                      <a:pPr algn="ctr"/>
                      <a:r>
                        <a:rPr lang="en-US" altLang="zh-CN" dirty="0"/>
                        <a:t>4</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zh-CN" sz="1800" kern="1200" dirty="0">
                          <a:effectLst/>
                        </a:rPr>
                        <a:t>验证</a:t>
                      </a:r>
                      <a:r>
                        <a:rPr lang="zh-CN" altLang="en-US" sz="1800" kern="1200" dirty="0">
                          <a:effectLst/>
                        </a:rPr>
                        <a:t>模型</a:t>
                      </a:r>
                      <a:r>
                        <a:rPr lang="zh-CN" altLang="zh-CN" sz="1800" kern="1200" dirty="0">
                          <a:effectLst/>
                        </a:rPr>
                        <a:t>的可行性与合理性</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kumimoji="0" lang="en-US" altLang="zh-CN" sz="1800" kern="1200" dirty="0"/>
                        <a:t>2019.11-2020.01</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lang="zh-CN" altLang="zh-CN" sz="1800" kern="1200" dirty="0">
                          <a:effectLst/>
                        </a:rPr>
                        <a:t>验证</a:t>
                      </a:r>
                      <a:r>
                        <a:rPr lang="zh-CN" altLang="en-US" sz="1800" kern="1200" dirty="0">
                          <a:effectLst/>
                        </a:rPr>
                        <a:t>模型正确</a:t>
                      </a:r>
                      <a:r>
                        <a:rPr lang="zh-CN" altLang="zh-CN" sz="1800" kern="1200" dirty="0">
                          <a:effectLst/>
                        </a:rPr>
                        <a:t>性</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4"/>
                  </a:ext>
                </a:extLst>
              </a:tr>
              <a:tr h="518182">
                <a:tc>
                  <a:txBody>
                    <a:bodyPr/>
                    <a:lstStyle/>
                    <a:p>
                      <a:pPr algn="ctr"/>
                      <a:r>
                        <a:rPr lang="en-US" altLang="zh-CN" dirty="0"/>
                        <a:t>5</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en-US" sz="1800" kern="1200" dirty="0">
                          <a:effectLst/>
                        </a:rPr>
                        <a:t>设计精确算法求解</a:t>
                      </a:r>
                      <a:endParaRPr lang="zh-CN" altLang="en-US" sz="1800" kern="1200" dirty="0">
                        <a:solidFill>
                          <a:schemeClr val="dk1"/>
                        </a:solidFill>
                        <a:effectLst/>
                        <a:latin typeface="+mn-lt"/>
                        <a:ea typeface="+mn-ea"/>
                        <a:cs typeface="+mn-cs"/>
                      </a:endParaRPr>
                    </a:p>
                  </a:txBody>
                  <a:tcPr marL="91439" marR="91439" anchor="ctr"/>
                </a:tc>
                <a:tc>
                  <a:txBody>
                    <a:bodyPr/>
                    <a:lstStyle/>
                    <a:p>
                      <a:pPr marL="0" algn="ctr" defTabSz="914400" rtl="0" eaLnBrk="1" latinLnBrk="0" hangingPunct="1"/>
                      <a:r>
                        <a:rPr kumimoji="0" lang="en-US" altLang="zh-CN" sz="1800" kern="1200"/>
                        <a:t>2020.02-2020.03</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lang="zh-CN" altLang="en-US" sz="1800" kern="1200" dirty="0">
                          <a:effectLst/>
                        </a:rPr>
                        <a:t>设计精确算法</a:t>
                      </a:r>
                      <a:endParaRPr lang="zh-CN" altLang="en-US" sz="1800" kern="1200" dirty="0">
                        <a:solidFill>
                          <a:schemeClr val="dk1"/>
                        </a:solidFill>
                        <a:effectLst/>
                        <a:latin typeface="+mn-lt"/>
                        <a:ea typeface="+mn-ea"/>
                        <a:cs typeface="+mn-cs"/>
                      </a:endParaRPr>
                    </a:p>
                  </a:txBody>
                  <a:tcPr marL="91439" marR="91439" anchor="ctr"/>
                </a:tc>
                <a:extLst>
                  <a:ext uri="{0D108BD9-81ED-4DB2-BD59-A6C34878D82A}">
                    <a16:rowId xmlns:a16="http://schemas.microsoft.com/office/drawing/2014/main" val="10005"/>
                  </a:ext>
                </a:extLst>
              </a:tr>
              <a:tr h="599462">
                <a:tc>
                  <a:txBody>
                    <a:bodyPr/>
                    <a:lstStyle/>
                    <a:p>
                      <a:pPr algn="ctr"/>
                      <a:r>
                        <a:rPr lang="en-US" altLang="zh-CN" dirty="0"/>
                        <a:t>6</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zh-CN" sz="1800" kern="1200" dirty="0"/>
                        <a:t>合理验证算法的</a:t>
                      </a:r>
                    </a:p>
                    <a:p>
                      <a:pPr algn="ctr"/>
                      <a:r>
                        <a:rPr lang="zh-CN" altLang="zh-CN" sz="1800" kern="1200" dirty="0"/>
                        <a:t>正确性和优越性</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en-US" altLang="zh-CN" sz="1800" kern="1200" dirty="0"/>
                        <a:t>2020.04-2020.04</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lang="zh-CN" altLang="en-US" sz="1800" kern="1200" dirty="0">
                          <a:effectLst/>
                        </a:rPr>
                        <a:t>优化完成</a:t>
                      </a:r>
                      <a:endParaRPr lang="zh-CN" altLang="en-US" sz="1800" kern="1200" dirty="0">
                        <a:solidFill>
                          <a:schemeClr val="dk1"/>
                        </a:solidFill>
                        <a:effectLst/>
                        <a:latin typeface="+mn-lt"/>
                        <a:ea typeface="+mn-ea"/>
                        <a:cs typeface="+mn-cs"/>
                      </a:endParaRPr>
                    </a:p>
                  </a:txBody>
                  <a:tcPr marL="91439" marR="91439" anchor="ctr"/>
                </a:tc>
                <a:extLst>
                  <a:ext uri="{0D108BD9-81ED-4DB2-BD59-A6C34878D82A}">
                    <a16:rowId xmlns:a16="http://schemas.microsoft.com/office/drawing/2014/main" val="10006"/>
                  </a:ext>
                </a:extLst>
              </a:tr>
              <a:tr h="564699">
                <a:tc>
                  <a:txBody>
                    <a:bodyPr/>
                    <a:lstStyle/>
                    <a:p>
                      <a:pPr algn="ctr"/>
                      <a:r>
                        <a:rPr lang="en-US" altLang="zh-CN" dirty="0"/>
                        <a:t>7</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marL="0" algn="ctr" defTabSz="914400" rtl="0" eaLnBrk="1" latinLnBrk="0" hangingPunct="1"/>
                      <a:r>
                        <a:rPr lang="zh-CN" altLang="en-US" sz="1800" kern="1200" dirty="0"/>
                        <a:t>初步撰写论文</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algn="ctr"/>
                      <a:r>
                        <a:rPr kumimoji="0" lang="en-US" altLang="zh-CN" sz="1800" kern="1200" dirty="0"/>
                        <a:t>2020.05-2020.05</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zh-CN" altLang="en-US" sz="1800" kern="1200" dirty="0"/>
                        <a:t>论文初稿</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7"/>
                  </a:ext>
                </a:extLst>
              </a:tr>
              <a:tr h="435184">
                <a:tc>
                  <a:txBody>
                    <a:bodyPr/>
                    <a:lstStyle/>
                    <a:p>
                      <a:pPr algn="ctr"/>
                      <a:r>
                        <a:rPr lang="en-US" altLang="zh-CN" dirty="0"/>
                        <a:t>8</a:t>
                      </a:r>
                      <a:endParaRPr lang="zh-CN" altLang="en-US" dirty="0">
                        <a:latin typeface="华文新魏" panose="02010800040101010101" pitchFamily="2" charset="-122"/>
                        <a:ea typeface="华文新魏" panose="02010800040101010101" pitchFamily="2" charset="-122"/>
                      </a:endParaRPr>
                    </a:p>
                  </a:txBody>
                  <a:tcPr anchor="ctr"/>
                </a:tc>
                <a:tc>
                  <a:txBody>
                    <a:bodyPr/>
                    <a:lstStyle/>
                    <a:p>
                      <a:pPr algn="ctr"/>
                      <a:r>
                        <a:rPr lang="zh-CN" altLang="zh-CN" sz="1800" kern="1200" dirty="0"/>
                        <a:t>论文</a:t>
                      </a:r>
                      <a:r>
                        <a:rPr lang="zh-CN" altLang="en-US" sz="1800" kern="1200" dirty="0"/>
                        <a:t>修改</a:t>
                      </a:r>
                      <a:r>
                        <a:rPr lang="zh-CN" altLang="zh-CN" sz="1800" kern="1200" dirty="0"/>
                        <a:t>、</a:t>
                      </a:r>
                      <a:r>
                        <a:rPr lang="en-US" altLang="zh-CN" sz="1800" kern="1200" dirty="0"/>
                        <a:t>PPT</a:t>
                      </a:r>
                      <a:r>
                        <a:rPr lang="zh-CN" altLang="zh-CN" sz="1800" kern="1200" dirty="0"/>
                        <a:t>制作</a:t>
                      </a:r>
                      <a:endParaRPr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en-US" altLang="zh-CN" sz="1800" kern="1200" dirty="0"/>
                        <a:t>2020.6</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tc>
                  <a:txBody>
                    <a:bodyPr/>
                    <a:lstStyle/>
                    <a:p>
                      <a:pPr marL="0" algn="ctr" defTabSz="914400" rtl="0" eaLnBrk="1" latinLnBrk="0" hangingPunct="1"/>
                      <a:r>
                        <a:rPr kumimoji="0" lang="zh-CN" altLang="zh-CN" sz="1800" kern="1200" dirty="0"/>
                        <a:t>提交论文、准备答辩</a:t>
                      </a:r>
                      <a:endParaRPr kumimoji="0" lang="zh-CN" altLang="en-US" sz="1800" b="1" kern="1200" dirty="0">
                        <a:solidFill>
                          <a:schemeClr val="dk1"/>
                        </a:solidFill>
                        <a:latin typeface="华文新魏" panose="02010800040101010101" pitchFamily="2" charset="-122"/>
                        <a:ea typeface="华文新魏" panose="02010800040101010101" pitchFamily="2" charset="-122"/>
                        <a:cs typeface="Times New Roman" panose="02020603050405020304" pitchFamily="18" charset="0"/>
                      </a:endParaRPr>
                    </a:p>
                  </a:txBody>
                  <a:tcPr marL="91439" marR="91439" anchor="ctr"/>
                </a:tc>
                <a:extLst>
                  <a:ext uri="{0D108BD9-81ED-4DB2-BD59-A6C34878D82A}">
                    <a16:rowId xmlns:a16="http://schemas.microsoft.com/office/drawing/2014/main" val="10008"/>
                  </a:ext>
                </a:extLst>
              </a:tr>
            </a:tbl>
          </a:graphicData>
        </a:graphic>
      </p:graphicFrame>
      <p:sp>
        <p:nvSpPr>
          <p:cNvPr id="4" name="TextBox 3"/>
          <p:cNvSpPr txBox="1">
            <a:spLocks noChangeArrowheads="1"/>
          </p:cNvSpPr>
          <p:nvPr/>
        </p:nvSpPr>
        <p:spPr bwMode="auto">
          <a:xfrm>
            <a:off x="5940152" y="97608"/>
            <a:ext cx="2880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400" b="1" kern="0" dirty="0">
                <a:solidFill>
                  <a:prstClr val="white"/>
                </a:solidFill>
                <a:latin typeface="Times New Roman" panose="02020603050405020304" pitchFamily="18" charset="0"/>
                <a:ea typeface="+mn-ea"/>
                <a:cs typeface="Times New Roman" panose="02020603050405020304" pitchFamily="18" charset="0"/>
              </a:rPr>
              <a:t>6</a:t>
            </a:r>
            <a:r>
              <a:rPr lang="zh-CN" altLang="en-US" sz="2400" b="1" kern="0" dirty="0">
                <a:solidFill>
                  <a:prstClr val="white"/>
                </a:solidFill>
                <a:latin typeface="Times New Roman" panose="02020603050405020304" pitchFamily="18" charset="0"/>
                <a:ea typeface="+mn-ea"/>
                <a:cs typeface="Times New Roman" panose="02020603050405020304" pitchFamily="18" charset="0"/>
              </a:rPr>
              <a:t>、预期成果及总结</a:t>
            </a:r>
            <a:endParaRPr lang="zh-CN" altLang="en-US" sz="2400" b="1" dirty="0">
              <a:solidFill>
                <a:schemeClr val="bg1"/>
              </a:solidFill>
              <a:latin typeface="Times New Roman" panose="02020603050405020304" pitchFamily="18" charset="0"/>
              <a:ea typeface="+mn-ea"/>
              <a:cs typeface="Times New Roman" panose="02020603050405020304" pitchFamily="18" charset="0"/>
            </a:endParaRPr>
          </a:p>
        </p:txBody>
      </p:sp>
      <p:sp>
        <p:nvSpPr>
          <p:cNvPr id="5" name="文本框 2"/>
          <p:cNvSpPr txBox="1"/>
          <p:nvPr/>
        </p:nvSpPr>
        <p:spPr>
          <a:xfrm>
            <a:off x="3203848" y="692696"/>
            <a:ext cx="2520280" cy="523220"/>
          </a:xfrm>
          <a:prstGeom prst="rect">
            <a:avLst/>
          </a:prstGeom>
          <a:noFill/>
        </p:spPr>
        <p:txBody>
          <a:bodyPr wrap="square" rtlCol="0">
            <a:spAutoFit/>
          </a:bodyPr>
          <a:lstStyle/>
          <a:p>
            <a:pPr algn="ctr"/>
            <a:r>
              <a:rPr lang="zh-CN" altLang="en-US" sz="2800" b="1" dirty="0"/>
              <a:t>工作计划</a:t>
            </a:r>
          </a:p>
        </p:txBody>
      </p:sp>
      <p:sp>
        <p:nvSpPr>
          <p:cNvPr id="6" name="Text Box 19">
            <a:extLst>
              <a:ext uri="{FF2B5EF4-FFF2-40B4-BE49-F238E27FC236}">
                <a16:creationId xmlns:a16="http://schemas.microsoft.com/office/drawing/2014/main" id="{89CC64BD-B981-427D-A15C-B517190944DB}"/>
              </a:ext>
            </a:extLst>
          </p:cNvPr>
          <p:cNvSpPr txBox="1">
            <a:spLocks noChangeArrowheads="1"/>
          </p:cNvSpPr>
          <p:nvPr/>
        </p:nvSpPr>
        <p:spPr bwMode="auto">
          <a:xfrm>
            <a:off x="34924" y="6418263"/>
            <a:ext cx="2664867" cy="400110"/>
          </a:xfrm>
          <a:prstGeom prst="rect">
            <a:avLst/>
          </a:prstGeom>
          <a:noFill/>
          <a:ln w="9525">
            <a:noFill/>
            <a:miter lim="800000"/>
          </a:ln>
          <a:effectLst/>
        </p:spPr>
        <p:txBody>
          <a:bodyPr wrap="square">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79635" y="3244334"/>
            <a:ext cx="184730" cy="369332"/>
          </a:xfrm>
          <a:prstGeom prst="rect">
            <a:avLst/>
          </a:prstGeom>
        </p:spPr>
        <p:txBody>
          <a:bodyPr wrap="none">
            <a:spAutoFit/>
          </a:bodyPr>
          <a:lstStyle/>
          <a:p>
            <a:pPr algn="ctr"/>
            <a:endParaRPr lang="en-US" altLang="zh-CN" b="1" dirty="0"/>
          </a:p>
        </p:txBody>
      </p:sp>
      <p:sp>
        <p:nvSpPr>
          <p:cNvPr id="3" name="矩形 2"/>
          <p:cNvSpPr/>
          <p:nvPr/>
        </p:nvSpPr>
        <p:spPr>
          <a:xfrm>
            <a:off x="2591521" y="2812991"/>
            <a:ext cx="4145687" cy="769441"/>
          </a:xfrm>
          <a:prstGeom prst="rect">
            <a:avLst/>
          </a:prstGeom>
        </p:spPr>
        <p:txBody>
          <a:bodyPr wrap="square">
            <a:spAutoFit/>
          </a:bodyPr>
          <a:lstStyle/>
          <a:p>
            <a:r>
              <a:rPr lang="zh-CN" altLang="en-US" sz="4400" b="1" dirty="0"/>
              <a:t>谢谢各位老师！</a:t>
            </a:r>
            <a:endParaRPr lang="zh-CN" altLang="en-US" sz="4400" dirty="0"/>
          </a:p>
        </p:txBody>
      </p:sp>
      <p:sp>
        <p:nvSpPr>
          <p:cNvPr id="4" name="Text Box 19">
            <a:extLst>
              <a:ext uri="{FF2B5EF4-FFF2-40B4-BE49-F238E27FC236}">
                <a16:creationId xmlns:a16="http://schemas.microsoft.com/office/drawing/2014/main" id="{F12C4FB0-600A-4A08-AC0B-CB8B1C091AA2}"/>
              </a:ext>
            </a:extLst>
          </p:cNvPr>
          <p:cNvSpPr txBox="1">
            <a:spLocks noChangeArrowheads="1"/>
          </p:cNvSpPr>
          <p:nvPr/>
        </p:nvSpPr>
        <p:spPr bwMode="auto">
          <a:xfrm>
            <a:off x="34925" y="6418263"/>
            <a:ext cx="2254250" cy="707886"/>
          </a:xfrm>
          <a:prstGeom prst="rect">
            <a:avLst/>
          </a:prstGeom>
          <a:noFill/>
          <a:ln w="9525">
            <a:noFill/>
            <a:miter lim="800000"/>
          </a:ln>
          <a:effectLst/>
        </p:spPr>
        <p:txBody>
          <a:bodyPr>
            <a:spAutoFit/>
          </a:bodyPr>
          <a:lstStyle/>
          <a:p>
            <a:r>
              <a:rPr lang="zh-CN" altLang="en-US" sz="2000" dirty="0">
                <a:solidFill>
                  <a:schemeClr val="bg1"/>
                </a:solidFill>
                <a:latin typeface="楷体" panose="02010609060101010101" pitchFamily="49" charset="-122"/>
                <a:ea typeface="楷体" panose="02010609060101010101" pitchFamily="49" charset="-122"/>
              </a:rPr>
              <a:t>智能系统工程研究所</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smtClean="0"/>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smtClean="0"/>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TotalTime>
  <Words>1552</Words>
  <Application>Microsoft Office PowerPoint</Application>
  <PresentationFormat>全屏显示(4:3)</PresentationFormat>
  <Paragraphs>297</Paragraphs>
  <Slides>21</Slides>
  <Notes>14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21</vt:i4>
      </vt:variant>
    </vt:vector>
  </HeadingPairs>
  <TitlesOfParts>
    <vt:vector size="35" baseType="lpstr">
      <vt:lpstr>Microsoft JhengHei</vt:lpstr>
      <vt:lpstr>黑体</vt:lpstr>
      <vt:lpstr>华文新魏</vt:lpstr>
      <vt:lpstr>楷体</vt:lpstr>
      <vt:lpstr>宋体</vt:lpstr>
      <vt:lpstr>微软雅黑</vt:lpstr>
      <vt:lpstr>微软雅黑</vt:lpstr>
      <vt:lpstr>Arial</vt:lpstr>
      <vt:lpstr>Calibri</vt:lpstr>
      <vt:lpstr>Times New Roman</vt:lpstr>
      <vt:lpstr>Wingdings</vt:lpstr>
      <vt:lpstr>默认设计模板</vt:lpstr>
      <vt:lpstr>1_默认设计模板</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c</dc:creator>
  <cp:lastModifiedBy>LIU SHIXIN</cp:lastModifiedBy>
  <cp:revision>1510</cp:revision>
  <dcterms:created xsi:type="dcterms:W3CDTF">2005-09-12T16:20:00Z</dcterms:created>
  <dcterms:modified xsi:type="dcterms:W3CDTF">2019-07-16T14:46:02Z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