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4" r:id="rId1"/>
  </p:sldMasterIdLst>
  <p:notesMasterIdLst>
    <p:notesMasterId r:id="rId15"/>
  </p:notesMasterIdLst>
  <p:handoutMasterIdLst>
    <p:handoutMasterId r:id="rId16"/>
  </p:handoutMasterIdLst>
  <p:sldIdLst>
    <p:sldId id="499" r:id="rId2"/>
    <p:sldId id="500" r:id="rId3"/>
    <p:sldId id="501" r:id="rId4"/>
    <p:sldId id="502" r:id="rId5"/>
    <p:sldId id="503" r:id="rId6"/>
    <p:sldId id="504" r:id="rId7"/>
    <p:sldId id="505" r:id="rId8"/>
    <p:sldId id="506" r:id="rId9"/>
    <p:sldId id="507" r:id="rId10"/>
    <p:sldId id="508" r:id="rId11"/>
    <p:sldId id="509" r:id="rId12"/>
    <p:sldId id="510" r:id="rId13"/>
    <p:sldId id="511" r:id="rId14"/>
  </p:sldIdLst>
  <p:sldSz cx="9144000" cy="5143500" type="screen16x9"/>
  <p:notesSz cx="6858000" cy="9144000"/>
  <p:custDataLst>
    <p:tags r:id="rId17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4">
          <p15:clr>
            <a:srgbClr val="A4A3A4"/>
          </p15:clr>
        </p15:guide>
        <p15:guide id="2" pos="317">
          <p15:clr>
            <a:srgbClr val="A4A3A4"/>
          </p15:clr>
        </p15:guide>
        <p15:guide id="3" orient="horz" pos="146">
          <p15:clr>
            <a:srgbClr val="A4A3A4"/>
          </p15:clr>
        </p15:guide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  <p15:guide id="6" pos="544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063D54"/>
    <a:srgbClr val="074D69"/>
    <a:srgbClr val="F3F4F4"/>
    <a:srgbClr val="2E4864"/>
    <a:srgbClr val="10327B"/>
    <a:srgbClr val="E0E0E0"/>
    <a:srgbClr val="EFEFEF"/>
    <a:srgbClr val="0000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6314" autoAdjust="0"/>
  </p:normalViewPr>
  <p:slideViewPr>
    <p:cSldViewPr snapToGrid="0" showGuides="1">
      <p:cViewPr varScale="1">
        <p:scale>
          <a:sx n="146" d="100"/>
          <a:sy n="146" d="100"/>
        </p:scale>
        <p:origin x="702" y="108"/>
      </p:cViewPr>
      <p:guideLst>
        <p:guide orient="horz" pos="3094"/>
        <p:guide pos="317"/>
        <p:guide orient="horz" pos="146"/>
        <p:guide pos="2880"/>
        <p:guide orient="horz" pos="1620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2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微软雅黑 Light" panose="020B0502040204020203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C7E0A-FE25-4298-B2A5-F81E4409DC3D}" type="datetimeFigureOut">
              <a:rPr lang="zh-CN" altLang="en-US" smtClean="0">
                <a:ea typeface="微软雅黑 Light" panose="020B0502040204020203" pitchFamily="34" charset="-122"/>
              </a:rPr>
              <a:t>2024/5/21</a:t>
            </a:fld>
            <a:endParaRPr lang="zh-CN" altLang="en-US" dirty="0">
              <a:ea typeface="微软雅黑 Light" panose="020B0502040204020203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微软雅黑 Light" panose="020B0502040204020203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4E8C-F5F4-4E78-B894-8ABE74AB9ABE}" type="slidenum">
              <a:rPr lang="zh-CN" altLang="en-US" smtClean="0">
                <a:ea typeface="微软雅黑 Light" panose="020B0502040204020203" pitchFamily="34" charset="-122"/>
              </a:rPr>
              <a:t>‹#›</a:t>
            </a:fld>
            <a:endParaRPr lang="zh-CN" altLang="en-US" dirty="0"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42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 Light" panose="020B0502040204020203" pitchFamily="34" charset="-122"/>
              </a:defRPr>
            </a:lvl1pPr>
          </a:lstStyle>
          <a:p>
            <a:fld id="{10DB2BC2-E36F-4014-826D-67C3AA5D550C}" type="datetimeFigureOut">
              <a:rPr lang="zh-CN" altLang="en-US" smtClean="0"/>
              <a:pPr/>
              <a:t>2024/5/21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 Light" panose="020B0502040204020203" pitchFamily="34" charset="-122"/>
              </a:defRPr>
            </a:lvl1pPr>
          </a:lstStyle>
          <a:p>
            <a:fld id="{0D64EC1F-4C1A-4575-A29E-535B091AA91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606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 Light" panose="020B0502040204020203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 Light" panose="020B0502040204020203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 Light" panose="020B0502040204020203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 Light" panose="020B0502040204020203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A1E2-0BCB-498F-B666-E5E40D25323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35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39012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F7005-9383-42C0-A374-E507AD6B23EE}" type="datetimeFigureOut">
              <a:rPr lang="zh-CN" altLang="en-US" smtClean="0"/>
              <a:t>2024/5/21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A4E-3D33-45DE-B4D9-3F7D650B89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Visio___.vsd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513A937-C834-4C8A-8D8A-C04984602893}"/>
              </a:ext>
            </a:extLst>
          </p:cNvPr>
          <p:cNvGrpSpPr/>
          <p:nvPr/>
        </p:nvGrpSpPr>
        <p:grpSpPr>
          <a:xfrm>
            <a:off x="4405573" y="1524000"/>
            <a:ext cx="3051402" cy="2551672"/>
            <a:chOff x="5932401" y="1115071"/>
            <a:chExt cx="4462674" cy="4095751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3" name="空心弧 12"/>
            <p:cNvSpPr>
              <a:spLocks noChangeArrowheads="1"/>
            </p:cNvSpPr>
            <p:nvPr/>
          </p:nvSpPr>
          <p:spPr bwMode="auto">
            <a:xfrm>
              <a:off x="6338676" y="1115071"/>
              <a:ext cx="4056399" cy="4095751"/>
            </a:xfrm>
            <a:custGeom>
              <a:avLst/>
              <a:gdLst>
                <a:gd name="T0" fmla="*/ 4057281 w 4057966"/>
                <a:gd name="T1" fmla="*/ 1994398 h 4095198"/>
                <a:gd name="T2" fmla="*/ 4057966 w 4057966"/>
                <a:gd name="T3" fmla="*/ 2047598 h 4095198"/>
                <a:gd name="T4" fmla="*/ 2028983 w 4057966"/>
                <a:gd name="T5" fmla="*/ 4095197 h 4095198"/>
                <a:gd name="T6" fmla="*/ 0 w 4057966"/>
                <a:gd name="T7" fmla="*/ 2047598 h 4095198"/>
                <a:gd name="T8" fmla="*/ 1986128 w 4057966"/>
                <a:gd name="T9" fmla="*/ 447 h 4095198"/>
                <a:gd name="T10" fmla="*/ 2002254 w 4057966"/>
                <a:gd name="T11" fmla="*/ 764360 h 4095198"/>
                <a:gd name="T12" fmla="*/ 764074 w 4057966"/>
                <a:gd name="T13" fmla="*/ 2047597 h 4095198"/>
                <a:gd name="T14" fmla="*/ 2028982 w 4057966"/>
                <a:gd name="T15" fmla="*/ 3331121 h 4095198"/>
                <a:gd name="T16" fmla="*/ 3293890 w 4057966"/>
                <a:gd name="T17" fmla="*/ 2047597 h 4095198"/>
                <a:gd name="T18" fmla="*/ 3293472 w 4057966"/>
                <a:gd name="T19" fmla="*/ 2014266 h 4095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57966" h="4095198">
                  <a:moveTo>
                    <a:pt x="4057281" y="1994398"/>
                  </a:moveTo>
                  <a:cubicBezTo>
                    <a:pt x="4057741" y="2012065"/>
                    <a:pt x="4057966" y="2029805"/>
                    <a:pt x="4057966" y="2047598"/>
                  </a:cubicBezTo>
                  <a:cubicBezTo>
                    <a:pt x="4057966" y="3178456"/>
                    <a:pt x="3149559" y="4095197"/>
                    <a:pt x="2028983" y="4095197"/>
                  </a:cubicBezTo>
                  <a:cubicBezTo>
                    <a:pt x="908407" y="4095197"/>
                    <a:pt x="0" y="3178456"/>
                    <a:pt x="0" y="2047598"/>
                  </a:cubicBezTo>
                  <a:cubicBezTo>
                    <a:pt x="0" y="931123"/>
                    <a:pt x="885447" y="23352"/>
                    <a:pt x="1986128" y="447"/>
                  </a:cubicBezTo>
                  <a:lnTo>
                    <a:pt x="2002254" y="764360"/>
                  </a:lnTo>
                  <a:cubicBezTo>
                    <a:pt x="1315932" y="778863"/>
                    <a:pt x="764074" y="1347835"/>
                    <a:pt x="764074" y="2047597"/>
                  </a:cubicBezTo>
                  <a:cubicBezTo>
                    <a:pt x="764074" y="2756468"/>
                    <a:pt x="1330393" y="3331121"/>
                    <a:pt x="2028982" y="3331121"/>
                  </a:cubicBezTo>
                  <a:cubicBezTo>
                    <a:pt x="2727571" y="3331121"/>
                    <a:pt x="3293890" y="2756468"/>
                    <a:pt x="3293890" y="2047597"/>
                  </a:cubicBezTo>
                  <a:cubicBezTo>
                    <a:pt x="3293890" y="2036453"/>
                    <a:pt x="3293750" y="2025342"/>
                    <a:pt x="3293472" y="2014266"/>
                  </a:cubicBezTo>
                  <a:close/>
                </a:path>
              </a:pathLst>
            </a:custGeom>
            <a:solidFill>
              <a:srgbClr val="063D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59" tIns="34280" rIns="68559" bIns="34280"/>
            <a:lstStyle/>
            <a:p>
              <a:endParaRPr lang="zh-CN" altLang="en-US" sz="1799">
                <a:solidFill>
                  <a:schemeClr val="bg1"/>
                </a:solidFill>
                <a:latin typeface="FZHei-B01S" panose="02010601030101010101" pitchFamily="2" charset="-122"/>
                <a:ea typeface="FZHei-B01S" panose="02010601030101010101" pitchFamily="2" charset="-122"/>
                <a:sym typeface="FZHei-B01S" panose="02010601030101010101" pitchFamily="2" charset="-122"/>
              </a:endParaRPr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auto">
            <a:xfrm>
              <a:off x="7133769" y="1929459"/>
              <a:ext cx="2466213" cy="2466975"/>
            </a:xfrm>
            <a:prstGeom prst="ellipse">
              <a:avLst/>
            </a:prstGeom>
            <a:noFill/>
            <a:ln w="349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59" tIns="34280" rIns="68559" bIns="34280"/>
            <a:lstStyle/>
            <a:p>
              <a:endParaRPr lang="zh-CN" altLang="en-US" sz="1799">
                <a:solidFill>
                  <a:schemeClr val="bg1"/>
                </a:solidFill>
                <a:latin typeface="FZHei-B01S" panose="02010601030101010101" pitchFamily="2" charset="-122"/>
                <a:ea typeface="FZHei-B01S" panose="02010601030101010101" pitchFamily="2" charset="-122"/>
                <a:sym typeface="FZHei-B01S" panose="02010601030101010101" pitchFamily="2" charset="-122"/>
              </a:endParaRPr>
            </a:p>
          </p:txBody>
        </p:sp>
        <p:sp>
          <p:nvSpPr>
            <p:cNvPr id="19" name="Freeform 5"/>
            <p:cNvSpPr>
              <a:spLocks noEditPoints="1" noChangeArrowheads="1"/>
            </p:cNvSpPr>
            <p:nvPr/>
          </p:nvSpPr>
          <p:spPr bwMode="auto">
            <a:xfrm>
              <a:off x="7536868" y="2432696"/>
              <a:ext cx="1669535" cy="1497013"/>
            </a:xfrm>
            <a:custGeom>
              <a:avLst/>
              <a:gdLst>
                <a:gd name="T0" fmla="*/ 0 w 139"/>
                <a:gd name="T1" fmla="*/ 44 h 124"/>
                <a:gd name="T2" fmla="*/ 24 w 139"/>
                <a:gd name="T3" fmla="*/ 24 h 124"/>
                <a:gd name="T4" fmla="*/ 15 w 139"/>
                <a:gd name="T5" fmla="*/ 45 h 124"/>
                <a:gd name="T6" fmla="*/ 8 w 139"/>
                <a:gd name="T7" fmla="*/ 62 h 124"/>
                <a:gd name="T8" fmla="*/ 12 w 139"/>
                <a:gd name="T9" fmla="*/ 58 h 124"/>
                <a:gd name="T10" fmla="*/ 32 w 139"/>
                <a:gd name="T11" fmla="*/ 36 h 124"/>
                <a:gd name="T12" fmla="*/ 54 w 139"/>
                <a:gd name="T13" fmla="*/ 27 h 124"/>
                <a:gd name="T14" fmla="*/ 36 w 139"/>
                <a:gd name="T15" fmla="*/ 61 h 124"/>
                <a:gd name="T16" fmla="*/ 56 w 139"/>
                <a:gd name="T17" fmla="*/ 44 h 124"/>
                <a:gd name="T18" fmla="*/ 56 w 139"/>
                <a:gd name="T19" fmla="*/ 49 h 124"/>
                <a:gd name="T20" fmla="*/ 62 w 139"/>
                <a:gd name="T21" fmla="*/ 55 h 124"/>
                <a:gd name="T22" fmla="*/ 25 w 139"/>
                <a:gd name="T23" fmla="*/ 87 h 124"/>
                <a:gd name="T24" fmla="*/ 18 w 139"/>
                <a:gd name="T25" fmla="*/ 88 h 124"/>
                <a:gd name="T26" fmla="*/ 31 w 139"/>
                <a:gd name="T27" fmla="*/ 58 h 124"/>
                <a:gd name="T28" fmla="*/ 36 w 139"/>
                <a:gd name="T29" fmla="*/ 39 h 124"/>
                <a:gd name="T30" fmla="*/ 14 w 139"/>
                <a:gd name="T31" fmla="*/ 61 h 124"/>
                <a:gd name="T32" fmla="*/ 6 w 139"/>
                <a:gd name="T33" fmla="*/ 64 h 124"/>
                <a:gd name="T34" fmla="*/ 12 w 139"/>
                <a:gd name="T35" fmla="*/ 43 h 124"/>
                <a:gd name="T36" fmla="*/ 20 w 139"/>
                <a:gd name="T37" fmla="*/ 23 h 124"/>
                <a:gd name="T38" fmla="*/ 1 w 139"/>
                <a:gd name="T39" fmla="*/ 45 h 124"/>
                <a:gd name="T40" fmla="*/ 0 w 139"/>
                <a:gd name="T41" fmla="*/ 44 h 124"/>
                <a:gd name="T42" fmla="*/ 70 w 139"/>
                <a:gd name="T43" fmla="*/ 70 h 124"/>
                <a:gd name="T44" fmla="*/ 88 w 139"/>
                <a:gd name="T45" fmla="*/ 54 h 124"/>
                <a:gd name="T46" fmla="*/ 92 w 139"/>
                <a:gd name="T47" fmla="*/ 54 h 124"/>
                <a:gd name="T48" fmla="*/ 137 w 139"/>
                <a:gd name="T49" fmla="*/ 101 h 124"/>
                <a:gd name="T50" fmla="*/ 136 w 139"/>
                <a:gd name="T51" fmla="*/ 105 h 124"/>
                <a:gd name="T52" fmla="*/ 119 w 139"/>
                <a:gd name="T53" fmla="*/ 122 h 124"/>
                <a:gd name="T54" fmla="*/ 115 w 139"/>
                <a:gd name="T55" fmla="*/ 122 h 124"/>
                <a:gd name="T56" fmla="*/ 70 w 139"/>
                <a:gd name="T57" fmla="*/ 74 h 124"/>
                <a:gd name="T58" fmla="*/ 70 w 139"/>
                <a:gd name="T59" fmla="*/ 70 h 124"/>
                <a:gd name="T60" fmla="*/ 61 w 139"/>
                <a:gd name="T61" fmla="*/ 37 h 124"/>
                <a:gd name="T62" fmla="*/ 59 w 139"/>
                <a:gd name="T63" fmla="*/ 47 h 124"/>
                <a:gd name="T64" fmla="*/ 67 w 139"/>
                <a:gd name="T65" fmla="*/ 56 h 124"/>
                <a:gd name="T66" fmla="*/ 63 w 139"/>
                <a:gd name="T67" fmla="*/ 59 h 124"/>
                <a:gd name="T68" fmla="*/ 70 w 139"/>
                <a:gd name="T69" fmla="*/ 67 h 124"/>
                <a:gd name="T70" fmla="*/ 85 w 139"/>
                <a:gd name="T71" fmla="*/ 53 h 124"/>
                <a:gd name="T72" fmla="*/ 78 w 139"/>
                <a:gd name="T73" fmla="*/ 46 h 124"/>
                <a:gd name="T74" fmla="*/ 73 w 139"/>
                <a:gd name="T75" fmla="*/ 50 h 124"/>
                <a:gd name="T76" fmla="*/ 61 w 139"/>
                <a:gd name="T77" fmla="*/ 37 h 124"/>
                <a:gd name="T78" fmla="*/ 121 w 139"/>
                <a:gd name="T79" fmla="*/ 123 h 124"/>
                <a:gd name="T80" fmla="*/ 122 w 139"/>
                <a:gd name="T81" fmla="*/ 124 h 124"/>
                <a:gd name="T82" fmla="*/ 139 w 139"/>
                <a:gd name="T83" fmla="*/ 108 h 124"/>
                <a:gd name="T84" fmla="*/ 138 w 139"/>
                <a:gd name="T85" fmla="*/ 107 h 124"/>
                <a:gd name="T86" fmla="*/ 121 w 139"/>
                <a:gd name="T87" fmla="*/ 12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9" h="124">
                  <a:moveTo>
                    <a:pt x="0" y="44"/>
                  </a:moveTo>
                  <a:cubicBezTo>
                    <a:pt x="0" y="44"/>
                    <a:pt x="31" y="0"/>
                    <a:pt x="24" y="24"/>
                  </a:cubicBezTo>
                  <a:cubicBezTo>
                    <a:pt x="22" y="30"/>
                    <a:pt x="19" y="38"/>
                    <a:pt x="15" y="45"/>
                  </a:cubicBezTo>
                  <a:cubicBezTo>
                    <a:pt x="11" y="53"/>
                    <a:pt x="8" y="61"/>
                    <a:pt x="8" y="62"/>
                  </a:cubicBezTo>
                  <a:cubicBezTo>
                    <a:pt x="8" y="62"/>
                    <a:pt x="9" y="61"/>
                    <a:pt x="12" y="58"/>
                  </a:cubicBezTo>
                  <a:cubicBezTo>
                    <a:pt x="18" y="52"/>
                    <a:pt x="25" y="43"/>
                    <a:pt x="32" y="36"/>
                  </a:cubicBezTo>
                  <a:cubicBezTo>
                    <a:pt x="48" y="15"/>
                    <a:pt x="55" y="17"/>
                    <a:pt x="54" y="27"/>
                  </a:cubicBezTo>
                  <a:cubicBezTo>
                    <a:pt x="52" y="36"/>
                    <a:pt x="41" y="51"/>
                    <a:pt x="36" y="61"/>
                  </a:cubicBezTo>
                  <a:cubicBezTo>
                    <a:pt x="21" y="84"/>
                    <a:pt x="45" y="50"/>
                    <a:pt x="56" y="44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62" y="55"/>
                    <a:pt x="45" y="73"/>
                    <a:pt x="25" y="87"/>
                  </a:cubicBezTo>
                  <a:cubicBezTo>
                    <a:pt x="21" y="90"/>
                    <a:pt x="19" y="90"/>
                    <a:pt x="18" y="88"/>
                  </a:cubicBezTo>
                  <a:cubicBezTo>
                    <a:pt x="16" y="85"/>
                    <a:pt x="23" y="72"/>
                    <a:pt x="31" y="58"/>
                  </a:cubicBezTo>
                  <a:cubicBezTo>
                    <a:pt x="40" y="42"/>
                    <a:pt x="57" y="12"/>
                    <a:pt x="36" y="39"/>
                  </a:cubicBezTo>
                  <a:cubicBezTo>
                    <a:pt x="29" y="47"/>
                    <a:pt x="21" y="55"/>
                    <a:pt x="14" y="61"/>
                  </a:cubicBezTo>
                  <a:cubicBezTo>
                    <a:pt x="10" y="65"/>
                    <a:pt x="7" y="66"/>
                    <a:pt x="6" y="64"/>
                  </a:cubicBezTo>
                  <a:cubicBezTo>
                    <a:pt x="4" y="62"/>
                    <a:pt x="8" y="53"/>
                    <a:pt x="12" y="43"/>
                  </a:cubicBezTo>
                  <a:cubicBezTo>
                    <a:pt x="15" y="36"/>
                    <a:pt x="19" y="29"/>
                    <a:pt x="20" y="23"/>
                  </a:cubicBezTo>
                  <a:cubicBezTo>
                    <a:pt x="22" y="17"/>
                    <a:pt x="1" y="45"/>
                    <a:pt x="1" y="45"/>
                  </a:cubicBezTo>
                  <a:cubicBezTo>
                    <a:pt x="0" y="44"/>
                    <a:pt x="0" y="44"/>
                    <a:pt x="0" y="44"/>
                  </a:cubicBezTo>
                  <a:close/>
                  <a:moveTo>
                    <a:pt x="70" y="70"/>
                  </a:moveTo>
                  <a:cubicBezTo>
                    <a:pt x="88" y="54"/>
                    <a:pt x="88" y="54"/>
                    <a:pt x="88" y="54"/>
                  </a:cubicBezTo>
                  <a:cubicBezTo>
                    <a:pt x="89" y="52"/>
                    <a:pt x="91" y="52"/>
                    <a:pt x="92" y="54"/>
                  </a:cubicBezTo>
                  <a:cubicBezTo>
                    <a:pt x="137" y="101"/>
                    <a:pt x="137" y="101"/>
                    <a:pt x="137" y="101"/>
                  </a:cubicBezTo>
                  <a:cubicBezTo>
                    <a:pt x="138" y="102"/>
                    <a:pt x="137" y="104"/>
                    <a:pt x="136" y="105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118" y="123"/>
                    <a:pt x="116" y="123"/>
                    <a:pt x="115" y="122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69" y="73"/>
                    <a:pt x="69" y="71"/>
                    <a:pt x="70" y="70"/>
                  </a:cubicBezTo>
                  <a:close/>
                  <a:moveTo>
                    <a:pt x="61" y="37"/>
                  </a:moveTo>
                  <a:cubicBezTo>
                    <a:pt x="59" y="47"/>
                    <a:pt x="59" y="47"/>
                    <a:pt x="59" y="47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63" y="59"/>
                    <a:pt x="63" y="59"/>
                    <a:pt x="63" y="59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85" y="53"/>
                    <a:pt x="85" y="53"/>
                    <a:pt x="85" y="53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61" y="37"/>
                    <a:pt x="61" y="37"/>
                    <a:pt x="61" y="37"/>
                  </a:cubicBezTo>
                  <a:close/>
                  <a:moveTo>
                    <a:pt x="121" y="123"/>
                  </a:moveTo>
                  <a:cubicBezTo>
                    <a:pt x="122" y="124"/>
                    <a:pt x="122" y="124"/>
                    <a:pt x="122" y="124"/>
                  </a:cubicBezTo>
                  <a:cubicBezTo>
                    <a:pt x="139" y="108"/>
                    <a:pt x="139" y="108"/>
                    <a:pt x="139" y="108"/>
                  </a:cubicBezTo>
                  <a:cubicBezTo>
                    <a:pt x="138" y="107"/>
                    <a:pt x="138" y="107"/>
                    <a:pt x="138" y="107"/>
                  </a:cubicBezTo>
                  <a:lnTo>
                    <a:pt x="121" y="123"/>
                  </a:lnTo>
                  <a:close/>
                </a:path>
              </a:pathLst>
            </a:custGeom>
            <a:solidFill>
              <a:srgbClr val="063D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59" tIns="34280" rIns="68559" bIns="34280"/>
            <a:lstStyle/>
            <a:p>
              <a:endParaRPr lang="zh-CN" altLang="en-US" sz="1799">
                <a:solidFill>
                  <a:schemeClr val="bg1"/>
                </a:solidFill>
                <a:latin typeface="FZHei-B01S" panose="02010601030101010101" pitchFamily="2" charset="-122"/>
                <a:ea typeface="FZHei-B01S" panose="02010601030101010101" pitchFamily="2" charset="-122"/>
                <a:sym typeface="FZHei-B01S" panose="02010601030101010101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410091" y="1491309"/>
              <a:ext cx="655436" cy="6540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</a:gradFill>
            <a:ln w="476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59" tIns="34280" rIns="68559" bIns="34280" anchor="ctr"/>
            <a:lstStyle/>
            <a:p>
              <a:pPr algn="ctr" fontAlgn="auto"/>
              <a:r>
                <a:rPr lang="en-US" altLang="zh-CN" sz="1799" noProof="1">
                  <a:solidFill>
                    <a:schemeClr val="tx1">
                      <a:lumMod val="95000"/>
                      <a:lumOff val="5000"/>
                    </a:schemeClr>
                  </a:solidFill>
                  <a:latin typeface="FZHei-B01S" panose="02010601030101010101" pitchFamily="2" charset="-122"/>
                  <a:ea typeface="FZHei-B01S" panose="02010601030101010101" pitchFamily="2" charset="-122"/>
                  <a:sym typeface="FZHei-B01S" panose="02010601030101010101" pitchFamily="2" charset="-122"/>
                </a:rPr>
                <a:t>1</a:t>
              </a:r>
              <a:endParaRPr lang="zh-CN" altLang="en-US" sz="1799" noProof="1">
                <a:solidFill>
                  <a:schemeClr val="tx1">
                    <a:lumMod val="95000"/>
                    <a:lumOff val="5000"/>
                  </a:schemeClr>
                </a:solidFill>
                <a:latin typeface="FZHei-B01S" panose="02010601030101010101" pitchFamily="2" charset="-122"/>
                <a:ea typeface="FZHei-B01S" panose="02010601030101010101" pitchFamily="2" charset="-122"/>
                <a:sym typeface="FZHei-B01S" panose="02010601030101010101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932401" y="2886721"/>
              <a:ext cx="653849" cy="65563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</a:gradFill>
            <a:ln w="476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59" tIns="34280" rIns="68559" bIns="34280" anchor="ctr"/>
            <a:lstStyle/>
            <a:p>
              <a:pPr algn="ctr" fontAlgn="auto"/>
              <a:r>
                <a:rPr lang="en-US" altLang="zh-CN" sz="1799" noProof="1">
                  <a:solidFill>
                    <a:schemeClr val="tx1">
                      <a:lumMod val="95000"/>
                      <a:lumOff val="5000"/>
                    </a:schemeClr>
                  </a:solidFill>
                  <a:latin typeface="FZHei-B01S" panose="02010601030101010101" pitchFamily="2" charset="-122"/>
                  <a:ea typeface="FZHei-B01S" panose="02010601030101010101" pitchFamily="2" charset="-122"/>
                  <a:sym typeface="FZHei-B01S" panose="02010601030101010101" pitchFamily="2" charset="-122"/>
                </a:rPr>
                <a:t>2</a:t>
              </a:r>
              <a:endParaRPr lang="zh-CN" altLang="en-US" sz="1799" noProof="1">
                <a:solidFill>
                  <a:schemeClr val="tx1">
                    <a:lumMod val="95000"/>
                    <a:lumOff val="5000"/>
                  </a:schemeClr>
                </a:solidFill>
                <a:latin typeface="FZHei-B01S" panose="02010601030101010101" pitchFamily="2" charset="-122"/>
                <a:ea typeface="FZHei-B01S" panose="02010601030101010101" pitchFamily="2" charset="-122"/>
                <a:sym typeface="FZHei-B01S" panose="02010601030101010101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410091" y="4283721"/>
              <a:ext cx="655436" cy="65563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</a:gradFill>
            <a:ln w="476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59" tIns="34280" rIns="68559" bIns="34280" anchor="ctr"/>
            <a:lstStyle/>
            <a:p>
              <a:pPr algn="ctr" fontAlgn="auto"/>
              <a:r>
                <a:rPr lang="en-US" altLang="zh-CN" sz="1799" noProof="1">
                  <a:solidFill>
                    <a:schemeClr val="tx1">
                      <a:lumMod val="95000"/>
                      <a:lumOff val="5000"/>
                    </a:schemeClr>
                  </a:solidFill>
                  <a:latin typeface="FZHei-B01S" panose="02010601030101010101" pitchFamily="2" charset="-122"/>
                  <a:ea typeface="FZHei-B01S" panose="02010601030101010101" pitchFamily="2" charset="-122"/>
                  <a:sym typeface="FZHei-B01S" panose="02010601030101010101" pitchFamily="2" charset="-122"/>
                </a:rPr>
                <a:t>3</a:t>
              </a:r>
              <a:endParaRPr lang="zh-CN" altLang="en-US" sz="1799" noProof="1">
                <a:solidFill>
                  <a:schemeClr val="tx1">
                    <a:lumMod val="95000"/>
                    <a:lumOff val="5000"/>
                  </a:schemeClr>
                </a:solidFill>
                <a:latin typeface="FZHei-B01S" panose="02010601030101010101" pitchFamily="2" charset="-122"/>
                <a:ea typeface="FZHei-B01S" panose="02010601030101010101" pitchFamily="2" charset="-122"/>
                <a:sym typeface="FZHei-B01S" panose="02010601030101010101" pitchFamily="2" charset="-122"/>
              </a:endParaRPr>
            </a:p>
          </p:txBody>
        </p:sp>
      </p:grpSp>
      <p:sp>
        <p:nvSpPr>
          <p:cNvPr id="20" name="Rectangle 8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/>
          <p:cNvSpPr/>
          <p:nvPr/>
        </p:nvSpPr>
        <p:spPr>
          <a:xfrm>
            <a:off x="1589359" y="1544614"/>
            <a:ext cx="2431635" cy="779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</a:pPr>
            <a:r>
              <a: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多工序多设备</a:t>
            </a:r>
            <a:endParaRPr lang="en-US" sz="788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/>
            <a:r>
              <a:rPr lang="zh-CN" altLang="en-US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首钢京唐产线的冷轧部分，是一个典型的多工序多设备的生产环境。主要考虑的工序包含酸轧，镀锌，连退等，相关生产机组多达数十组。</a:t>
            </a:r>
            <a:endParaRPr lang="en-US" sz="788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Rectangle 8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/>
          <p:cNvSpPr/>
          <p:nvPr/>
        </p:nvSpPr>
        <p:spPr>
          <a:xfrm>
            <a:off x="1409502" y="2498281"/>
            <a:ext cx="2431635" cy="900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</a:pPr>
            <a:r>
              <a: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交叉物流供应</a:t>
            </a:r>
            <a:endParaRPr lang="en-US" sz="788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/>
            <a:r>
              <a:rPr lang="zh-CN" altLang="en-US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在实际的生产中，有大量的跨产线交叉物流供给，同一机组可以接收来自不同机组的物料，也可以将物料分配给不同的机组。</a:t>
            </a:r>
            <a:endParaRPr lang="en-US" altLang="zh-CN" sz="788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/>
            <a:endParaRPr lang="en-US" sz="788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Rectangle 8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/>
          <p:cNvSpPr/>
          <p:nvPr/>
        </p:nvSpPr>
        <p:spPr>
          <a:xfrm>
            <a:off x="1878391" y="3455508"/>
            <a:ext cx="2431635" cy="779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</a:pPr>
            <a:r>
              <a: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物料库存管理</a:t>
            </a:r>
            <a:endParaRPr lang="en-US" sz="788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/>
            <a:r>
              <a:rPr lang="zh-CN" altLang="en-US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不管是机前还是机后的库存，存储能力都有限；但为了应付生产掉队情况，必须维持一定的库存余量，这就对库存管理提出了更高的要求</a:t>
            </a:r>
            <a:endParaRPr lang="en-US" sz="788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PA_文本框 1">
            <a:extLst>
              <a:ext uri="{FF2B5EF4-FFF2-40B4-BE49-F238E27FC236}">
                <a16:creationId xmlns:a16="http://schemas.microsoft.com/office/drawing/2014/main" id="{95CA5390-EAD3-40A5-BF6F-C69AB99948C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1.2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产线特点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97220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1.2.1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多工序多设备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CA2DA1-BEFF-4D19-0B1A-1F8ABB658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82" y="579349"/>
            <a:ext cx="7807281" cy="439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65431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1.2.2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交叉物流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9019BD-AAD3-0AD6-6A31-7E2458B58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41" y="735291"/>
            <a:ext cx="8340918" cy="387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9049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1.2.3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库存管理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5E102B-5CE9-B57F-397B-A59719E39A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06" y="559014"/>
            <a:ext cx="7887387" cy="44360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61334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1.3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关键痛点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69C4DAE-28F6-CB35-A630-6DC40F9D66FB}"/>
              </a:ext>
            </a:extLst>
          </p:cNvPr>
          <p:cNvGrpSpPr/>
          <p:nvPr/>
        </p:nvGrpSpPr>
        <p:grpSpPr>
          <a:xfrm>
            <a:off x="426443" y="1340275"/>
            <a:ext cx="4605275" cy="776105"/>
            <a:chOff x="426443" y="1340275"/>
            <a:chExt cx="4605275" cy="77610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CFEC794-831F-5929-4C96-D4E7B5C1D5CF}"/>
                </a:ext>
              </a:extLst>
            </p:cNvPr>
            <p:cNvGrpSpPr/>
            <p:nvPr/>
          </p:nvGrpSpPr>
          <p:grpSpPr>
            <a:xfrm>
              <a:off x="426443" y="1340275"/>
              <a:ext cx="514780" cy="514780"/>
              <a:chOff x="6357074" y="1008628"/>
              <a:chExt cx="1676757" cy="1676757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5BFBA77A-9CBD-8B35-146F-9694E0D63DD3}"/>
                  </a:ext>
                </a:extLst>
              </p:cNvPr>
              <p:cNvSpPr/>
              <p:nvPr/>
            </p:nvSpPr>
            <p:spPr>
              <a:xfrm>
                <a:off x="6357074" y="1008628"/>
                <a:ext cx="1676757" cy="1676757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C5AEBA2C-9988-3C59-306D-B18C71744A3F}"/>
                  </a:ext>
                </a:extLst>
              </p:cNvPr>
              <p:cNvSpPr/>
              <p:nvPr/>
            </p:nvSpPr>
            <p:spPr>
              <a:xfrm>
                <a:off x="6552150" y="1193250"/>
                <a:ext cx="1307513" cy="1307513"/>
              </a:xfrm>
              <a:prstGeom prst="ellipse">
                <a:avLst/>
              </a:prstGeom>
              <a:solidFill>
                <a:srgbClr val="063D54"/>
              </a:solidFill>
              <a:ln>
                <a:noFill/>
              </a:ln>
              <a:effectLst>
                <a:outerShdw blurRad="139700" dist="1016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rPr>
                  <a:t>1</a:t>
                </a:r>
                <a:endParaRPr lang="zh-CN" altLang="en-US"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914C06E-0D7B-958C-5700-DA30AAB319C1}"/>
                </a:ext>
              </a:extLst>
            </p:cNvPr>
            <p:cNvSpPr/>
            <p:nvPr/>
          </p:nvSpPr>
          <p:spPr>
            <a:xfrm>
              <a:off x="947642" y="1630028"/>
              <a:ext cx="4084076" cy="4863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由于</a:t>
              </a:r>
              <a:r>
                <a:rPr lang="en-US" altLang="zh-CN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OPS</a:t>
              </a:r>
              <a:r>
                <a:rPr lang="zh-CN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下发计划带有预估性，致使当</a:t>
              </a:r>
              <a:r>
                <a:rPr lang="en-US" altLang="zh-CN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IPS</a:t>
              </a:r>
              <a:r>
                <a:rPr lang="zh-CN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根据库存和虚拟物料进行排产时，很难按照辊期安排合理的生产计划</a:t>
              </a:r>
              <a:endPara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矩形 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<a:extLst>
                <a:ext uri="{FF2B5EF4-FFF2-40B4-BE49-F238E27FC236}">
                  <a16:creationId xmlns:a16="http://schemas.microsoft.com/office/drawing/2014/main" id="{8301C1CB-0549-22DC-57C5-CD826F336F74}"/>
                </a:ext>
              </a:extLst>
            </p:cNvPr>
            <p:cNvSpPr/>
            <p:nvPr/>
          </p:nvSpPr>
          <p:spPr>
            <a:xfrm>
              <a:off x="951867" y="1396956"/>
              <a:ext cx="173605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兰亭黑_GBK"/>
                  <a:ea typeface="方正兰亭黑_GBK"/>
                </a:rPr>
                <a:t>IPS</a:t>
              </a: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兰亭黑_GBK"/>
                  <a:ea typeface="方正兰亭黑_GBK"/>
                </a:rPr>
                <a:t>难以排产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黑_GBK"/>
                <a:ea typeface="方正兰亭黑_GBK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5E2B4F0-CCE9-DBFC-6CB7-B2BA3352394A}"/>
                </a:ext>
              </a:extLst>
            </p:cNvPr>
            <p:cNvCxnSpPr/>
            <p:nvPr/>
          </p:nvCxnSpPr>
          <p:spPr>
            <a:xfrm>
              <a:off x="1051253" y="1673955"/>
              <a:ext cx="23433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DA04743-46D3-DEAC-3EFE-D911D12DFE8C}"/>
              </a:ext>
            </a:extLst>
          </p:cNvPr>
          <p:cNvGrpSpPr/>
          <p:nvPr/>
        </p:nvGrpSpPr>
        <p:grpSpPr>
          <a:xfrm>
            <a:off x="426736" y="2640094"/>
            <a:ext cx="4604982" cy="732891"/>
            <a:chOff x="426736" y="2207707"/>
            <a:chExt cx="4604982" cy="732891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B01977E-914F-1FE2-374B-9E2031C938C7}"/>
                </a:ext>
              </a:extLst>
            </p:cNvPr>
            <p:cNvGrpSpPr/>
            <p:nvPr/>
          </p:nvGrpSpPr>
          <p:grpSpPr>
            <a:xfrm>
              <a:off x="426736" y="2207707"/>
              <a:ext cx="514780" cy="514780"/>
              <a:chOff x="6357074" y="1008628"/>
              <a:chExt cx="1676757" cy="1676757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1E90896-AC09-F3FD-D70B-571E5795007D}"/>
                  </a:ext>
                </a:extLst>
              </p:cNvPr>
              <p:cNvSpPr/>
              <p:nvPr/>
            </p:nvSpPr>
            <p:spPr>
              <a:xfrm>
                <a:off x="6357074" y="1008628"/>
                <a:ext cx="1676757" cy="1676757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625894D3-1369-6788-E485-319AA33B0A37}"/>
                  </a:ext>
                </a:extLst>
              </p:cNvPr>
              <p:cNvSpPr/>
              <p:nvPr/>
            </p:nvSpPr>
            <p:spPr>
              <a:xfrm>
                <a:off x="6552150" y="1193250"/>
                <a:ext cx="1307513" cy="1307513"/>
              </a:xfrm>
              <a:prstGeom prst="ellipse">
                <a:avLst/>
              </a:prstGeom>
              <a:solidFill>
                <a:srgbClr val="063D54"/>
              </a:solidFill>
              <a:ln>
                <a:noFill/>
              </a:ln>
              <a:effectLst>
                <a:outerShdw blurRad="139700" dist="1016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rPr>
                  <a:t>2</a:t>
                </a:r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D0C44AC-2B81-6935-F9EA-6869DDFFE1A8}"/>
                </a:ext>
              </a:extLst>
            </p:cNvPr>
            <p:cNvSpPr/>
            <p:nvPr/>
          </p:nvSpPr>
          <p:spPr>
            <a:xfrm>
              <a:off x="947642" y="2454246"/>
              <a:ext cx="4084076" cy="4863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因为库存难以管理，只能在库存过多或者过少的情况下进行救火，这就导致了很多不必要的交叉物流与制程切换成本</a:t>
              </a:r>
              <a:endPara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矩形 1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<a:extLst>
                <a:ext uri="{FF2B5EF4-FFF2-40B4-BE49-F238E27FC236}">
                  <a16:creationId xmlns:a16="http://schemas.microsoft.com/office/drawing/2014/main" id="{B34E9758-6528-F783-4BE9-D5969CD640F7}"/>
                </a:ext>
              </a:extLst>
            </p:cNvPr>
            <p:cNvSpPr/>
            <p:nvPr/>
          </p:nvSpPr>
          <p:spPr>
            <a:xfrm>
              <a:off x="951867" y="2221174"/>
              <a:ext cx="173605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兰亭黑_GBK"/>
                  <a:ea typeface="方正兰亭黑_GBK"/>
                </a:rPr>
                <a:t>库存状况难以管理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黑_GBK"/>
                <a:ea typeface="方正兰亭黑_GBK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FF831C4-F6F2-0928-DB2D-82AFED12B7E8}"/>
                </a:ext>
              </a:extLst>
            </p:cNvPr>
            <p:cNvCxnSpPr/>
            <p:nvPr/>
          </p:nvCxnSpPr>
          <p:spPr>
            <a:xfrm>
              <a:off x="1051253" y="2498173"/>
              <a:ext cx="23433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BF6293B-266E-FB0D-A26F-A1A79C20A282}"/>
              </a:ext>
            </a:extLst>
          </p:cNvPr>
          <p:cNvGrpSpPr/>
          <p:nvPr/>
        </p:nvGrpSpPr>
        <p:grpSpPr>
          <a:xfrm>
            <a:off x="426736" y="3924535"/>
            <a:ext cx="4604982" cy="732891"/>
            <a:chOff x="426736" y="2207707"/>
            <a:chExt cx="4604982" cy="732891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C73EAD80-10B9-D60E-101D-63EFB01E1E91}"/>
                </a:ext>
              </a:extLst>
            </p:cNvPr>
            <p:cNvGrpSpPr/>
            <p:nvPr/>
          </p:nvGrpSpPr>
          <p:grpSpPr>
            <a:xfrm>
              <a:off x="426736" y="2207707"/>
              <a:ext cx="514780" cy="514780"/>
              <a:chOff x="6357074" y="1008628"/>
              <a:chExt cx="1676757" cy="1676757"/>
            </a:xfrm>
          </p:grpSpPr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43B93C8C-23A1-E225-6456-E877A801161A}"/>
                  </a:ext>
                </a:extLst>
              </p:cNvPr>
              <p:cNvSpPr/>
              <p:nvPr/>
            </p:nvSpPr>
            <p:spPr>
              <a:xfrm>
                <a:off x="6357074" y="1008628"/>
                <a:ext cx="1676757" cy="1676757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E0B78997-AD35-4766-7C26-34BB641E8C60}"/>
                  </a:ext>
                </a:extLst>
              </p:cNvPr>
              <p:cNvSpPr/>
              <p:nvPr/>
            </p:nvSpPr>
            <p:spPr>
              <a:xfrm>
                <a:off x="6552150" y="1193250"/>
                <a:ext cx="1307513" cy="1307513"/>
              </a:xfrm>
              <a:prstGeom prst="ellipse">
                <a:avLst/>
              </a:prstGeom>
              <a:solidFill>
                <a:srgbClr val="063D54"/>
              </a:solidFill>
              <a:ln>
                <a:noFill/>
              </a:ln>
              <a:effectLst>
                <a:outerShdw blurRad="139700" dist="1016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j-lt"/>
                  </a:rPr>
                  <a:t>3</a:t>
                </a:r>
                <a:endPara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96C68BBA-F04F-80FA-B351-F79B1B1AAD15}"/>
                </a:ext>
              </a:extLst>
            </p:cNvPr>
            <p:cNvSpPr/>
            <p:nvPr/>
          </p:nvSpPr>
          <p:spPr>
            <a:xfrm>
              <a:off x="947642" y="2454246"/>
              <a:ext cx="4084076" cy="4863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OPS</a:t>
              </a:r>
              <a:r>
                <a:rPr lang="zh-CN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月度计划制作周期通常非常长，难以根据紧急订单重新制订，只能通过各工序进行临时的调配救火，非常不利于充分利用机器产能</a:t>
              </a:r>
              <a:endPara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2" name="矩形 6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<a:extLst>
                <a:ext uri="{FF2B5EF4-FFF2-40B4-BE49-F238E27FC236}">
                  <a16:creationId xmlns:a16="http://schemas.microsoft.com/office/drawing/2014/main" id="{2FDABE18-6760-64DD-D9D1-215ADD816B47}"/>
                </a:ext>
              </a:extLst>
            </p:cNvPr>
            <p:cNvSpPr/>
            <p:nvPr/>
          </p:nvSpPr>
          <p:spPr>
            <a:xfrm>
              <a:off x="951867" y="2221174"/>
              <a:ext cx="173605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兰亭黑_GBK"/>
                  <a:ea typeface="方正兰亭黑_GBK"/>
                </a:rPr>
                <a:t>紧急合同难以响应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黑_GBK"/>
                <a:ea typeface="方正兰亭黑_GBK"/>
              </a:endParaRP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802BAE72-34C5-836C-11C3-E9B8047B34A3}"/>
                </a:ext>
              </a:extLst>
            </p:cNvPr>
            <p:cNvCxnSpPr/>
            <p:nvPr/>
          </p:nvCxnSpPr>
          <p:spPr>
            <a:xfrm>
              <a:off x="1051253" y="2498173"/>
              <a:ext cx="23433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15363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2.1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月度计划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359079-FF6F-816C-8EC7-C459AD7FF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603" y="636053"/>
            <a:ext cx="6596794" cy="429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4863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2.2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周度计划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029DAC-4EF2-D200-0DBC-B9AC89012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520" y="648901"/>
            <a:ext cx="5796959" cy="420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7953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2.3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小辊期时序优化子系统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6C70F4-3A8C-2417-1231-791954F32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20" y="636053"/>
            <a:ext cx="6693729" cy="219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2663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2.3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小辊期时序优化子系统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EACEC9-BD33-0856-04CC-E33330EE1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17" y="636053"/>
            <a:ext cx="8200166" cy="284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1360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2.3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小辊期时序优化子系统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F13CC5-C819-94CB-3A6F-DB1BC649F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70" y="659129"/>
            <a:ext cx="7508801" cy="263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2133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2.3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小辊期时序优化子系统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3784A99-9423-CDC5-FE6A-7D1D45B14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92" y="636053"/>
            <a:ext cx="7517396" cy="208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798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2.3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子系统交互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ADF4F2-00D5-85CA-B5D8-AEE4EE72D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43" y="636053"/>
            <a:ext cx="7101713" cy="420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133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文本框 1">
            <a:extLst>
              <a:ext uri="{FF2B5EF4-FFF2-40B4-BE49-F238E27FC236}">
                <a16:creationId xmlns:a16="http://schemas.microsoft.com/office/drawing/2014/main" id="{174FDDA8-7B03-ADD1-36A4-039A267561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270568"/>
            <a:ext cx="9144000" cy="36548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dirty="0">
                <a:solidFill>
                  <a:srgbClr val="063D54"/>
                </a:solidFill>
                <a:cs typeface="+mn-ea"/>
                <a:sym typeface="+mn-lt"/>
              </a:rPr>
              <a:t>          2.4 </a:t>
            </a:r>
            <a:r>
              <a:rPr lang="zh-CN" altLang="en-US" sz="1800" dirty="0">
                <a:solidFill>
                  <a:srgbClr val="063D54"/>
                </a:solidFill>
                <a:cs typeface="+mn-ea"/>
                <a:sym typeface="+mn-lt"/>
              </a:rPr>
              <a:t>总体框架</a:t>
            </a:r>
            <a:endParaRPr lang="en-US" altLang="zh-CN" sz="1800" dirty="0">
              <a:solidFill>
                <a:srgbClr val="063D54"/>
              </a:solidFill>
              <a:cs typeface="+mn-ea"/>
              <a:sym typeface="+mn-lt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5651D8D-1A58-714A-9AF4-5E01DEAA9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11" y="865287"/>
            <a:ext cx="1264691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B8EFBE-C7B2-5716-3B53-9EB203FB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953" y="715925"/>
            <a:ext cx="1222904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F178BD2-CF4D-B9D8-72AB-E214F9AB52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940845"/>
              </p:ext>
            </p:extLst>
          </p:nvPr>
        </p:nvGraphicFramePr>
        <p:xfrm>
          <a:off x="637953" y="1244896"/>
          <a:ext cx="7568259" cy="3182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4" imgW="11635907" imgH="4892270" progId="Visio.Drawing.15">
                  <p:embed/>
                </p:oleObj>
              </mc:Choice>
              <mc:Fallback>
                <p:oleObj name="Visio" r:id="rId4" imgW="11635907" imgH="489227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953" y="1244896"/>
                        <a:ext cx="7568259" cy="31826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1486764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80330F47-CD13-4DC9-B2F1-B6AE5CB09E1E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简约质感商业计划书PPT模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自定义设计方案">
  <a:themeElements>
    <a:clrScheme name="蓝色沉稳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常用1">
      <a:majorFont>
        <a:latin typeface="Calibri"/>
        <a:ea typeface="微软雅黑"/>
        <a:cs typeface=""/>
      </a:majorFont>
      <a:minorFont>
        <a:latin typeface="Calibri Ligh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</TotalTime>
  <Words>314</Words>
  <Application>Microsoft Office PowerPoint</Application>
  <PresentationFormat>全屏显示(16:9)</PresentationFormat>
  <Paragraphs>32</Paragraphs>
  <Slides>13</Slides>
  <Notes>1</Notes>
  <HiddenSlides>1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FZHei-B01S</vt:lpstr>
      <vt:lpstr>Open Sans</vt:lpstr>
      <vt:lpstr>方正兰亭黑_GBK</vt:lpstr>
      <vt:lpstr>微软雅黑</vt:lpstr>
      <vt:lpstr>微软雅黑 Light</vt:lpstr>
      <vt:lpstr>Arial</vt:lpstr>
      <vt:lpstr>Calibri</vt:lpstr>
      <vt:lpstr>Calibri Light</vt:lpstr>
      <vt:lpstr>自定义设计方案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简约质感商业计划书PPT模板</dc:title>
  <dc:creator>Administrator</dc:creator>
  <cp:keywords/>
  <dc:description/>
  <cp:lastModifiedBy>Ang</cp:lastModifiedBy>
  <cp:revision>1345</cp:revision>
  <dcterms:created xsi:type="dcterms:W3CDTF">2016-04-24T15:52:00Z</dcterms:created>
  <dcterms:modified xsi:type="dcterms:W3CDTF">2024-05-21T00:25:46Z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